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8288000" cy="10287000"/>
  <p:notesSz cx="6858000" cy="9144000"/>
  <p:embeddedFontLst>
    <p:embeddedFont>
      <p:font typeface="Montserrat" panose="00000500000000000000" pitchFamily="2" charset="0"/>
      <p:regular r:id="rId50"/>
      <p:bold r:id="rId51"/>
      <p:italic r:id="rId52"/>
      <p:boldItalic r:id="rId53"/>
    </p:embeddedFont>
    <p:embeddedFont>
      <p:font typeface="Raleway"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jnLbjqz6522GFb8r4dvgfW4GUi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0689113c39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g30689113c39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0689113c39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43" name="Google Shape;143;g30689113c39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8c30d8e00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g308c30d8e00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08c30d8e00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g308c30d8e0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08c30d8e00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0" name="Google Shape;190;g308c30d8e0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08c30d8e00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g308c30d8e0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08c30d8e00_0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g308c30d8e00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08c30d8e00_0_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8" name="Google Shape;238;g308c30d8e00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08c30d8e00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g308c30d8e00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08c30d8e00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g308c30d8e00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08c30d8e00_0_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08c30d8e00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08c30d8e00_0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08c30d8e00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08c30d8e00_0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5" name="Google Shape;315;g308c30d8e00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08c30d8e00_0_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1" name="Google Shape;331;g308c30d8e00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08c30d8e00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 name="Google Shape;347;g308c30d8e00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8c30d8e00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3" name="Google Shape;363;g308c30d8e00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08c30d8e00_0_2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9" name="Google Shape;379;g308c30d8e00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08c30d8e00_0_2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5" name="Google Shape;395;g308c30d8e00_0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08c30d8e00_0_2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9" name="Google Shape;409;g308c30d8e00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08c30d8e00_0_2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4" name="Google Shape;424;g308c30d8e00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08c30d8e00_0_2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0" name="Google Shape;440;g308c30d8e00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08c30d8e00_0_3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6" name="Google Shape;456;g308c30d8e00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08c30d8e00_0_3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2" name="Google Shape;472;g308c30d8e00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08c30d8e00_0_3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8" name="Google Shape;488;g308c30d8e00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08c30d8e00_0_3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08c30d8e00_0_3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08c30d8e00_0_3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0" name="Google Shape;520;g308c30d8e00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08c30d8e00_0_3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4" name="Google Shape;534;g308c30d8e00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08c30d8e00_0_3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9" name="Google Shape;549;g308c30d8e00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308c30d8e00_0_4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5" name="Google Shape;565;g308c30d8e00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08c30d8e00_0_4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1" name="Google Shape;581;g308c30d8e00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308c30d8e00_0_4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7" name="Google Shape;597;g308c30d8e00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08c30d8e00_0_4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3" name="Google Shape;613;g308c30d8e00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08c30d8e00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7" name="Google Shape;627;g308c30d8e00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308c30d8e00_0_4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2" name="Google Shape;642;g308c30d8e00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08c30d8e00_0_5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8" name="Google Shape;658;g308c30d8e00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08c30d8e00_0_5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4" name="Google Shape;674;g308c30d8e00_0_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08c30d8e00_0_5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0" name="Google Shape;690;g308c30d8e00_0_5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08c30d8e00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6" name="Google Shape;706;g308c30d8e00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08c30d8e00_0_5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2" name="Google Shape;722;g308c30d8e00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08c30d8e00_0_4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3" name="Google Shape;613;g308c30d8e00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4551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08c30d8e00_0_5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2" name="Google Shape;722;g308c30d8e00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52652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08c30d8e00_0_5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2" name="Google Shape;722;g308c30d8e00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653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08c30d8e00_0_5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2" name="Google Shape;722;g308c30d8e00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12074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08c30d8e00_0_5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2" name="Google Shape;722;g308c30d8e00_0_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88977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pic>
        <p:nvPicPr>
          <p:cNvPr id="2" name="Imagen 1">
            <a:extLst>
              <a:ext uri="{FF2B5EF4-FFF2-40B4-BE49-F238E27FC236}">
                <a16:creationId xmlns:a16="http://schemas.microsoft.com/office/drawing/2014/main" id="{C0835D09-54E2-7BEB-954E-C54A2CA88E9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17500" y="8864600"/>
            <a:ext cx="17792699" cy="12318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1792288" y="612775"/>
            <a:ext cx="5486400" cy="4114800"/>
          </a:xfrm>
          <a:prstGeom prst="rect">
            <a:avLst/>
          </a:prstGeom>
          <a:noFill/>
          <a:ln>
            <a:noFill/>
          </a:ln>
        </p:spPr>
      </p:sp>
      <p:sp>
        <p:nvSpPr>
          <p:cNvPr id="64" name="Google Shape;64;p1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grpSp>
        <p:nvGrpSpPr>
          <p:cNvPr id="2" name="Grupo 1">
            <a:extLst>
              <a:ext uri="{FF2B5EF4-FFF2-40B4-BE49-F238E27FC236}">
                <a16:creationId xmlns:a16="http://schemas.microsoft.com/office/drawing/2014/main" id="{DF5B77C8-B50A-5D32-D53F-C6CBF088E034}"/>
              </a:ext>
            </a:extLst>
          </p:cNvPr>
          <p:cNvGrpSpPr/>
          <p:nvPr userDrawn="1"/>
        </p:nvGrpSpPr>
        <p:grpSpPr>
          <a:xfrm>
            <a:off x="58937" y="8191963"/>
            <a:ext cx="18170126" cy="2071680"/>
            <a:chOff x="58937" y="8191963"/>
            <a:chExt cx="18170126" cy="2071680"/>
          </a:xfrm>
        </p:grpSpPr>
        <p:sp>
          <p:nvSpPr>
            <p:cNvPr id="3" name="Rectángulo 2">
              <a:extLst>
                <a:ext uri="{FF2B5EF4-FFF2-40B4-BE49-F238E27FC236}">
                  <a16:creationId xmlns:a16="http://schemas.microsoft.com/office/drawing/2014/main" id="{BAA3B8EB-9B26-D451-461D-03116CCA3384}"/>
                </a:ext>
              </a:extLst>
            </p:cNvPr>
            <p:cNvSpPr/>
            <p:nvPr/>
          </p:nvSpPr>
          <p:spPr>
            <a:xfrm>
              <a:off x="58937" y="8191963"/>
              <a:ext cx="18170126" cy="207168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grpSp>
          <p:nvGrpSpPr>
            <p:cNvPr id="4" name="Grupo 3">
              <a:extLst>
                <a:ext uri="{FF2B5EF4-FFF2-40B4-BE49-F238E27FC236}">
                  <a16:creationId xmlns:a16="http://schemas.microsoft.com/office/drawing/2014/main" id="{866907CC-9DE7-BCB8-A24F-58D82067FCBC}"/>
                </a:ext>
              </a:extLst>
            </p:cNvPr>
            <p:cNvGrpSpPr>
              <a:grpSpLocks noChangeAspect="1"/>
            </p:cNvGrpSpPr>
            <p:nvPr/>
          </p:nvGrpSpPr>
          <p:grpSpPr>
            <a:xfrm>
              <a:off x="334765" y="8756238"/>
              <a:ext cx="17618470" cy="1332000"/>
              <a:chOff x="747874" y="2125309"/>
              <a:chExt cx="11102914" cy="839408"/>
            </a:xfrm>
          </p:grpSpPr>
          <p:pic>
            <p:nvPicPr>
              <p:cNvPr id="5" name="Imagen 4" descr="Texto, Carta&#10;&#10;Descripción generada automáticamente">
                <a:extLst>
                  <a:ext uri="{FF2B5EF4-FFF2-40B4-BE49-F238E27FC236}">
                    <a16:creationId xmlns:a16="http://schemas.microsoft.com/office/drawing/2014/main" id="{9C87EF69-A308-1DB8-CCAE-6B3EDF07543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845001" y="2356701"/>
                <a:ext cx="2695391" cy="502046"/>
              </a:xfrm>
              <a:prstGeom prst="rect">
                <a:avLst/>
              </a:prstGeom>
            </p:spPr>
          </p:pic>
          <p:pic>
            <p:nvPicPr>
              <p:cNvPr id="11" name="Imagen 10" descr="Logotipo&#10;&#10;Descripción generada automáticamente con confianza media">
                <a:extLst>
                  <a:ext uri="{FF2B5EF4-FFF2-40B4-BE49-F238E27FC236}">
                    <a16:creationId xmlns:a16="http://schemas.microsoft.com/office/drawing/2014/main" id="{68DBBAB1-3692-64E9-EFAA-EADB6A5EE5F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611540" y="2146624"/>
                <a:ext cx="1454386" cy="818092"/>
              </a:xfrm>
              <a:prstGeom prst="rect">
                <a:avLst/>
              </a:prstGeom>
            </p:spPr>
          </p:pic>
          <p:pic>
            <p:nvPicPr>
              <p:cNvPr id="12" name="Imagen 11" descr="Interfaz de usuario gráfica, Aplicación, Teams&#10;&#10;Descripción generada automáticamente">
                <a:extLst>
                  <a:ext uri="{FF2B5EF4-FFF2-40B4-BE49-F238E27FC236}">
                    <a16:creationId xmlns:a16="http://schemas.microsoft.com/office/drawing/2014/main" id="{4256FFBF-AC28-43CA-D1C4-41D322BA753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47874" y="2125309"/>
                <a:ext cx="2787454" cy="818092"/>
              </a:xfrm>
              <a:prstGeom prst="rect">
                <a:avLst/>
              </a:prstGeom>
            </p:spPr>
          </p:pic>
          <p:pic>
            <p:nvPicPr>
              <p:cNvPr id="13" name="Imagen 12" descr="Imagen que contiene Escala de tiempo&#10;&#10;Descripción generada automáticamente">
                <a:extLst>
                  <a:ext uri="{FF2B5EF4-FFF2-40B4-BE49-F238E27FC236}">
                    <a16:creationId xmlns:a16="http://schemas.microsoft.com/office/drawing/2014/main" id="{48601214-AEF4-AD68-3D6B-50109A4BE622}"/>
                  </a:ext>
                </a:extLst>
              </p:cNvPr>
              <p:cNvPicPr>
                <a:picLocks noChangeAspect="1"/>
              </p:cNvPicPr>
              <p:nvPr/>
            </p:nvPicPr>
            <p:blipFill>
              <a:blip r:embed="rId16">
                <a:extLst>
                  <a:ext uri="{28A0092B-C50C-407E-A947-70E740481C1C}">
                    <a14:useLocalDpi xmlns:a14="http://schemas.microsoft.com/office/drawing/2010/main" val="0"/>
                  </a:ext>
                </a:extLst>
              </a:blip>
              <a:srcRect t="11933" b="11706"/>
              <a:stretch/>
            </p:blipFill>
            <p:spPr>
              <a:xfrm>
                <a:off x="8137074" y="2125309"/>
                <a:ext cx="3050476" cy="839408"/>
              </a:xfrm>
              <a:prstGeom prst="rect">
                <a:avLst/>
              </a:prstGeom>
            </p:spPr>
          </p:pic>
          <p:pic>
            <p:nvPicPr>
              <p:cNvPr id="14" name="Imagen 13" descr="Imagen que contiene Logotipo&#10;&#10;El contenido generado por IA puede ser incorrecto.">
                <a:extLst>
                  <a:ext uri="{FF2B5EF4-FFF2-40B4-BE49-F238E27FC236}">
                    <a16:creationId xmlns:a16="http://schemas.microsoft.com/office/drawing/2014/main" id="{EE012AFB-9554-4341-AFCC-5B34DC3A4FA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037464" y="2308330"/>
                <a:ext cx="813324" cy="494680"/>
              </a:xfrm>
              <a:prstGeom prst="rect">
                <a:avLst/>
              </a:prstGeom>
            </p:spPr>
          </p:pic>
        </p:gr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93" name="Google Shape;93;p1"/>
          <p:cNvSpPr txBox="1"/>
          <p:nvPr/>
        </p:nvSpPr>
        <p:spPr>
          <a:xfrm>
            <a:off x="2668434" y="2709600"/>
            <a:ext cx="12527817" cy="777928"/>
          </a:xfrm>
          <a:prstGeom prst="rect">
            <a:avLst/>
          </a:prstGeom>
          <a:noFill/>
          <a:ln>
            <a:noFill/>
          </a:ln>
        </p:spPr>
        <p:txBody>
          <a:bodyPr spcFirstLastPara="1" wrap="square" lIns="0" tIns="0" rIns="0" bIns="0" anchor="t" anchorCtr="0">
            <a:spAutoFit/>
          </a:bodyPr>
          <a:lstStyle/>
          <a:p>
            <a:pPr marL="0" marR="0" lvl="0" indent="0" algn="l" rtl="0">
              <a:lnSpc>
                <a:spcPct val="163037"/>
              </a:lnSpc>
              <a:spcBef>
                <a:spcPts val="0"/>
              </a:spcBef>
              <a:spcAft>
                <a:spcPts val="0"/>
              </a:spcAft>
              <a:buClr>
                <a:srgbClr val="000000"/>
              </a:buClr>
              <a:buSzPts val="1975"/>
              <a:buFont typeface="Arial"/>
              <a:buNone/>
            </a:pPr>
            <a:r>
              <a:rPr lang="en-US" sz="1975" b="0" i="0" u="none" strike="noStrike" cap="none">
                <a:solidFill>
                  <a:srgbClr val="000000"/>
                </a:solidFill>
                <a:latin typeface="Montserrat"/>
                <a:ea typeface="Montserrat"/>
                <a:cs typeface="Montserrat"/>
                <a:sym typeface="Montserrat"/>
              </a:rPr>
              <a:t>Financiado por los fondos NextGenerationEU y forma parte del Plan Nacional de Capacidades Digitales, dentro del Plan de Recuperación, Transformación y Resiliencia del Gobierno de España. </a:t>
            </a:r>
            <a:endParaRPr sz="1400" b="0" i="0" u="none" strike="noStrike" cap="none">
              <a:solidFill>
                <a:srgbClr val="000000"/>
              </a:solidFill>
              <a:latin typeface="Arial"/>
              <a:ea typeface="Arial"/>
              <a:cs typeface="Arial"/>
              <a:sym typeface="Arial"/>
            </a:endParaRPr>
          </a:p>
        </p:txBody>
      </p:sp>
      <p:sp>
        <p:nvSpPr>
          <p:cNvPr id="94" name="Google Shape;94;p1"/>
          <p:cNvSpPr txBox="1"/>
          <p:nvPr/>
        </p:nvSpPr>
        <p:spPr>
          <a:xfrm>
            <a:off x="598173" y="564372"/>
            <a:ext cx="10221164" cy="1631778"/>
          </a:xfrm>
          <a:prstGeom prst="rect">
            <a:avLst/>
          </a:prstGeom>
          <a:noFill/>
          <a:ln>
            <a:noFill/>
          </a:ln>
        </p:spPr>
        <p:txBody>
          <a:bodyPr spcFirstLastPara="1" wrap="square" lIns="0" tIns="0" rIns="0" bIns="0" anchor="t" anchorCtr="0">
            <a:spAutoFit/>
          </a:bodyPr>
          <a:lstStyle/>
          <a:p>
            <a:pPr marL="0" marR="0" lvl="0" indent="0" algn="l" rtl="0">
              <a:lnSpc>
                <a:spcPct val="113013"/>
              </a:lnSpc>
              <a:spcBef>
                <a:spcPts val="0"/>
              </a:spcBef>
              <a:spcAft>
                <a:spcPts val="0"/>
              </a:spcAft>
              <a:buClr>
                <a:srgbClr val="000000"/>
              </a:buClr>
              <a:buSzPts val="5694"/>
              <a:buFont typeface="Arial"/>
              <a:buNone/>
            </a:pPr>
            <a:r>
              <a:rPr lang="en-US" sz="5694" b="1" i="0" u="none" strike="noStrike" cap="none">
                <a:solidFill>
                  <a:srgbClr val="7DB61B"/>
                </a:solidFill>
                <a:latin typeface="Montserrat"/>
                <a:ea typeface="Montserrat"/>
                <a:cs typeface="Montserrat"/>
                <a:sym typeface="Montserrat"/>
              </a:rPr>
              <a:t>PROGRAMA GENERACIÓN DIGITAL PYMES</a:t>
            </a:r>
            <a:endParaRPr sz="1400" b="0" i="0" u="none" strike="noStrike" cap="none">
              <a:solidFill>
                <a:srgbClr val="000000"/>
              </a:solidFill>
              <a:latin typeface="Arial"/>
              <a:ea typeface="Arial"/>
              <a:cs typeface="Arial"/>
              <a:sym typeface="Arial"/>
            </a:endParaRPr>
          </a:p>
        </p:txBody>
      </p:sp>
      <p:sp>
        <p:nvSpPr>
          <p:cNvPr id="95" name="Google Shape;95;p1"/>
          <p:cNvSpPr/>
          <p:nvPr/>
        </p:nvSpPr>
        <p:spPr>
          <a:xfrm rot="-10458419">
            <a:off x="10968003" y="-290486"/>
            <a:ext cx="8456494" cy="3417833"/>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96" name="Google Shape;96;p1"/>
          <p:cNvSpPr txBox="1"/>
          <p:nvPr/>
        </p:nvSpPr>
        <p:spPr>
          <a:xfrm>
            <a:off x="1556462" y="7581198"/>
            <a:ext cx="15168234" cy="777928"/>
          </a:xfrm>
          <a:prstGeom prst="rect">
            <a:avLst/>
          </a:prstGeom>
          <a:noFill/>
          <a:ln>
            <a:noFill/>
          </a:ln>
        </p:spPr>
        <p:txBody>
          <a:bodyPr spcFirstLastPara="1" wrap="square" lIns="0" tIns="0" rIns="0" bIns="0" anchor="t" anchorCtr="0">
            <a:spAutoFit/>
          </a:bodyPr>
          <a:lstStyle/>
          <a:p>
            <a:pPr marL="0" marR="0" lvl="0" indent="0" algn="l" rtl="0">
              <a:lnSpc>
                <a:spcPct val="163037"/>
              </a:lnSpc>
              <a:spcBef>
                <a:spcPts val="0"/>
              </a:spcBef>
              <a:spcAft>
                <a:spcPts val="0"/>
              </a:spcAft>
              <a:buClr>
                <a:srgbClr val="000000"/>
              </a:buClr>
              <a:buSzPts val="1975"/>
              <a:buFont typeface="Arial"/>
              <a:buNone/>
            </a:pPr>
            <a:r>
              <a:rPr lang="en-US" sz="1975" b="1" i="0" u="none" strike="noStrike" cap="none">
                <a:solidFill>
                  <a:srgbClr val="0060A0"/>
                </a:solidFill>
                <a:latin typeface="Montserrat"/>
                <a:ea typeface="Montserrat"/>
                <a:cs typeface="Montserrat"/>
                <a:sym typeface="Montserrat"/>
              </a:rPr>
              <a:t>Convocatoria GENERACIÓN DIGITAL PYMES: PERSONAS DE EQUIPOS DIRECTIVOS Y CUALIFICACIÓN DE PERSONAS EMPLEADAS EN PYMES</a:t>
            </a:r>
            <a:endParaRPr sz="1400" b="0" i="0" u="none" strike="noStrike" cap="none">
              <a:solidFill>
                <a:srgbClr val="000000"/>
              </a:solidFill>
              <a:latin typeface="Arial"/>
              <a:ea typeface="Arial"/>
              <a:cs typeface="Arial"/>
              <a:sym typeface="Arial"/>
            </a:endParaRPr>
          </a:p>
        </p:txBody>
      </p:sp>
      <p:pic>
        <p:nvPicPr>
          <p:cNvPr id="2" name="Imagen 1">
            <a:extLst>
              <a:ext uri="{FF2B5EF4-FFF2-40B4-BE49-F238E27FC236}">
                <a16:creationId xmlns:a16="http://schemas.microsoft.com/office/drawing/2014/main" id="{D1C248FD-0280-366F-6A63-0600BF31ED7A}"/>
              </a:ext>
            </a:extLst>
          </p:cNvPr>
          <p:cNvPicPr>
            <a:picLocks noChangeAspect="1"/>
          </p:cNvPicPr>
          <p:nvPr/>
        </p:nvPicPr>
        <p:blipFill>
          <a:blip r:embed="rId4"/>
          <a:stretch>
            <a:fillRect/>
          </a:stretch>
        </p:blipFill>
        <p:spPr>
          <a:xfrm>
            <a:off x="720242" y="2705802"/>
            <a:ext cx="1672439" cy="10890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9" name="Google Shape;109;p2"/>
          <p:cNvSpPr/>
          <p:nvPr/>
        </p:nvSpPr>
        <p:spPr>
          <a:xfrm rot="-10458419">
            <a:off x="10968003" y="-290486"/>
            <a:ext cx="8456494" cy="3417833"/>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10" name="Google Shape;110;p2"/>
          <p:cNvSpPr txBox="1"/>
          <p:nvPr/>
        </p:nvSpPr>
        <p:spPr>
          <a:xfrm>
            <a:off x="9918225" y="2334425"/>
            <a:ext cx="6494700" cy="4875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3000" b="1" i="0" u="none" strike="noStrike" cap="none">
                <a:solidFill>
                  <a:srgbClr val="000000"/>
                </a:solidFill>
                <a:latin typeface="Arial"/>
                <a:ea typeface="Arial"/>
                <a:cs typeface="Arial"/>
                <a:sym typeface="Arial"/>
              </a:rPr>
              <a:t>MÓDULO </a:t>
            </a:r>
            <a:r>
              <a:rPr lang="en-US" sz="3000" b="1"/>
              <a:t>5</a:t>
            </a:r>
            <a:r>
              <a:rPr lang="en-US" sz="3000" b="1" i="0" u="none" strike="noStrike" cap="none">
                <a:solidFill>
                  <a:srgbClr val="000000"/>
                </a:solidFill>
                <a:latin typeface="Arial"/>
                <a:ea typeface="Arial"/>
                <a:cs typeface="Arial"/>
                <a:sym typeface="Arial"/>
              </a:rPr>
              <a:t>: </a:t>
            </a:r>
            <a:r>
              <a:rPr lang="en-US" sz="3000" b="1"/>
              <a:t>CASOS DE USO SECTORIALES</a:t>
            </a:r>
            <a:endParaRPr sz="3000" b="0" i="0" u="none" strike="noStrike" cap="none">
              <a:solidFill>
                <a:srgbClr val="000000"/>
              </a:solidFill>
              <a:latin typeface="Arial"/>
              <a:ea typeface="Arial"/>
              <a:cs typeface="Arial"/>
              <a:sym typeface="Arial"/>
            </a:endParaRPr>
          </a:p>
        </p:txBody>
      </p:sp>
      <p:pic>
        <p:nvPicPr>
          <p:cNvPr id="111" name="Google Shape;111;p2"/>
          <p:cNvPicPr preferRelativeResize="0"/>
          <p:nvPr/>
        </p:nvPicPr>
        <p:blipFill>
          <a:blip r:embed="rId4">
            <a:alphaModFix/>
          </a:blip>
          <a:stretch>
            <a:fillRect/>
          </a:stretch>
        </p:blipFill>
        <p:spPr>
          <a:xfrm>
            <a:off x="152400" y="323720"/>
            <a:ext cx="8069376" cy="80693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24" name="Google Shape;124;p3"/>
          <p:cNvSpPr/>
          <p:nvPr/>
        </p:nvSpPr>
        <p:spPr>
          <a:xfrm rot="-10458419">
            <a:off x="10968003" y="-290486"/>
            <a:ext cx="8456494" cy="3417833"/>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25" name="Google Shape;125;p3"/>
          <p:cNvSpPr txBox="1"/>
          <p:nvPr/>
        </p:nvSpPr>
        <p:spPr>
          <a:xfrm>
            <a:off x="4694225" y="1025725"/>
            <a:ext cx="63216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Casos de uso sectoriales</a:t>
            </a:r>
            <a:endParaRPr sz="2700" b="1" i="0" u="none" strike="noStrike" cap="none">
              <a:solidFill>
                <a:srgbClr val="F46524"/>
              </a:solidFill>
              <a:latin typeface="Raleway"/>
              <a:ea typeface="Raleway"/>
              <a:cs typeface="Raleway"/>
              <a:sym typeface="Raleway"/>
            </a:endParaRPr>
          </a:p>
        </p:txBody>
      </p:sp>
      <p:sp>
        <p:nvSpPr>
          <p:cNvPr id="126" name="Google Shape;126;p3"/>
          <p:cNvSpPr txBox="1"/>
          <p:nvPr/>
        </p:nvSpPr>
        <p:spPr>
          <a:xfrm>
            <a:off x="2879775" y="2505950"/>
            <a:ext cx="10222500" cy="39282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300"/>
              <a:buFont typeface="Arial"/>
              <a:buNone/>
            </a:pPr>
            <a:r>
              <a:rPr lang="en-US" sz="2300"/>
              <a:t>Llegados a este punto ya deberíamos ser conscientes de la importancia de la transformación digital en las empresas, así como una manera eficiente tanto de plantearla como de medir sus resultados. </a:t>
            </a:r>
            <a:endParaRPr sz="2300"/>
          </a:p>
          <a:p>
            <a:pPr marL="0" marR="0" lvl="0" indent="0" algn="ctr" rtl="0">
              <a:lnSpc>
                <a:spcPct val="115000"/>
              </a:lnSpc>
              <a:spcBef>
                <a:spcPts val="1200"/>
              </a:spcBef>
              <a:spcAft>
                <a:spcPts val="1200"/>
              </a:spcAft>
              <a:buClr>
                <a:srgbClr val="000000"/>
              </a:buClr>
              <a:buSzPts val="2300"/>
              <a:buFont typeface="Arial"/>
              <a:buNone/>
            </a:pPr>
            <a:r>
              <a:rPr lang="en-US" sz="2300"/>
              <a:t>En este módulo veremos distintos casos de uso para los distintos rubros, aunque no nos es posible abarcar todos, nos centraremos en los mas populares o reconocidos para dar un ejemplo de cómo afectan a las empresas el proceso de la transformación digital.</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9" name="Google Shape;139;g30689113c39_0_78"/>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40" name="Google Shape;140;g30689113c39_0_78"/>
          <p:cNvSpPr txBox="1"/>
          <p:nvPr/>
        </p:nvSpPr>
        <p:spPr>
          <a:xfrm>
            <a:off x="3337500" y="3538350"/>
            <a:ext cx="116130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n-US" sz="5800" b="1">
                <a:solidFill>
                  <a:schemeClr val="accent6"/>
                </a:solidFill>
                <a:latin typeface="Raleway"/>
                <a:ea typeface="Raleway"/>
                <a:cs typeface="Raleway"/>
                <a:sym typeface="Raleway"/>
              </a:rPr>
              <a:t>Experiencia del proceso de transformación digital en empresa/s del sector industrial.  </a:t>
            </a:r>
            <a:endParaRPr sz="5800" b="1" i="0" u="none" strike="noStrike" cap="none">
              <a:solidFill>
                <a:schemeClr val="accent6"/>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53" name="Google Shape;153;g30689113c39_0_9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54" name="Google Shape;154;g30689113c39_0_90"/>
          <p:cNvSpPr txBox="1"/>
          <p:nvPr/>
        </p:nvSpPr>
        <p:spPr>
          <a:xfrm>
            <a:off x="3219000" y="10224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Contexto de la Transformación Digital en las Industrias</a:t>
            </a:r>
            <a:endParaRPr sz="2700" b="1" i="0" u="none" strike="noStrike" cap="none">
              <a:solidFill>
                <a:srgbClr val="F46524"/>
              </a:solidFill>
              <a:latin typeface="Raleway"/>
              <a:ea typeface="Raleway"/>
              <a:cs typeface="Raleway"/>
              <a:sym typeface="Raleway"/>
            </a:endParaRPr>
          </a:p>
        </p:txBody>
      </p:sp>
      <p:sp>
        <p:nvSpPr>
          <p:cNvPr id="155" name="Google Shape;155;g30689113c39_0_90"/>
          <p:cNvSpPr txBox="1"/>
          <p:nvPr/>
        </p:nvSpPr>
        <p:spPr>
          <a:xfrm>
            <a:off x="3857500" y="2563400"/>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dirty="0"/>
              <a:t>En </a:t>
            </a:r>
            <a:r>
              <a:rPr lang="en-US" sz="2300" dirty="0" err="1"/>
              <a:t>muchas</a:t>
            </a:r>
            <a:r>
              <a:rPr lang="en-US" sz="2300" dirty="0"/>
              <a:t> </a:t>
            </a:r>
            <a:r>
              <a:rPr lang="en-US" sz="2300" dirty="0" err="1"/>
              <a:t>industrias</a:t>
            </a:r>
            <a:r>
              <a:rPr lang="en-US" sz="2300" dirty="0"/>
              <a:t>, la </a:t>
            </a:r>
            <a:r>
              <a:rPr lang="en-US" sz="2300" dirty="0" err="1"/>
              <a:t>transformación</a:t>
            </a:r>
            <a:r>
              <a:rPr lang="en-US" sz="2300" dirty="0"/>
              <a:t> digital ha </a:t>
            </a:r>
            <a:r>
              <a:rPr lang="en-US" sz="2300" dirty="0" err="1"/>
              <a:t>sido</a:t>
            </a:r>
            <a:r>
              <a:rPr lang="en-US" sz="2300" dirty="0"/>
              <a:t> </a:t>
            </a:r>
            <a:r>
              <a:rPr lang="en-US" sz="2300" dirty="0" err="1"/>
              <a:t>acelerada</a:t>
            </a:r>
            <a:r>
              <a:rPr lang="en-US" sz="2300" dirty="0"/>
              <a:t> </a:t>
            </a:r>
            <a:r>
              <a:rPr lang="en-US" sz="2300" dirty="0" err="1"/>
              <a:t>por</a:t>
            </a:r>
            <a:r>
              <a:rPr lang="en-US" sz="2300" dirty="0"/>
              <a:t> la </a:t>
            </a:r>
            <a:r>
              <a:rPr lang="en-US" sz="2300" dirty="0" err="1"/>
              <a:t>necesidad</a:t>
            </a:r>
            <a:r>
              <a:rPr lang="en-US" sz="2300" dirty="0"/>
              <a:t> de </a:t>
            </a:r>
            <a:r>
              <a:rPr lang="en-US" sz="2300" dirty="0" err="1"/>
              <a:t>aumentar</a:t>
            </a:r>
            <a:r>
              <a:rPr lang="en-US" sz="2300" dirty="0"/>
              <a:t> la </a:t>
            </a:r>
            <a:r>
              <a:rPr lang="en-US" sz="2300" dirty="0" err="1"/>
              <a:t>eficiencia</a:t>
            </a:r>
            <a:r>
              <a:rPr lang="en-US" sz="2300" dirty="0"/>
              <a:t>, </a:t>
            </a:r>
            <a:r>
              <a:rPr lang="en-US" sz="2300" dirty="0" err="1"/>
              <a:t>reducir</a:t>
            </a:r>
            <a:r>
              <a:rPr lang="en-US" sz="2300" dirty="0"/>
              <a:t> </a:t>
            </a:r>
            <a:r>
              <a:rPr lang="en-US" sz="2300" dirty="0" err="1"/>
              <a:t>costos</a:t>
            </a:r>
            <a:r>
              <a:rPr lang="en-US" sz="2300" dirty="0"/>
              <a:t>, y </a:t>
            </a:r>
            <a:r>
              <a:rPr lang="en-US" sz="2300" dirty="0" err="1"/>
              <a:t>satisfacer</a:t>
            </a:r>
            <a:r>
              <a:rPr lang="en-US" sz="2300" dirty="0"/>
              <a:t> las </a:t>
            </a:r>
            <a:r>
              <a:rPr lang="en-US" sz="2300" dirty="0" err="1"/>
              <a:t>expectativas</a:t>
            </a:r>
            <a:r>
              <a:rPr lang="en-US" sz="2300" dirty="0"/>
              <a:t> de </a:t>
            </a:r>
            <a:r>
              <a:rPr lang="en-US" sz="2300" dirty="0" err="1"/>
              <a:t>clientes</a:t>
            </a:r>
            <a:r>
              <a:rPr lang="en-US" sz="2300" dirty="0"/>
              <a:t> que </a:t>
            </a:r>
            <a:r>
              <a:rPr lang="en-US" sz="2300" dirty="0" err="1"/>
              <a:t>están</a:t>
            </a:r>
            <a:r>
              <a:rPr lang="en-US" sz="2300" dirty="0"/>
              <a:t> </a:t>
            </a:r>
            <a:r>
              <a:rPr lang="en-US" sz="2300" dirty="0" err="1"/>
              <a:t>cada</a:t>
            </a:r>
            <a:r>
              <a:rPr lang="en-US" sz="2300" dirty="0"/>
              <a:t> </a:t>
            </a:r>
            <a:r>
              <a:rPr lang="en-US" sz="2300" dirty="0" err="1"/>
              <a:t>vez</a:t>
            </a:r>
            <a:r>
              <a:rPr lang="en-US" sz="2300" dirty="0"/>
              <a:t> </a:t>
            </a:r>
            <a:r>
              <a:rPr lang="en-US" sz="2300" dirty="0" err="1"/>
              <a:t>más</a:t>
            </a:r>
            <a:r>
              <a:rPr lang="en-US" sz="2300" dirty="0"/>
              <a:t> </a:t>
            </a:r>
            <a:r>
              <a:rPr lang="en-US" sz="2300" dirty="0" err="1"/>
              <a:t>conectados</a:t>
            </a:r>
            <a:r>
              <a:rPr lang="en-US" sz="2300" dirty="0"/>
              <a:t> y </a:t>
            </a:r>
            <a:r>
              <a:rPr lang="en-US" sz="2300" dirty="0" err="1"/>
              <a:t>demandan</a:t>
            </a:r>
            <a:r>
              <a:rPr lang="en-US" sz="2300" dirty="0"/>
              <a:t> </a:t>
            </a:r>
            <a:r>
              <a:rPr lang="en-US" sz="2300" dirty="0" err="1"/>
              <a:t>soluciones</a:t>
            </a:r>
            <a:r>
              <a:rPr lang="en-US" sz="2300" dirty="0"/>
              <a:t> </a:t>
            </a:r>
            <a:r>
              <a:rPr lang="en-US" sz="2300" dirty="0" err="1"/>
              <a:t>rápidas</a:t>
            </a:r>
            <a:r>
              <a:rPr lang="en-US" sz="2300" dirty="0"/>
              <a:t> y </a:t>
            </a:r>
            <a:r>
              <a:rPr lang="en-US" sz="2300" dirty="0" err="1"/>
              <a:t>personalizadas</a:t>
            </a:r>
            <a:r>
              <a:rPr lang="en-US" sz="2300" dirty="0"/>
              <a:t>. </a:t>
            </a:r>
            <a:r>
              <a:rPr lang="en-US" sz="2300" dirty="0" err="1"/>
              <a:t>Empresas</a:t>
            </a:r>
            <a:r>
              <a:rPr lang="en-US" sz="2300" dirty="0"/>
              <a:t> que antes </a:t>
            </a:r>
            <a:r>
              <a:rPr lang="en-US" sz="2300" dirty="0" err="1"/>
              <a:t>operaban</a:t>
            </a:r>
            <a:r>
              <a:rPr lang="en-US" sz="2300" dirty="0"/>
              <a:t> con </a:t>
            </a:r>
            <a:r>
              <a:rPr lang="en-US" sz="2300" dirty="0" err="1"/>
              <a:t>sistemas</a:t>
            </a:r>
            <a:r>
              <a:rPr lang="en-US" sz="2300" dirty="0"/>
              <a:t> </a:t>
            </a:r>
            <a:r>
              <a:rPr lang="en-US" sz="2300" dirty="0" err="1"/>
              <a:t>tradicionales</a:t>
            </a:r>
            <a:r>
              <a:rPr lang="en-US" sz="2300" dirty="0"/>
              <a:t> y </a:t>
            </a:r>
            <a:r>
              <a:rPr lang="en-US" sz="2300" dirty="0" err="1"/>
              <a:t>procesos</a:t>
            </a:r>
            <a:r>
              <a:rPr lang="en-US" sz="2300" dirty="0"/>
              <a:t> </a:t>
            </a:r>
            <a:r>
              <a:rPr lang="en-US" sz="2300" dirty="0" err="1"/>
              <a:t>manuales</a:t>
            </a:r>
            <a:r>
              <a:rPr lang="en-US" sz="2300" dirty="0"/>
              <a:t> </a:t>
            </a:r>
            <a:r>
              <a:rPr lang="en-US" sz="2300" dirty="0" err="1"/>
              <a:t>ahora</a:t>
            </a:r>
            <a:r>
              <a:rPr lang="en-US" sz="2300" dirty="0"/>
              <a:t> </a:t>
            </a:r>
            <a:r>
              <a:rPr lang="en-US" sz="2300" dirty="0" err="1"/>
              <a:t>están</a:t>
            </a:r>
            <a:r>
              <a:rPr lang="en-US" sz="2300" dirty="0"/>
              <a:t> </a:t>
            </a:r>
            <a:r>
              <a:rPr lang="en-US" sz="2300" dirty="0" err="1"/>
              <a:t>recurriendo</a:t>
            </a:r>
            <a:r>
              <a:rPr lang="en-US" sz="2300" dirty="0"/>
              <a:t> a </a:t>
            </a:r>
            <a:r>
              <a:rPr lang="en-US" sz="2300" dirty="0" err="1"/>
              <a:t>tecnologías</a:t>
            </a:r>
            <a:r>
              <a:rPr lang="en-US" sz="2300" dirty="0"/>
              <a:t> </a:t>
            </a:r>
            <a:r>
              <a:rPr lang="en-US" sz="2300" dirty="0" err="1"/>
              <a:t>como</a:t>
            </a:r>
            <a:r>
              <a:rPr lang="en-US" sz="2300" dirty="0"/>
              <a:t> la </a:t>
            </a:r>
            <a:r>
              <a:rPr lang="en-US" sz="2300" dirty="0" err="1"/>
              <a:t>automatización</a:t>
            </a:r>
            <a:r>
              <a:rPr lang="en-US" sz="2300" dirty="0"/>
              <a:t>, </a:t>
            </a:r>
            <a:r>
              <a:rPr lang="en-US" sz="2300" dirty="0" err="1"/>
              <a:t>inteligencia</a:t>
            </a:r>
            <a:r>
              <a:rPr lang="en-US" sz="2300" dirty="0"/>
              <a:t> artificial (IA), internet de las </a:t>
            </a:r>
            <a:r>
              <a:rPr lang="en-US" sz="2300" dirty="0" err="1"/>
              <a:t>cosas</a:t>
            </a:r>
            <a:r>
              <a:rPr lang="en-US" sz="2300" dirty="0"/>
              <a:t> (IoT), big data, y la </a:t>
            </a:r>
            <a:r>
              <a:rPr lang="en-US" sz="2300" dirty="0" err="1"/>
              <a:t>nube</a:t>
            </a:r>
            <a:r>
              <a:rPr lang="en-US" sz="2300" dirty="0"/>
              <a:t> para </a:t>
            </a:r>
            <a:r>
              <a:rPr lang="en-US" sz="2300" dirty="0" err="1"/>
              <a:t>mejorar</a:t>
            </a:r>
            <a:r>
              <a:rPr lang="en-US" sz="2300" dirty="0"/>
              <a:t> sus </a:t>
            </a:r>
            <a:r>
              <a:rPr lang="en-US" sz="2300" dirty="0" err="1"/>
              <a:t>operaciones</a:t>
            </a:r>
            <a:r>
              <a:rPr lang="en-US" sz="2300" dirty="0"/>
              <a:t>.</a:t>
            </a:r>
            <a:endParaRPr sz="2300" dirty="0"/>
          </a:p>
          <a:p>
            <a:pPr marL="0" lvl="0" indent="0" algn="l" rtl="0">
              <a:lnSpc>
                <a:spcPct val="115000"/>
              </a:lnSpc>
              <a:spcBef>
                <a:spcPts val="1200"/>
              </a:spcBef>
              <a:spcAft>
                <a:spcPts val="0"/>
              </a:spcAft>
              <a:buClr>
                <a:schemeClr val="dk1"/>
              </a:buClr>
              <a:buSzPts val="1100"/>
              <a:buFont typeface="Arial"/>
              <a:buNone/>
            </a:pPr>
            <a:r>
              <a:rPr lang="en-US" sz="2300" dirty="0" err="1"/>
              <a:t>Además</a:t>
            </a:r>
            <a:r>
              <a:rPr lang="en-US" sz="2300" dirty="0"/>
              <a:t>, </a:t>
            </a:r>
            <a:r>
              <a:rPr lang="en-US" sz="2300" dirty="0" err="1"/>
              <a:t>esta</a:t>
            </a:r>
            <a:r>
              <a:rPr lang="en-US" sz="2300" dirty="0"/>
              <a:t> </a:t>
            </a:r>
            <a:r>
              <a:rPr lang="en-US" sz="2300" dirty="0" err="1"/>
              <a:t>transformación</a:t>
            </a:r>
            <a:r>
              <a:rPr lang="en-US" sz="2300" dirty="0"/>
              <a:t> </a:t>
            </a:r>
            <a:r>
              <a:rPr lang="en-US" sz="2300" dirty="0" err="1"/>
              <a:t>permite</a:t>
            </a:r>
            <a:r>
              <a:rPr lang="en-US" sz="2300" dirty="0"/>
              <a:t> a las </a:t>
            </a:r>
            <a:r>
              <a:rPr lang="en-US" sz="2300" dirty="0" err="1"/>
              <a:t>empresas</a:t>
            </a:r>
            <a:r>
              <a:rPr lang="en-US" sz="2300" dirty="0"/>
              <a:t> ser </a:t>
            </a:r>
            <a:r>
              <a:rPr lang="en-US" sz="2300" dirty="0" err="1"/>
              <a:t>más</a:t>
            </a:r>
            <a:r>
              <a:rPr lang="en-US" sz="2300" dirty="0"/>
              <a:t> </a:t>
            </a:r>
            <a:r>
              <a:rPr lang="en-US" sz="2300" dirty="0" err="1"/>
              <a:t>ágiles</a:t>
            </a:r>
            <a:r>
              <a:rPr lang="en-US" sz="2300" dirty="0"/>
              <a:t>, flexibles y </a:t>
            </a:r>
            <a:r>
              <a:rPr lang="en-US" sz="2300" dirty="0" err="1"/>
              <a:t>competitivas</a:t>
            </a:r>
            <a:r>
              <a:rPr lang="en-US" sz="2300" dirty="0"/>
              <a:t> </a:t>
            </a:r>
            <a:r>
              <a:rPr lang="en-US" sz="2300" dirty="0" err="1"/>
              <a:t>en</a:t>
            </a:r>
            <a:r>
              <a:rPr lang="en-US" sz="2300" dirty="0"/>
              <a:t> un mercado que cambia </a:t>
            </a:r>
            <a:r>
              <a:rPr lang="en-US" sz="2300" dirty="0" err="1"/>
              <a:t>rápidamente</a:t>
            </a:r>
            <a:r>
              <a:rPr lang="en-US" sz="2300" dirty="0"/>
              <a:t>, y también </a:t>
            </a:r>
            <a:r>
              <a:rPr lang="en-US" sz="2300" dirty="0" err="1"/>
              <a:t>facilita</a:t>
            </a:r>
            <a:r>
              <a:rPr lang="en-US" sz="2300" dirty="0"/>
              <a:t> la </a:t>
            </a:r>
            <a:r>
              <a:rPr lang="en-US" sz="2300" dirty="0" err="1"/>
              <a:t>creación</a:t>
            </a:r>
            <a:r>
              <a:rPr lang="en-US" sz="2300" dirty="0"/>
              <a:t> de </a:t>
            </a:r>
            <a:r>
              <a:rPr lang="en-US" sz="2300" dirty="0" err="1"/>
              <a:t>nuevos</a:t>
            </a:r>
            <a:r>
              <a:rPr lang="en-US" sz="2300" dirty="0"/>
              <a:t> </a:t>
            </a:r>
            <a:r>
              <a:rPr lang="en-US" sz="2300" dirty="0" err="1"/>
              <a:t>modelos</a:t>
            </a:r>
            <a:r>
              <a:rPr lang="en-US" sz="2300" dirty="0"/>
              <a:t> de </a:t>
            </a:r>
            <a:r>
              <a:rPr lang="en-US" sz="2300" dirty="0" err="1"/>
              <a:t>negocio</a:t>
            </a:r>
            <a:r>
              <a:rPr lang="en-US" sz="2300" dirty="0"/>
              <a:t>, </a:t>
            </a:r>
            <a:r>
              <a:rPr lang="en-US" sz="2300" dirty="0" err="1"/>
              <a:t>como</a:t>
            </a:r>
            <a:r>
              <a:rPr lang="en-US" sz="2300" dirty="0"/>
              <a:t> </a:t>
            </a:r>
            <a:r>
              <a:rPr lang="en-US" sz="2300" dirty="0" err="1"/>
              <a:t>los</a:t>
            </a:r>
            <a:r>
              <a:rPr lang="en-US" sz="2300" dirty="0"/>
              <a:t> </a:t>
            </a:r>
            <a:r>
              <a:rPr lang="en-US" sz="2300" dirty="0" err="1"/>
              <a:t>servicios</a:t>
            </a:r>
            <a:r>
              <a:rPr lang="en-US" sz="2300" dirty="0"/>
              <a:t> </a:t>
            </a:r>
            <a:r>
              <a:rPr lang="en-US" sz="2300" dirty="0" err="1"/>
              <a:t>basados</a:t>
            </a:r>
            <a:r>
              <a:rPr lang="en-US" sz="2300" dirty="0"/>
              <a:t> </a:t>
            </a:r>
            <a:r>
              <a:rPr lang="en-US" sz="2300" dirty="0" err="1"/>
              <a:t>en</a:t>
            </a:r>
            <a:r>
              <a:rPr lang="en-US" sz="2300" dirty="0"/>
              <a:t> </a:t>
            </a:r>
            <a:r>
              <a:rPr lang="en-US" sz="2300" dirty="0" err="1"/>
              <a:t>suscripciones</a:t>
            </a:r>
            <a:r>
              <a:rPr lang="en-US" sz="2300" dirty="0"/>
              <a:t> o </a:t>
            </a:r>
            <a:r>
              <a:rPr lang="en-US" sz="2300" dirty="0" err="1"/>
              <a:t>productos</a:t>
            </a:r>
            <a:r>
              <a:rPr lang="en-US" sz="2300" dirty="0"/>
              <a:t> </a:t>
            </a:r>
            <a:r>
              <a:rPr lang="en-US" sz="2300" dirty="0" err="1"/>
              <a:t>inteligentes</a:t>
            </a:r>
            <a:r>
              <a:rPr lang="en-US" sz="2300" dirty="0"/>
              <a:t> </a:t>
            </a:r>
            <a:r>
              <a:rPr lang="en-US" sz="2300" dirty="0" err="1"/>
              <a:t>conectados</a:t>
            </a:r>
            <a:r>
              <a:rPr lang="en-US" sz="2300" dirty="0"/>
              <a:t>.</a:t>
            </a:r>
            <a:endParaRPr sz="2300" dirty="0"/>
          </a:p>
          <a:p>
            <a:pPr marL="0" marR="0" lvl="0" indent="0" algn="l" rtl="0">
              <a:lnSpc>
                <a:spcPct val="115000"/>
              </a:lnSpc>
              <a:spcBef>
                <a:spcPts val="1200"/>
              </a:spcBef>
              <a:spcAft>
                <a:spcPts val="0"/>
              </a:spcAft>
              <a:buClr>
                <a:srgbClr val="000000"/>
              </a:buClr>
              <a:buSzPts val="2300"/>
              <a:buFont typeface="Arial"/>
              <a:buNone/>
            </a:pPr>
            <a:endParaRPr sz="2300" dirty="0"/>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8" name="Google Shape;168;g308c30d8e00_0_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69" name="Google Shape;169;g308c30d8e00_0_4"/>
          <p:cNvSpPr txBox="1"/>
          <p:nvPr/>
        </p:nvSpPr>
        <p:spPr>
          <a:xfrm>
            <a:off x="3219000" y="10224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Ejemplo Real: Siemens en la Industria Manufacturera</a:t>
            </a:r>
            <a:endParaRPr sz="2700" b="1" i="0" u="none" strike="noStrike" cap="none">
              <a:solidFill>
                <a:srgbClr val="F46524"/>
              </a:solidFill>
              <a:latin typeface="Raleway"/>
              <a:ea typeface="Raleway"/>
              <a:cs typeface="Raleway"/>
              <a:sym typeface="Raleway"/>
            </a:endParaRPr>
          </a:p>
        </p:txBody>
      </p:sp>
      <p:sp>
        <p:nvSpPr>
          <p:cNvPr id="170" name="Google Shape;170;g308c30d8e00_0_4"/>
          <p:cNvSpPr txBox="1"/>
          <p:nvPr/>
        </p:nvSpPr>
        <p:spPr>
          <a:xfrm>
            <a:off x="3635250" y="222312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100" dirty="0">
                <a:solidFill>
                  <a:schemeClr val="dk1"/>
                </a:solidFill>
              </a:rPr>
              <a:t>Un </a:t>
            </a:r>
            <a:r>
              <a:rPr lang="en-US" sz="2100" dirty="0" err="1">
                <a:solidFill>
                  <a:schemeClr val="dk1"/>
                </a:solidFill>
              </a:rPr>
              <a:t>caso</a:t>
            </a:r>
            <a:r>
              <a:rPr lang="en-US" sz="2100" dirty="0">
                <a:solidFill>
                  <a:schemeClr val="dk1"/>
                </a:solidFill>
              </a:rPr>
              <a:t> notable de </a:t>
            </a:r>
            <a:r>
              <a:rPr lang="en-US" sz="2100" dirty="0" err="1">
                <a:solidFill>
                  <a:schemeClr val="dk1"/>
                </a:solidFill>
              </a:rPr>
              <a:t>transformación</a:t>
            </a:r>
            <a:r>
              <a:rPr lang="en-US" sz="2100" dirty="0">
                <a:solidFill>
                  <a:schemeClr val="dk1"/>
                </a:solidFill>
              </a:rPr>
              <a:t> digital </a:t>
            </a:r>
            <a:r>
              <a:rPr lang="en-US" sz="2100" dirty="0" err="1">
                <a:solidFill>
                  <a:schemeClr val="dk1"/>
                </a:solidFill>
              </a:rPr>
              <a:t>en</a:t>
            </a:r>
            <a:r>
              <a:rPr lang="en-US" sz="2100" dirty="0">
                <a:solidFill>
                  <a:schemeClr val="dk1"/>
                </a:solidFill>
              </a:rPr>
              <a:t> la </a:t>
            </a:r>
            <a:r>
              <a:rPr lang="en-US" sz="2100" dirty="0" err="1">
                <a:solidFill>
                  <a:schemeClr val="dk1"/>
                </a:solidFill>
              </a:rPr>
              <a:t>industria</a:t>
            </a:r>
            <a:r>
              <a:rPr lang="en-US" sz="2100" dirty="0">
                <a:solidFill>
                  <a:schemeClr val="dk1"/>
                </a:solidFill>
              </a:rPr>
              <a:t> </a:t>
            </a:r>
            <a:r>
              <a:rPr lang="en-US" sz="2100" dirty="0" err="1">
                <a:solidFill>
                  <a:schemeClr val="dk1"/>
                </a:solidFill>
              </a:rPr>
              <a:t>manufacturera</a:t>
            </a:r>
            <a:r>
              <a:rPr lang="en-US" sz="2100" dirty="0">
                <a:solidFill>
                  <a:schemeClr val="dk1"/>
                </a:solidFill>
              </a:rPr>
              <a:t> es </a:t>
            </a:r>
            <a:r>
              <a:rPr lang="en-US" sz="2100" b="1" dirty="0">
                <a:solidFill>
                  <a:schemeClr val="dk1"/>
                </a:solidFill>
              </a:rPr>
              <a:t>Siemens</a:t>
            </a:r>
            <a:r>
              <a:rPr lang="en-US" sz="2100" dirty="0">
                <a:solidFill>
                  <a:schemeClr val="dk1"/>
                </a:solidFill>
              </a:rPr>
              <a:t>, </a:t>
            </a:r>
            <a:r>
              <a:rPr lang="en-US" sz="2100" dirty="0" err="1">
                <a:solidFill>
                  <a:schemeClr val="dk1"/>
                </a:solidFill>
              </a:rPr>
              <a:t>una</a:t>
            </a:r>
            <a:r>
              <a:rPr lang="en-US" sz="2100" dirty="0">
                <a:solidFill>
                  <a:schemeClr val="dk1"/>
                </a:solidFill>
              </a:rPr>
              <a:t> de las </a:t>
            </a:r>
            <a:r>
              <a:rPr lang="en-US" sz="2100" dirty="0" err="1">
                <a:solidFill>
                  <a:schemeClr val="dk1"/>
                </a:solidFill>
              </a:rPr>
              <a:t>mayores</a:t>
            </a:r>
            <a:r>
              <a:rPr lang="en-US" sz="2100" dirty="0">
                <a:solidFill>
                  <a:schemeClr val="dk1"/>
                </a:solidFill>
              </a:rPr>
              <a:t> </a:t>
            </a:r>
            <a:r>
              <a:rPr lang="en-US" sz="2100" dirty="0" err="1">
                <a:solidFill>
                  <a:schemeClr val="dk1"/>
                </a:solidFill>
              </a:rPr>
              <a:t>empresas</a:t>
            </a:r>
            <a:r>
              <a:rPr lang="en-US" sz="2100" dirty="0">
                <a:solidFill>
                  <a:schemeClr val="dk1"/>
                </a:solidFill>
              </a:rPr>
              <a:t> </a:t>
            </a:r>
            <a:r>
              <a:rPr lang="en-US" sz="2100" dirty="0" err="1">
                <a:solidFill>
                  <a:schemeClr val="dk1"/>
                </a:solidFill>
              </a:rPr>
              <a:t>tecnológicas</a:t>
            </a:r>
            <a:r>
              <a:rPr lang="en-US" sz="2100" dirty="0">
                <a:solidFill>
                  <a:schemeClr val="dk1"/>
                </a:solidFill>
              </a:rPr>
              <a:t> del </a:t>
            </a:r>
            <a:r>
              <a:rPr lang="en-US" sz="2100" dirty="0" err="1">
                <a:solidFill>
                  <a:schemeClr val="dk1"/>
                </a:solidFill>
              </a:rPr>
              <a:t>mundo</a:t>
            </a:r>
            <a:r>
              <a:rPr lang="en-US" sz="2100" dirty="0">
                <a:solidFill>
                  <a:schemeClr val="dk1"/>
                </a:solidFill>
              </a:rPr>
              <a:t>. Siemens ha </a:t>
            </a:r>
            <a:r>
              <a:rPr lang="en-US" sz="2100" dirty="0" err="1">
                <a:solidFill>
                  <a:schemeClr val="dk1"/>
                </a:solidFill>
              </a:rPr>
              <a:t>utilizado</a:t>
            </a:r>
            <a:r>
              <a:rPr lang="en-US" sz="2100" dirty="0">
                <a:solidFill>
                  <a:schemeClr val="dk1"/>
                </a:solidFill>
              </a:rPr>
              <a:t> la </a:t>
            </a:r>
            <a:r>
              <a:rPr lang="en-US" sz="2100" dirty="0" err="1">
                <a:solidFill>
                  <a:schemeClr val="dk1"/>
                </a:solidFill>
              </a:rPr>
              <a:t>digitalización</a:t>
            </a:r>
            <a:r>
              <a:rPr lang="en-US" sz="2100" dirty="0">
                <a:solidFill>
                  <a:schemeClr val="dk1"/>
                </a:solidFill>
              </a:rPr>
              <a:t> para </a:t>
            </a:r>
            <a:r>
              <a:rPr lang="en-US" sz="2100" dirty="0" err="1">
                <a:solidFill>
                  <a:schemeClr val="dk1"/>
                </a:solidFill>
              </a:rPr>
              <a:t>transformar</a:t>
            </a:r>
            <a:r>
              <a:rPr lang="en-US" sz="2100" dirty="0">
                <a:solidFill>
                  <a:schemeClr val="dk1"/>
                </a:solidFill>
              </a:rPr>
              <a:t> sus </a:t>
            </a:r>
            <a:r>
              <a:rPr lang="en-US" sz="2100" dirty="0" err="1">
                <a:solidFill>
                  <a:schemeClr val="dk1"/>
                </a:solidFill>
              </a:rPr>
              <a:t>procesos</a:t>
            </a:r>
            <a:r>
              <a:rPr lang="en-US" sz="2100" dirty="0">
                <a:solidFill>
                  <a:schemeClr val="dk1"/>
                </a:solidFill>
              </a:rPr>
              <a:t> de </a:t>
            </a:r>
            <a:r>
              <a:rPr lang="en-US" sz="2100" dirty="0" err="1">
                <a:solidFill>
                  <a:schemeClr val="dk1"/>
                </a:solidFill>
              </a:rPr>
              <a:t>producción</a:t>
            </a:r>
            <a:r>
              <a:rPr lang="en-US" sz="2100" dirty="0">
                <a:solidFill>
                  <a:schemeClr val="dk1"/>
                </a:solidFill>
              </a:rPr>
              <a:t> a </a:t>
            </a:r>
            <a:r>
              <a:rPr lang="en-US" sz="2100" dirty="0" err="1">
                <a:solidFill>
                  <a:schemeClr val="dk1"/>
                </a:solidFill>
              </a:rPr>
              <a:t>través</a:t>
            </a:r>
            <a:r>
              <a:rPr lang="en-US" sz="2100" dirty="0">
                <a:solidFill>
                  <a:schemeClr val="dk1"/>
                </a:solidFill>
              </a:rPr>
              <a:t> de la </a:t>
            </a:r>
            <a:r>
              <a:rPr lang="en-US" sz="2100" b="1" dirty="0" err="1">
                <a:solidFill>
                  <a:schemeClr val="dk1"/>
                </a:solidFill>
              </a:rPr>
              <a:t>fábrica</a:t>
            </a:r>
            <a:r>
              <a:rPr lang="en-US" sz="2100" b="1" dirty="0">
                <a:solidFill>
                  <a:schemeClr val="dk1"/>
                </a:solidFill>
              </a:rPr>
              <a:t> </a:t>
            </a:r>
            <a:r>
              <a:rPr lang="en-US" sz="2100" b="1" dirty="0" err="1">
                <a:solidFill>
                  <a:schemeClr val="dk1"/>
                </a:solidFill>
              </a:rPr>
              <a:t>inteligente</a:t>
            </a:r>
            <a:r>
              <a:rPr lang="en-US" sz="2100" dirty="0">
                <a:solidFill>
                  <a:schemeClr val="dk1"/>
                </a:solidFill>
              </a:rPr>
              <a:t>. En </a:t>
            </a:r>
            <a:r>
              <a:rPr lang="en-US" sz="2100" dirty="0" err="1">
                <a:solidFill>
                  <a:schemeClr val="dk1"/>
                </a:solidFill>
              </a:rPr>
              <a:t>su</a:t>
            </a:r>
            <a:r>
              <a:rPr lang="en-US" sz="2100" dirty="0">
                <a:solidFill>
                  <a:schemeClr val="dk1"/>
                </a:solidFill>
              </a:rPr>
              <a:t> planta de Amberg, Alemania, </a:t>
            </a:r>
            <a:r>
              <a:rPr lang="en-US" sz="2100" dirty="0" err="1">
                <a:solidFill>
                  <a:schemeClr val="dk1"/>
                </a:solidFill>
              </a:rPr>
              <a:t>han</a:t>
            </a:r>
            <a:r>
              <a:rPr lang="en-US" sz="2100" dirty="0">
                <a:solidFill>
                  <a:schemeClr val="dk1"/>
                </a:solidFill>
              </a:rPr>
              <a:t> </a:t>
            </a:r>
            <a:r>
              <a:rPr lang="en-US" sz="2100" dirty="0" err="1">
                <a:solidFill>
                  <a:schemeClr val="dk1"/>
                </a:solidFill>
              </a:rPr>
              <a:t>integrado</a:t>
            </a:r>
            <a:r>
              <a:rPr lang="en-US" sz="2100" dirty="0">
                <a:solidFill>
                  <a:schemeClr val="dk1"/>
                </a:solidFill>
              </a:rPr>
              <a:t> </a:t>
            </a:r>
            <a:r>
              <a:rPr lang="en-US" sz="2100" dirty="0" err="1">
                <a:solidFill>
                  <a:schemeClr val="dk1"/>
                </a:solidFill>
              </a:rPr>
              <a:t>tecnologías</a:t>
            </a:r>
            <a:r>
              <a:rPr lang="en-US" sz="2100" dirty="0">
                <a:solidFill>
                  <a:schemeClr val="dk1"/>
                </a:solidFill>
              </a:rPr>
              <a:t> </a:t>
            </a:r>
            <a:r>
              <a:rPr lang="en-US" sz="2100" dirty="0" err="1">
                <a:solidFill>
                  <a:schemeClr val="dk1"/>
                </a:solidFill>
              </a:rPr>
              <a:t>como</a:t>
            </a:r>
            <a:r>
              <a:rPr lang="en-US" sz="2100" dirty="0">
                <a:solidFill>
                  <a:schemeClr val="dk1"/>
                </a:solidFill>
              </a:rPr>
              <a:t> </a:t>
            </a:r>
            <a:r>
              <a:rPr lang="en-US" sz="2100" dirty="0" err="1">
                <a:solidFill>
                  <a:schemeClr val="dk1"/>
                </a:solidFill>
              </a:rPr>
              <a:t>el</a:t>
            </a:r>
            <a:r>
              <a:rPr lang="en-US" sz="2100" dirty="0">
                <a:solidFill>
                  <a:schemeClr val="dk1"/>
                </a:solidFill>
              </a:rPr>
              <a:t> IoT, </a:t>
            </a:r>
            <a:r>
              <a:rPr lang="en-US" sz="2100" dirty="0" err="1">
                <a:solidFill>
                  <a:schemeClr val="dk1"/>
                </a:solidFill>
              </a:rPr>
              <a:t>inteligencia</a:t>
            </a:r>
            <a:r>
              <a:rPr lang="en-US" sz="2100" dirty="0">
                <a:solidFill>
                  <a:schemeClr val="dk1"/>
                </a:solidFill>
              </a:rPr>
              <a:t> artificial y </a:t>
            </a:r>
            <a:r>
              <a:rPr lang="en-US" sz="2100" dirty="0" err="1">
                <a:solidFill>
                  <a:schemeClr val="dk1"/>
                </a:solidFill>
              </a:rPr>
              <a:t>sistemas</a:t>
            </a:r>
            <a:r>
              <a:rPr lang="en-US" sz="2100" dirty="0">
                <a:solidFill>
                  <a:schemeClr val="dk1"/>
                </a:solidFill>
              </a:rPr>
              <a:t> </a:t>
            </a:r>
            <a:r>
              <a:rPr lang="en-US" sz="2100" dirty="0" err="1">
                <a:solidFill>
                  <a:schemeClr val="dk1"/>
                </a:solidFill>
              </a:rPr>
              <a:t>ciberfísicos</a:t>
            </a:r>
            <a:r>
              <a:rPr lang="en-US" sz="2100" dirty="0">
                <a:solidFill>
                  <a:schemeClr val="dk1"/>
                </a:solidFill>
              </a:rPr>
              <a:t> para </a:t>
            </a:r>
            <a:r>
              <a:rPr lang="en-US" sz="2100" dirty="0" err="1">
                <a:solidFill>
                  <a:schemeClr val="dk1"/>
                </a:solidFill>
              </a:rPr>
              <a:t>conectar</a:t>
            </a:r>
            <a:r>
              <a:rPr lang="en-US" sz="2100" dirty="0">
                <a:solidFill>
                  <a:schemeClr val="dk1"/>
                </a:solidFill>
              </a:rPr>
              <a:t> </a:t>
            </a:r>
            <a:r>
              <a:rPr lang="en-US" sz="2100" dirty="0" err="1">
                <a:solidFill>
                  <a:schemeClr val="dk1"/>
                </a:solidFill>
              </a:rPr>
              <a:t>máquinas</a:t>
            </a:r>
            <a:r>
              <a:rPr lang="en-US" sz="2100" dirty="0">
                <a:solidFill>
                  <a:schemeClr val="dk1"/>
                </a:solidFill>
              </a:rPr>
              <a:t>, </a:t>
            </a:r>
            <a:r>
              <a:rPr lang="en-US" sz="2100" dirty="0" err="1">
                <a:solidFill>
                  <a:schemeClr val="dk1"/>
                </a:solidFill>
              </a:rPr>
              <a:t>sistemas</a:t>
            </a:r>
            <a:r>
              <a:rPr lang="en-US" sz="2100" dirty="0">
                <a:solidFill>
                  <a:schemeClr val="dk1"/>
                </a:solidFill>
              </a:rPr>
              <a:t> de control y </a:t>
            </a:r>
            <a:r>
              <a:rPr lang="en-US" sz="2100" dirty="0" err="1">
                <a:solidFill>
                  <a:schemeClr val="dk1"/>
                </a:solidFill>
              </a:rPr>
              <a:t>procesos</a:t>
            </a:r>
            <a:r>
              <a:rPr lang="en-US" sz="2100" dirty="0">
                <a:solidFill>
                  <a:schemeClr val="dk1"/>
                </a:solidFill>
              </a:rPr>
              <a:t> de </a:t>
            </a:r>
            <a:r>
              <a:rPr lang="en-US" sz="2100" dirty="0" err="1">
                <a:solidFill>
                  <a:schemeClr val="dk1"/>
                </a:solidFill>
              </a:rPr>
              <a:t>fabricación</a:t>
            </a:r>
            <a:r>
              <a:rPr lang="en-US" sz="2100" dirty="0">
                <a:solidFill>
                  <a:schemeClr val="dk1"/>
                </a:solidFill>
              </a:rPr>
              <a:t>.</a:t>
            </a:r>
            <a:endParaRPr sz="21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100" dirty="0">
                <a:solidFill>
                  <a:schemeClr val="dk1"/>
                </a:solidFill>
              </a:rPr>
              <a:t>Esta planta es un </a:t>
            </a:r>
            <a:r>
              <a:rPr lang="en-US" sz="2100" dirty="0" err="1">
                <a:solidFill>
                  <a:schemeClr val="dk1"/>
                </a:solidFill>
              </a:rPr>
              <a:t>ejemplo</a:t>
            </a:r>
            <a:r>
              <a:rPr lang="en-US" sz="2100" dirty="0">
                <a:solidFill>
                  <a:schemeClr val="dk1"/>
                </a:solidFill>
              </a:rPr>
              <a:t> de </a:t>
            </a:r>
            <a:r>
              <a:rPr lang="en-US" sz="2100" b="1" dirty="0">
                <a:solidFill>
                  <a:schemeClr val="dk1"/>
                </a:solidFill>
              </a:rPr>
              <a:t>Industria 4.0</a:t>
            </a:r>
            <a:r>
              <a:rPr lang="en-US" sz="2100" dirty="0">
                <a:solidFill>
                  <a:schemeClr val="dk1"/>
                </a:solidFill>
              </a:rPr>
              <a:t>, </a:t>
            </a:r>
            <a:r>
              <a:rPr lang="en-US" sz="2100" dirty="0" err="1">
                <a:solidFill>
                  <a:schemeClr val="dk1"/>
                </a:solidFill>
              </a:rPr>
              <a:t>donde</a:t>
            </a:r>
            <a:r>
              <a:rPr lang="en-US" sz="2100" dirty="0">
                <a:solidFill>
                  <a:schemeClr val="dk1"/>
                </a:solidFill>
              </a:rPr>
              <a:t> la </a:t>
            </a:r>
            <a:r>
              <a:rPr lang="en-US" sz="2100" dirty="0" err="1">
                <a:solidFill>
                  <a:schemeClr val="dk1"/>
                </a:solidFill>
              </a:rPr>
              <a:t>interconexión</a:t>
            </a:r>
            <a:r>
              <a:rPr lang="en-US" sz="2100" dirty="0">
                <a:solidFill>
                  <a:schemeClr val="dk1"/>
                </a:solidFill>
              </a:rPr>
              <a:t> de </a:t>
            </a:r>
            <a:r>
              <a:rPr lang="en-US" sz="2100" dirty="0" err="1">
                <a:solidFill>
                  <a:schemeClr val="dk1"/>
                </a:solidFill>
              </a:rPr>
              <a:t>dispositivos</a:t>
            </a:r>
            <a:r>
              <a:rPr lang="en-US" sz="2100" dirty="0">
                <a:solidFill>
                  <a:schemeClr val="dk1"/>
                </a:solidFill>
              </a:rPr>
              <a:t> y </a:t>
            </a:r>
            <a:r>
              <a:rPr lang="en-US" sz="2100" dirty="0" err="1">
                <a:solidFill>
                  <a:schemeClr val="dk1"/>
                </a:solidFill>
              </a:rPr>
              <a:t>sistemas</a:t>
            </a:r>
            <a:r>
              <a:rPr lang="en-US" sz="2100" dirty="0">
                <a:solidFill>
                  <a:schemeClr val="dk1"/>
                </a:solidFill>
              </a:rPr>
              <a:t> </a:t>
            </a:r>
            <a:r>
              <a:rPr lang="en-US" sz="2100" dirty="0" err="1">
                <a:solidFill>
                  <a:schemeClr val="dk1"/>
                </a:solidFill>
              </a:rPr>
              <a:t>permite</a:t>
            </a:r>
            <a:r>
              <a:rPr lang="en-US" sz="2100" dirty="0">
                <a:solidFill>
                  <a:schemeClr val="dk1"/>
                </a:solidFill>
              </a:rPr>
              <a:t> que la </a:t>
            </a:r>
            <a:r>
              <a:rPr lang="en-US" sz="2100" dirty="0" err="1">
                <a:solidFill>
                  <a:schemeClr val="dk1"/>
                </a:solidFill>
              </a:rPr>
              <a:t>producción</a:t>
            </a:r>
            <a:r>
              <a:rPr lang="en-US" sz="2100" dirty="0">
                <a:solidFill>
                  <a:schemeClr val="dk1"/>
                </a:solidFill>
              </a:rPr>
              <a:t> sea </a:t>
            </a:r>
            <a:r>
              <a:rPr lang="en-US" sz="2100" dirty="0" err="1">
                <a:solidFill>
                  <a:schemeClr val="dk1"/>
                </a:solidFill>
              </a:rPr>
              <a:t>más</a:t>
            </a:r>
            <a:r>
              <a:rPr lang="en-US" sz="2100" dirty="0">
                <a:solidFill>
                  <a:schemeClr val="dk1"/>
                </a:solidFill>
              </a:rPr>
              <a:t> </a:t>
            </a:r>
            <a:r>
              <a:rPr lang="en-US" sz="2100" dirty="0" err="1">
                <a:solidFill>
                  <a:schemeClr val="dk1"/>
                </a:solidFill>
              </a:rPr>
              <a:t>eficiente</a:t>
            </a:r>
            <a:r>
              <a:rPr lang="en-US" sz="2100" dirty="0">
                <a:solidFill>
                  <a:schemeClr val="dk1"/>
                </a:solidFill>
              </a:rPr>
              <a:t> y flexible. Los </a:t>
            </a:r>
            <a:r>
              <a:rPr lang="en-US" sz="2100" dirty="0" err="1">
                <a:solidFill>
                  <a:schemeClr val="dk1"/>
                </a:solidFill>
              </a:rPr>
              <a:t>sensores</a:t>
            </a:r>
            <a:r>
              <a:rPr lang="en-US" sz="2100" dirty="0">
                <a:solidFill>
                  <a:schemeClr val="dk1"/>
                </a:solidFill>
              </a:rPr>
              <a:t> </a:t>
            </a:r>
            <a:r>
              <a:rPr lang="en-US" sz="2100" dirty="0" err="1">
                <a:solidFill>
                  <a:schemeClr val="dk1"/>
                </a:solidFill>
              </a:rPr>
              <a:t>en</a:t>
            </a:r>
            <a:r>
              <a:rPr lang="en-US" sz="2100" dirty="0">
                <a:solidFill>
                  <a:schemeClr val="dk1"/>
                </a:solidFill>
              </a:rPr>
              <a:t> las </a:t>
            </a:r>
            <a:r>
              <a:rPr lang="en-US" sz="2100" dirty="0" err="1">
                <a:solidFill>
                  <a:schemeClr val="dk1"/>
                </a:solidFill>
              </a:rPr>
              <a:t>máquinas</a:t>
            </a:r>
            <a:r>
              <a:rPr lang="en-US" sz="2100" dirty="0">
                <a:solidFill>
                  <a:schemeClr val="dk1"/>
                </a:solidFill>
              </a:rPr>
              <a:t> </a:t>
            </a:r>
            <a:r>
              <a:rPr lang="en-US" sz="2100" dirty="0" err="1">
                <a:solidFill>
                  <a:schemeClr val="dk1"/>
                </a:solidFill>
              </a:rPr>
              <a:t>recolectan</a:t>
            </a:r>
            <a:r>
              <a:rPr lang="en-US" sz="2100" dirty="0">
                <a:solidFill>
                  <a:schemeClr val="dk1"/>
                </a:solidFill>
              </a:rPr>
              <a:t> </a:t>
            </a:r>
            <a:r>
              <a:rPr lang="en-US" sz="2100" dirty="0" err="1">
                <a:solidFill>
                  <a:schemeClr val="dk1"/>
                </a:solidFill>
              </a:rPr>
              <a:t>datos</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tiempo</a:t>
            </a:r>
            <a:r>
              <a:rPr lang="en-US" sz="2100" dirty="0">
                <a:solidFill>
                  <a:schemeClr val="dk1"/>
                </a:solidFill>
              </a:rPr>
              <a:t> real, lo que </a:t>
            </a:r>
            <a:r>
              <a:rPr lang="en-US" sz="2100" dirty="0" err="1">
                <a:solidFill>
                  <a:schemeClr val="dk1"/>
                </a:solidFill>
              </a:rPr>
              <a:t>permite</a:t>
            </a:r>
            <a:r>
              <a:rPr lang="en-US" sz="2100" dirty="0">
                <a:solidFill>
                  <a:schemeClr val="dk1"/>
                </a:solidFill>
              </a:rPr>
              <a:t> </a:t>
            </a:r>
            <a:r>
              <a:rPr lang="en-US" sz="2100" dirty="0" err="1">
                <a:solidFill>
                  <a:schemeClr val="dk1"/>
                </a:solidFill>
              </a:rPr>
              <a:t>ajustes</a:t>
            </a:r>
            <a:r>
              <a:rPr lang="en-US" sz="2100" dirty="0">
                <a:solidFill>
                  <a:schemeClr val="dk1"/>
                </a:solidFill>
              </a:rPr>
              <a:t> </a:t>
            </a:r>
            <a:r>
              <a:rPr lang="en-US" sz="2100" dirty="0" err="1">
                <a:solidFill>
                  <a:schemeClr val="dk1"/>
                </a:solidFill>
              </a:rPr>
              <a:t>inmediatos</a:t>
            </a:r>
            <a:r>
              <a:rPr lang="en-US" sz="2100" dirty="0">
                <a:solidFill>
                  <a:schemeClr val="dk1"/>
                </a:solidFill>
              </a:rPr>
              <a:t> </a:t>
            </a:r>
            <a:r>
              <a:rPr lang="en-US" sz="2100" dirty="0" err="1">
                <a:solidFill>
                  <a:schemeClr val="dk1"/>
                </a:solidFill>
              </a:rPr>
              <a:t>en</a:t>
            </a:r>
            <a:r>
              <a:rPr lang="en-US" sz="2100" dirty="0">
                <a:solidFill>
                  <a:schemeClr val="dk1"/>
                </a:solidFill>
              </a:rPr>
              <a:t> la </a:t>
            </a:r>
            <a:r>
              <a:rPr lang="en-US" sz="2100" dirty="0" err="1">
                <a:solidFill>
                  <a:schemeClr val="dk1"/>
                </a:solidFill>
              </a:rPr>
              <a:t>producción</a:t>
            </a:r>
            <a:r>
              <a:rPr lang="en-US" sz="2100" dirty="0">
                <a:solidFill>
                  <a:schemeClr val="dk1"/>
                </a:solidFill>
              </a:rPr>
              <a:t> y un control de </a:t>
            </a:r>
            <a:r>
              <a:rPr lang="en-US" sz="2100" dirty="0" err="1">
                <a:solidFill>
                  <a:schemeClr val="dk1"/>
                </a:solidFill>
              </a:rPr>
              <a:t>calidad</a:t>
            </a:r>
            <a:r>
              <a:rPr lang="en-US" sz="2100" dirty="0">
                <a:solidFill>
                  <a:schemeClr val="dk1"/>
                </a:solidFill>
              </a:rPr>
              <a:t> </a:t>
            </a:r>
            <a:r>
              <a:rPr lang="en-US" sz="2100" dirty="0" err="1">
                <a:solidFill>
                  <a:schemeClr val="dk1"/>
                </a:solidFill>
              </a:rPr>
              <a:t>automatizado</a:t>
            </a:r>
            <a:r>
              <a:rPr lang="en-US" sz="2100" dirty="0">
                <a:solidFill>
                  <a:schemeClr val="dk1"/>
                </a:solidFill>
              </a:rPr>
              <a:t>. La </a:t>
            </a:r>
            <a:r>
              <a:rPr lang="en-US" sz="2100" dirty="0" err="1">
                <a:solidFill>
                  <a:schemeClr val="dk1"/>
                </a:solidFill>
              </a:rPr>
              <a:t>inteligencia</a:t>
            </a:r>
            <a:r>
              <a:rPr lang="en-US" sz="2100" dirty="0">
                <a:solidFill>
                  <a:schemeClr val="dk1"/>
                </a:solidFill>
              </a:rPr>
              <a:t> artificial </a:t>
            </a:r>
            <a:r>
              <a:rPr lang="en-US" sz="2100" dirty="0" err="1">
                <a:solidFill>
                  <a:schemeClr val="dk1"/>
                </a:solidFill>
              </a:rPr>
              <a:t>ayuda</a:t>
            </a:r>
            <a:r>
              <a:rPr lang="en-US" sz="2100" dirty="0">
                <a:solidFill>
                  <a:schemeClr val="dk1"/>
                </a:solidFill>
              </a:rPr>
              <a:t> a </a:t>
            </a:r>
            <a:r>
              <a:rPr lang="en-US" sz="2100" dirty="0" err="1">
                <a:solidFill>
                  <a:schemeClr val="dk1"/>
                </a:solidFill>
              </a:rPr>
              <a:t>prever</a:t>
            </a:r>
            <a:r>
              <a:rPr lang="en-US" sz="2100" dirty="0">
                <a:solidFill>
                  <a:schemeClr val="dk1"/>
                </a:solidFill>
              </a:rPr>
              <a:t> </a:t>
            </a:r>
            <a:r>
              <a:rPr lang="en-US" sz="2100" dirty="0" err="1">
                <a:solidFill>
                  <a:schemeClr val="dk1"/>
                </a:solidFill>
              </a:rPr>
              <a:t>fallos</a:t>
            </a:r>
            <a:r>
              <a:rPr lang="en-US" sz="2100" dirty="0">
                <a:solidFill>
                  <a:schemeClr val="dk1"/>
                </a:solidFill>
              </a:rPr>
              <a:t> antes de que </a:t>
            </a:r>
            <a:r>
              <a:rPr lang="en-US" sz="2100" dirty="0" err="1">
                <a:solidFill>
                  <a:schemeClr val="dk1"/>
                </a:solidFill>
              </a:rPr>
              <a:t>ocurran</a:t>
            </a:r>
            <a:r>
              <a:rPr lang="en-US" sz="2100" dirty="0">
                <a:solidFill>
                  <a:schemeClr val="dk1"/>
                </a:solidFill>
              </a:rPr>
              <a:t>, </a:t>
            </a:r>
            <a:r>
              <a:rPr lang="en-US" sz="2100" dirty="0" err="1">
                <a:solidFill>
                  <a:schemeClr val="dk1"/>
                </a:solidFill>
              </a:rPr>
              <a:t>reduciendo</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tiempo</a:t>
            </a:r>
            <a:r>
              <a:rPr lang="en-US" sz="2100" dirty="0">
                <a:solidFill>
                  <a:schemeClr val="dk1"/>
                </a:solidFill>
              </a:rPr>
              <a:t> de </a:t>
            </a:r>
            <a:r>
              <a:rPr lang="en-US" sz="2100" dirty="0" err="1">
                <a:solidFill>
                  <a:schemeClr val="dk1"/>
                </a:solidFill>
              </a:rPr>
              <a:t>inactividad</a:t>
            </a:r>
            <a:r>
              <a:rPr lang="en-US" sz="2100" dirty="0">
                <a:solidFill>
                  <a:schemeClr val="dk1"/>
                </a:solidFill>
              </a:rPr>
              <a:t>. Gracias a </a:t>
            </a:r>
            <a:r>
              <a:rPr lang="en-US" sz="2100" dirty="0" err="1">
                <a:solidFill>
                  <a:schemeClr val="dk1"/>
                </a:solidFill>
              </a:rPr>
              <a:t>esta</a:t>
            </a:r>
            <a:r>
              <a:rPr lang="en-US" sz="2100" dirty="0">
                <a:solidFill>
                  <a:schemeClr val="dk1"/>
                </a:solidFill>
              </a:rPr>
              <a:t> </a:t>
            </a:r>
            <a:r>
              <a:rPr lang="en-US" sz="2100" dirty="0" err="1">
                <a:solidFill>
                  <a:schemeClr val="dk1"/>
                </a:solidFill>
              </a:rPr>
              <a:t>transformación</a:t>
            </a:r>
            <a:r>
              <a:rPr lang="en-US" sz="2100" dirty="0">
                <a:solidFill>
                  <a:schemeClr val="dk1"/>
                </a:solidFill>
              </a:rPr>
              <a:t>, Siemens ha </a:t>
            </a:r>
            <a:r>
              <a:rPr lang="en-US" sz="2100" dirty="0" err="1">
                <a:solidFill>
                  <a:schemeClr val="dk1"/>
                </a:solidFill>
              </a:rPr>
              <a:t>reducido</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tiempo</a:t>
            </a:r>
            <a:r>
              <a:rPr lang="en-US" sz="2100" dirty="0">
                <a:solidFill>
                  <a:schemeClr val="dk1"/>
                </a:solidFill>
              </a:rPr>
              <a:t> de </a:t>
            </a:r>
            <a:r>
              <a:rPr lang="en-US" sz="2100" dirty="0" err="1">
                <a:solidFill>
                  <a:schemeClr val="dk1"/>
                </a:solidFill>
              </a:rPr>
              <a:t>fabricación</a:t>
            </a:r>
            <a:r>
              <a:rPr lang="en-US" sz="2100" dirty="0">
                <a:solidFill>
                  <a:schemeClr val="dk1"/>
                </a:solidFill>
              </a:rPr>
              <a:t> de sus </a:t>
            </a:r>
            <a:r>
              <a:rPr lang="en-US" sz="2100" dirty="0" err="1">
                <a:solidFill>
                  <a:schemeClr val="dk1"/>
                </a:solidFill>
              </a:rPr>
              <a:t>productos</a:t>
            </a:r>
            <a:r>
              <a:rPr lang="en-US" sz="2100" dirty="0">
                <a:solidFill>
                  <a:schemeClr val="dk1"/>
                </a:solidFill>
              </a:rPr>
              <a:t>, </a:t>
            </a:r>
            <a:r>
              <a:rPr lang="en-US" sz="2100" dirty="0" err="1">
                <a:solidFill>
                  <a:schemeClr val="dk1"/>
                </a:solidFill>
              </a:rPr>
              <a:t>mejorado</a:t>
            </a:r>
            <a:r>
              <a:rPr lang="en-US" sz="2100" dirty="0">
                <a:solidFill>
                  <a:schemeClr val="dk1"/>
                </a:solidFill>
              </a:rPr>
              <a:t> la </a:t>
            </a:r>
            <a:r>
              <a:rPr lang="en-US" sz="2100" dirty="0" err="1">
                <a:solidFill>
                  <a:schemeClr val="dk1"/>
                </a:solidFill>
              </a:rPr>
              <a:t>calidad</a:t>
            </a:r>
            <a:r>
              <a:rPr lang="en-US" sz="2100" dirty="0">
                <a:solidFill>
                  <a:schemeClr val="dk1"/>
                </a:solidFill>
              </a:rPr>
              <a:t> y </a:t>
            </a:r>
            <a:r>
              <a:rPr lang="en-US" sz="2100" dirty="0" err="1">
                <a:solidFill>
                  <a:schemeClr val="dk1"/>
                </a:solidFill>
              </a:rPr>
              <a:t>reducido</a:t>
            </a:r>
            <a:r>
              <a:rPr lang="en-US" sz="2100" dirty="0">
                <a:solidFill>
                  <a:schemeClr val="dk1"/>
                </a:solidFill>
              </a:rPr>
              <a:t> </a:t>
            </a:r>
            <a:r>
              <a:rPr lang="en-US" sz="2100" dirty="0" err="1">
                <a:solidFill>
                  <a:schemeClr val="dk1"/>
                </a:solidFill>
              </a:rPr>
              <a:t>costos</a:t>
            </a:r>
            <a:r>
              <a:rPr lang="en-US" sz="2100" dirty="0">
                <a:solidFill>
                  <a:schemeClr val="dk1"/>
                </a:solidFill>
              </a:rPr>
              <a:t> </a:t>
            </a:r>
            <a:r>
              <a:rPr lang="en-US" sz="2100" dirty="0" err="1">
                <a:solidFill>
                  <a:schemeClr val="dk1"/>
                </a:solidFill>
              </a:rPr>
              <a:t>operativos</a:t>
            </a:r>
            <a:r>
              <a:rPr lang="en-US" sz="2100" dirty="0">
                <a:solidFill>
                  <a:schemeClr val="dk1"/>
                </a:solidFill>
              </a:rPr>
              <a:t>.</a:t>
            </a:r>
            <a:endParaRPr sz="21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100" dirty="0">
                <a:solidFill>
                  <a:schemeClr val="dk1"/>
                </a:solidFill>
              </a:rPr>
              <a:t>A </a:t>
            </a:r>
            <a:r>
              <a:rPr lang="en-US" sz="2100" dirty="0" err="1">
                <a:solidFill>
                  <a:schemeClr val="dk1"/>
                </a:solidFill>
              </a:rPr>
              <a:t>continuación</a:t>
            </a:r>
            <a:r>
              <a:rPr lang="en-US" sz="2100" dirty="0">
                <a:solidFill>
                  <a:schemeClr val="dk1"/>
                </a:solidFill>
              </a:rPr>
              <a:t> </a:t>
            </a:r>
            <a:r>
              <a:rPr lang="en-US" sz="2100" dirty="0" err="1">
                <a:solidFill>
                  <a:schemeClr val="dk1"/>
                </a:solidFill>
              </a:rPr>
              <a:t>podemos</a:t>
            </a:r>
            <a:r>
              <a:rPr lang="en-US" sz="2100" dirty="0">
                <a:solidFill>
                  <a:schemeClr val="dk1"/>
                </a:solidFill>
              </a:rPr>
              <a:t> </a:t>
            </a:r>
            <a:r>
              <a:rPr lang="en-US" sz="2100" dirty="0" err="1">
                <a:solidFill>
                  <a:schemeClr val="dk1"/>
                </a:solidFill>
              </a:rPr>
              <a:t>ver</a:t>
            </a:r>
            <a:r>
              <a:rPr lang="en-US" sz="2100" dirty="0">
                <a:solidFill>
                  <a:schemeClr val="dk1"/>
                </a:solidFill>
              </a:rPr>
              <a:t> </a:t>
            </a:r>
            <a:r>
              <a:rPr lang="en-US" sz="2100" dirty="0" err="1">
                <a:solidFill>
                  <a:schemeClr val="dk1"/>
                </a:solidFill>
              </a:rPr>
              <a:t>algunos</a:t>
            </a:r>
            <a:r>
              <a:rPr lang="en-US" sz="2100" dirty="0">
                <a:solidFill>
                  <a:schemeClr val="dk1"/>
                </a:solidFill>
              </a:rPr>
              <a:t> </a:t>
            </a:r>
            <a:r>
              <a:rPr lang="en-US" sz="2100" dirty="0" err="1">
                <a:solidFill>
                  <a:schemeClr val="dk1"/>
                </a:solidFill>
              </a:rPr>
              <a:t>ejemplos</a:t>
            </a:r>
            <a:r>
              <a:rPr lang="en-US" sz="2100" dirty="0">
                <a:solidFill>
                  <a:schemeClr val="dk1"/>
                </a:solidFill>
              </a:rPr>
              <a:t> </a:t>
            </a:r>
            <a:r>
              <a:rPr lang="en-US" sz="2100" dirty="0" err="1">
                <a:solidFill>
                  <a:schemeClr val="dk1"/>
                </a:solidFill>
              </a:rPr>
              <a:t>concretos</a:t>
            </a:r>
            <a:r>
              <a:rPr lang="en-US" sz="2100" dirty="0">
                <a:solidFill>
                  <a:schemeClr val="dk1"/>
                </a:solidFill>
              </a:rPr>
              <a:t> de </a:t>
            </a:r>
            <a:r>
              <a:rPr lang="en-US" sz="2100" dirty="0" err="1">
                <a:solidFill>
                  <a:schemeClr val="dk1"/>
                </a:solidFill>
              </a:rPr>
              <a:t>cómo</a:t>
            </a:r>
            <a:r>
              <a:rPr lang="en-US" sz="2100" dirty="0">
                <a:solidFill>
                  <a:schemeClr val="dk1"/>
                </a:solidFill>
              </a:rPr>
              <a:t> </a:t>
            </a:r>
            <a:r>
              <a:rPr lang="en-US" sz="2100" dirty="0" err="1">
                <a:solidFill>
                  <a:schemeClr val="dk1"/>
                </a:solidFill>
              </a:rPr>
              <a:t>esta</a:t>
            </a:r>
            <a:r>
              <a:rPr lang="en-US" sz="2100" dirty="0">
                <a:solidFill>
                  <a:schemeClr val="dk1"/>
                </a:solidFill>
              </a:rPr>
              <a:t> </a:t>
            </a:r>
            <a:r>
              <a:rPr lang="en-US" sz="2100" dirty="0" err="1">
                <a:solidFill>
                  <a:schemeClr val="dk1"/>
                </a:solidFill>
              </a:rPr>
              <a:t>interconexión</a:t>
            </a:r>
            <a:r>
              <a:rPr lang="en-US" sz="2100" dirty="0">
                <a:solidFill>
                  <a:schemeClr val="dk1"/>
                </a:solidFill>
              </a:rPr>
              <a:t> ha </a:t>
            </a:r>
            <a:r>
              <a:rPr lang="en-US" sz="2100" dirty="0" err="1">
                <a:solidFill>
                  <a:schemeClr val="dk1"/>
                </a:solidFill>
              </a:rPr>
              <a:t>tenido</a:t>
            </a:r>
            <a:r>
              <a:rPr lang="en-US" sz="2100" dirty="0">
                <a:solidFill>
                  <a:schemeClr val="dk1"/>
                </a:solidFill>
              </a:rPr>
              <a:t> un </a:t>
            </a:r>
            <a:r>
              <a:rPr lang="en-US" sz="2100" dirty="0" err="1">
                <a:solidFill>
                  <a:schemeClr val="dk1"/>
                </a:solidFill>
              </a:rPr>
              <a:t>impacto</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su</a:t>
            </a:r>
            <a:r>
              <a:rPr lang="en-US" sz="2100" dirty="0">
                <a:solidFill>
                  <a:schemeClr val="dk1"/>
                </a:solidFill>
              </a:rPr>
              <a:t> </a:t>
            </a:r>
            <a:r>
              <a:rPr lang="en-US" sz="2100" dirty="0" err="1">
                <a:solidFill>
                  <a:schemeClr val="dk1"/>
                </a:solidFill>
              </a:rPr>
              <a:t>eficiencia</a:t>
            </a:r>
            <a:r>
              <a:rPr lang="en-US" sz="2100" dirty="0">
                <a:solidFill>
                  <a:schemeClr val="dk1"/>
                </a:solidFill>
              </a:rPr>
              <a:t> y </a:t>
            </a:r>
            <a:r>
              <a:rPr lang="en-US" sz="2100" dirty="0" err="1">
                <a:solidFill>
                  <a:schemeClr val="dk1"/>
                </a:solidFill>
              </a:rPr>
              <a:t>flexibilidad</a:t>
            </a:r>
            <a:r>
              <a:rPr lang="en-US" sz="2100" dirty="0">
                <a:solidFill>
                  <a:schemeClr val="dk1"/>
                </a:solidFill>
              </a:rPr>
              <a:t>.</a:t>
            </a:r>
            <a:endParaRPr sz="21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100" dirty="0"/>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dirty="0">
              <a:solidFill>
                <a:srgbClr val="000000"/>
              </a:solidFill>
              <a:latin typeface="Arial"/>
              <a:ea typeface="Arial"/>
              <a:cs typeface="Arial"/>
              <a:sym typeface="Arial"/>
            </a:endParaRPr>
          </a:p>
        </p:txBody>
      </p:sp>
      <p:pic>
        <p:nvPicPr>
          <p:cNvPr id="171" name="Google Shape;171;g308c30d8e00_0_4"/>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84" name="Google Shape;184;g308c30d8e00_0_2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185" name="Google Shape;185;g308c30d8e00_0_2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Internet de las Cosas (IoT) en la Fábrica Inteligente</a:t>
            </a:r>
            <a:endParaRPr sz="2700" b="1" i="0" u="none" strike="noStrike" cap="none">
              <a:solidFill>
                <a:srgbClr val="F46524"/>
              </a:solidFill>
              <a:latin typeface="Raleway"/>
              <a:ea typeface="Raleway"/>
              <a:cs typeface="Raleway"/>
              <a:sym typeface="Raleway"/>
            </a:endParaRPr>
          </a:p>
        </p:txBody>
      </p:sp>
      <p:sp>
        <p:nvSpPr>
          <p:cNvPr id="186" name="Google Shape;186;g308c30d8e00_0_20"/>
          <p:cNvSpPr txBox="1"/>
          <p:nvPr/>
        </p:nvSpPr>
        <p:spPr>
          <a:xfrm>
            <a:off x="3219000" y="191372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dirty="0">
                <a:solidFill>
                  <a:schemeClr val="dk1"/>
                </a:solidFill>
              </a:rPr>
              <a:t>En </a:t>
            </a:r>
            <a:r>
              <a:rPr lang="en-US" sz="2300" dirty="0" err="1">
                <a:solidFill>
                  <a:schemeClr val="dk1"/>
                </a:solidFill>
              </a:rPr>
              <a:t>su</a:t>
            </a:r>
            <a:r>
              <a:rPr lang="en-US" sz="2300" dirty="0">
                <a:solidFill>
                  <a:schemeClr val="dk1"/>
                </a:solidFill>
              </a:rPr>
              <a:t> planta de Amberg, Siemens </a:t>
            </a:r>
            <a:r>
              <a:rPr lang="en-US" sz="2300" dirty="0" err="1">
                <a:solidFill>
                  <a:schemeClr val="dk1"/>
                </a:solidFill>
              </a:rPr>
              <a:t>utiliza</a:t>
            </a:r>
            <a:r>
              <a:rPr lang="en-US" sz="2300" dirty="0">
                <a:solidFill>
                  <a:schemeClr val="dk1"/>
                </a:solidFill>
              </a:rPr>
              <a:t> miles de </a:t>
            </a:r>
            <a:r>
              <a:rPr lang="en-US" sz="2300" dirty="0" err="1">
                <a:solidFill>
                  <a:schemeClr val="dk1"/>
                </a:solidFill>
              </a:rPr>
              <a:t>sensores</a:t>
            </a:r>
            <a:r>
              <a:rPr lang="en-US" sz="2300" dirty="0">
                <a:solidFill>
                  <a:schemeClr val="dk1"/>
                </a:solidFill>
              </a:rPr>
              <a:t> </a:t>
            </a:r>
            <a:r>
              <a:rPr lang="en-US" sz="2300" dirty="0" err="1">
                <a:solidFill>
                  <a:schemeClr val="dk1"/>
                </a:solidFill>
              </a:rPr>
              <a:t>conectados</a:t>
            </a:r>
            <a:r>
              <a:rPr lang="en-US" sz="2300" dirty="0">
                <a:solidFill>
                  <a:schemeClr val="dk1"/>
                </a:solidFill>
              </a:rPr>
              <a:t> a </a:t>
            </a:r>
            <a:r>
              <a:rPr lang="en-US" sz="2300" dirty="0" err="1">
                <a:solidFill>
                  <a:schemeClr val="dk1"/>
                </a:solidFill>
              </a:rPr>
              <a:t>través</a:t>
            </a:r>
            <a:r>
              <a:rPr lang="en-US" sz="2300" dirty="0">
                <a:solidFill>
                  <a:schemeClr val="dk1"/>
                </a:solidFill>
              </a:rPr>
              <a:t> de IoT para </a:t>
            </a:r>
            <a:r>
              <a:rPr lang="en-US" sz="2300" dirty="0" err="1">
                <a:solidFill>
                  <a:schemeClr val="dk1"/>
                </a:solidFill>
              </a:rPr>
              <a:t>monitorear</a:t>
            </a:r>
            <a:r>
              <a:rPr lang="en-US" sz="2300" dirty="0">
                <a:solidFill>
                  <a:schemeClr val="dk1"/>
                </a:solidFill>
              </a:rPr>
              <a:t> </a:t>
            </a:r>
            <a:r>
              <a:rPr lang="en-US" sz="2300" dirty="0" err="1">
                <a:solidFill>
                  <a:schemeClr val="dk1"/>
                </a:solidFill>
              </a:rPr>
              <a:t>todos</a:t>
            </a:r>
            <a:r>
              <a:rPr lang="en-US" sz="2300" dirty="0">
                <a:solidFill>
                  <a:schemeClr val="dk1"/>
                </a:solidFill>
              </a:rPr>
              <a:t> </a:t>
            </a:r>
            <a:r>
              <a:rPr lang="en-US" sz="2300" dirty="0" err="1">
                <a:solidFill>
                  <a:schemeClr val="dk1"/>
                </a:solidFill>
              </a:rPr>
              <a:t>los</a:t>
            </a:r>
            <a:r>
              <a:rPr lang="en-US" sz="2300" dirty="0">
                <a:solidFill>
                  <a:schemeClr val="dk1"/>
                </a:solidFill>
              </a:rPr>
              <a:t> </a:t>
            </a:r>
            <a:r>
              <a:rPr lang="en-US" sz="2300" dirty="0" err="1">
                <a:solidFill>
                  <a:schemeClr val="dk1"/>
                </a:solidFill>
              </a:rPr>
              <a:t>aspectos</a:t>
            </a:r>
            <a:r>
              <a:rPr lang="en-US" sz="2300" dirty="0">
                <a:solidFill>
                  <a:schemeClr val="dk1"/>
                </a:solidFill>
              </a:rPr>
              <a:t> de la </a:t>
            </a:r>
            <a:r>
              <a:rPr lang="en-US" sz="2300" dirty="0" err="1">
                <a:solidFill>
                  <a:schemeClr val="dk1"/>
                </a:solidFill>
              </a:rPr>
              <a:t>producción</a:t>
            </a:r>
            <a:r>
              <a:rPr lang="en-US" sz="2300" dirty="0">
                <a:solidFill>
                  <a:schemeClr val="dk1"/>
                </a:solidFill>
              </a:rPr>
              <a:t> </a:t>
            </a:r>
            <a:r>
              <a:rPr lang="en-US" sz="2300" dirty="0" err="1">
                <a:solidFill>
                  <a:schemeClr val="dk1"/>
                </a:solidFill>
              </a:rPr>
              <a:t>en</a:t>
            </a:r>
            <a:r>
              <a:rPr lang="en-US" sz="2300" dirty="0">
                <a:solidFill>
                  <a:schemeClr val="dk1"/>
                </a:solidFill>
              </a:rPr>
              <a:t> </a:t>
            </a:r>
            <a:r>
              <a:rPr lang="en-US" sz="2300" dirty="0" err="1">
                <a:solidFill>
                  <a:schemeClr val="dk1"/>
                </a:solidFill>
              </a:rPr>
              <a:t>tiempo</a:t>
            </a:r>
            <a:r>
              <a:rPr lang="en-US" sz="2300" dirty="0">
                <a:solidFill>
                  <a:schemeClr val="dk1"/>
                </a:solidFill>
              </a:rPr>
              <a:t> real. </a:t>
            </a:r>
            <a:r>
              <a:rPr lang="en-US" sz="2300" dirty="0" err="1">
                <a:solidFill>
                  <a:schemeClr val="dk1"/>
                </a:solidFill>
              </a:rPr>
              <a:t>Estos</a:t>
            </a:r>
            <a:r>
              <a:rPr lang="en-US" sz="2300" dirty="0">
                <a:solidFill>
                  <a:schemeClr val="dk1"/>
                </a:solidFill>
              </a:rPr>
              <a:t> </a:t>
            </a:r>
            <a:r>
              <a:rPr lang="en-US" sz="2300" dirty="0" err="1">
                <a:solidFill>
                  <a:schemeClr val="dk1"/>
                </a:solidFill>
              </a:rPr>
              <a:t>sensores</a:t>
            </a:r>
            <a:r>
              <a:rPr lang="en-US" sz="2300" dirty="0">
                <a:solidFill>
                  <a:schemeClr val="dk1"/>
                </a:solidFill>
              </a:rPr>
              <a:t> </a:t>
            </a:r>
            <a:r>
              <a:rPr lang="en-US" sz="2300" dirty="0" err="1">
                <a:solidFill>
                  <a:schemeClr val="dk1"/>
                </a:solidFill>
              </a:rPr>
              <a:t>recogen</a:t>
            </a:r>
            <a:r>
              <a:rPr lang="en-US" sz="2300" dirty="0">
                <a:solidFill>
                  <a:schemeClr val="dk1"/>
                </a:solidFill>
              </a:rPr>
              <a:t> </a:t>
            </a:r>
            <a:r>
              <a:rPr lang="en-US" sz="2300" dirty="0" err="1">
                <a:solidFill>
                  <a:schemeClr val="dk1"/>
                </a:solidFill>
              </a:rPr>
              <a:t>datos</a:t>
            </a:r>
            <a:r>
              <a:rPr lang="en-US" sz="2300" dirty="0">
                <a:solidFill>
                  <a:schemeClr val="dk1"/>
                </a:solidFill>
              </a:rPr>
              <a:t> de las </a:t>
            </a:r>
            <a:r>
              <a:rPr lang="en-US" sz="2300" dirty="0" err="1">
                <a:solidFill>
                  <a:schemeClr val="dk1"/>
                </a:solidFill>
              </a:rPr>
              <a:t>máquinas</a:t>
            </a:r>
            <a:r>
              <a:rPr lang="en-US" sz="2300" dirty="0">
                <a:solidFill>
                  <a:schemeClr val="dk1"/>
                </a:solidFill>
              </a:rPr>
              <a:t>, </a:t>
            </a:r>
            <a:r>
              <a:rPr lang="en-US" sz="2300" dirty="0" err="1">
                <a:solidFill>
                  <a:schemeClr val="dk1"/>
                </a:solidFill>
              </a:rPr>
              <a:t>equipos</a:t>
            </a:r>
            <a:r>
              <a:rPr lang="en-US" sz="2300" dirty="0">
                <a:solidFill>
                  <a:schemeClr val="dk1"/>
                </a:solidFill>
              </a:rPr>
              <a:t> y </a:t>
            </a:r>
            <a:r>
              <a:rPr lang="en-US" sz="2300" dirty="0" err="1">
                <a:solidFill>
                  <a:schemeClr val="dk1"/>
                </a:solidFill>
              </a:rPr>
              <a:t>productos</a:t>
            </a:r>
            <a:r>
              <a:rPr lang="en-US" sz="2300" dirty="0">
                <a:solidFill>
                  <a:schemeClr val="dk1"/>
                </a:solidFill>
              </a:rPr>
              <a:t> </a:t>
            </a:r>
            <a:r>
              <a:rPr lang="en-US" sz="2300" dirty="0" err="1">
                <a:solidFill>
                  <a:schemeClr val="dk1"/>
                </a:solidFill>
              </a:rPr>
              <a:t>durante</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proceso</a:t>
            </a:r>
            <a:r>
              <a:rPr lang="en-US" sz="2300" dirty="0">
                <a:solidFill>
                  <a:schemeClr val="dk1"/>
                </a:solidFill>
              </a:rPr>
              <a:t> de </a:t>
            </a:r>
            <a:r>
              <a:rPr lang="en-US" sz="2300" dirty="0" err="1">
                <a:solidFill>
                  <a:schemeClr val="dk1"/>
                </a:solidFill>
              </a:rPr>
              <a:t>fabricación</a:t>
            </a:r>
            <a:r>
              <a:rPr lang="en-US" sz="2300" dirty="0">
                <a:solidFill>
                  <a:schemeClr val="dk1"/>
                </a:solidFill>
              </a:rPr>
              <a:t>, </a:t>
            </a:r>
            <a:r>
              <a:rPr lang="en-US" sz="2300" dirty="0" err="1">
                <a:solidFill>
                  <a:schemeClr val="dk1"/>
                </a:solidFill>
              </a:rPr>
              <a:t>proporcionando</a:t>
            </a:r>
            <a:r>
              <a:rPr lang="en-US" sz="2300" dirty="0">
                <a:solidFill>
                  <a:schemeClr val="dk1"/>
                </a:solidFill>
              </a:rPr>
              <a:t> </a:t>
            </a:r>
            <a:r>
              <a:rPr lang="en-US" sz="2300" dirty="0" err="1">
                <a:solidFill>
                  <a:schemeClr val="dk1"/>
                </a:solidFill>
              </a:rPr>
              <a:t>información</a:t>
            </a:r>
            <a:r>
              <a:rPr lang="en-US" sz="2300" dirty="0">
                <a:solidFill>
                  <a:schemeClr val="dk1"/>
                </a:solidFill>
              </a:rPr>
              <a:t> clave </a:t>
            </a:r>
            <a:r>
              <a:rPr lang="en-US" sz="2300" dirty="0" err="1">
                <a:solidFill>
                  <a:schemeClr val="dk1"/>
                </a:solidFill>
              </a:rPr>
              <a:t>sobre</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rendimiento</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estado</a:t>
            </a:r>
            <a:r>
              <a:rPr lang="en-US" sz="2300" dirty="0">
                <a:solidFill>
                  <a:schemeClr val="dk1"/>
                </a:solidFill>
              </a:rPr>
              <a:t> de las </a:t>
            </a:r>
            <a:r>
              <a:rPr lang="en-US" sz="2300" dirty="0" err="1">
                <a:solidFill>
                  <a:schemeClr val="dk1"/>
                </a:solidFill>
              </a:rPr>
              <a:t>máquinas</a:t>
            </a:r>
            <a:r>
              <a:rPr lang="en-US" sz="2300" dirty="0">
                <a:solidFill>
                  <a:schemeClr val="dk1"/>
                </a:solidFill>
              </a:rPr>
              <a:t> y la </a:t>
            </a:r>
            <a:r>
              <a:rPr lang="en-US" sz="2300" dirty="0" err="1">
                <a:solidFill>
                  <a:schemeClr val="dk1"/>
                </a:solidFill>
              </a:rPr>
              <a:t>calidad</a:t>
            </a:r>
            <a:r>
              <a:rPr lang="en-US" sz="2300" dirty="0">
                <a:solidFill>
                  <a:schemeClr val="dk1"/>
                </a:solidFill>
              </a:rPr>
              <a:t> del </a:t>
            </a:r>
            <a:r>
              <a:rPr lang="en-US" sz="2300" dirty="0" err="1">
                <a:solidFill>
                  <a:schemeClr val="dk1"/>
                </a:solidFill>
              </a:rPr>
              <a:t>producto</a:t>
            </a:r>
            <a:r>
              <a:rPr lang="en-US" sz="2300" dirty="0">
                <a:solidFill>
                  <a:schemeClr val="dk1"/>
                </a:solidFill>
              </a:rPr>
              <a:t>.</a:t>
            </a: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300" b="1" dirty="0" err="1">
                <a:solidFill>
                  <a:schemeClr val="dk1"/>
                </a:solidFill>
              </a:rPr>
              <a:t>Ejemplo</a:t>
            </a:r>
            <a:r>
              <a:rPr lang="en-US" sz="2300" b="1" dirty="0">
                <a:solidFill>
                  <a:schemeClr val="dk1"/>
                </a:solidFill>
              </a:rPr>
              <a:t> de </a:t>
            </a:r>
            <a:r>
              <a:rPr lang="en-US" sz="2300" b="1" dirty="0" err="1">
                <a:solidFill>
                  <a:schemeClr val="dk1"/>
                </a:solidFill>
              </a:rPr>
              <a:t>Eficiencia</a:t>
            </a:r>
            <a:r>
              <a:rPr lang="en-US" sz="2300" b="1" dirty="0">
                <a:solidFill>
                  <a:schemeClr val="dk1"/>
                </a:solidFill>
              </a:rPr>
              <a:t>:</a:t>
            </a:r>
            <a:endParaRPr sz="2300" b="1" dirty="0">
              <a:solidFill>
                <a:schemeClr val="dk1"/>
              </a:solidFill>
            </a:endParaRPr>
          </a:p>
          <a:p>
            <a:pPr marL="457200" lvl="0" indent="-374650" algn="l" rtl="0">
              <a:lnSpc>
                <a:spcPct val="115000"/>
              </a:lnSpc>
              <a:spcBef>
                <a:spcPts val="1200"/>
              </a:spcBef>
              <a:spcAft>
                <a:spcPts val="0"/>
              </a:spcAft>
              <a:buClr>
                <a:schemeClr val="dk1"/>
              </a:buClr>
              <a:buSzPts val="2300"/>
              <a:buChar char="●"/>
            </a:pPr>
            <a:r>
              <a:rPr lang="en-US" sz="2300" dirty="0">
                <a:solidFill>
                  <a:schemeClr val="dk1"/>
                </a:solidFill>
              </a:rPr>
              <a:t>Los </a:t>
            </a:r>
            <a:r>
              <a:rPr lang="en-US" sz="2300" dirty="0" err="1">
                <a:solidFill>
                  <a:schemeClr val="dk1"/>
                </a:solidFill>
              </a:rPr>
              <a:t>sensores</a:t>
            </a:r>
            <a:r>
              <a:rPr lang="en-US" sz="2300" dirty="0">
                <a:solidFill>
                  <a:schemeClr val="dk1"/>
                </a:solidFill>
              </a:rPr>
              <a:t> </a:t>
            </a:r>
            <a:r>
              <a:rPr lang="en-US" sz="2300" dirty="0" err="1">
                <a:solidFill>
                  <a:schemeClr val="dk1"/>
                </a:solidFill>
              </a:rPr>
              <a:t>detectan</a:t>
            </a:r>
            <a:r>
              <a:rPr lang="en-US" sz="2300" dirty="0">
                <a:solidFill>
                  <a:schemeClr val="dk1"/>
                </a:solidFill>
              </a:rPr>
              <a:t> </a:t>
            </a:r>
            <a:r>
              <a:rPr lang="en-US" sz="2300" dirty="0" err="1">
                <a:solidFill>
                  <a:schemeClr val="dk1"/>
                </a:solidFill>
              </a:rPr>
              <a:t>cualquier</a:t>
            </a:r>
            <a:r>
              <a:rPr lang="en-US" sz="2300" dirty="0">
                <a:solidFill>
                  <a:schemeClr val="dk1"/>
                </a:solidFill>
              </a:rPr>
              <a:t> </a:t>
            </a:r>
            <a:r>
              <a:rPr lang="en-US" sz="2300" dirty="0" err="1">
                <a:solidFill>
                  <a:schemeClr val="dk1"/>
                </a:solidFill>
              </a:rPr>
              <a:t>desviación</a:t>
            </a:r>
            <a:r>
              <a:rPr lang="en-US" sz="2300" dirty="0">
                <a:solidFill>
                  <a:schemeClr val="dk1"/>
                </a:solidFill>
              </a:rPr>
              <a:t> o </a:t>
            </a:r>
            <a:r>
              <a:rPr lang="en-US" sz="2300" dirty="0" err="1">
                <a:solidFill>
                  <a:schemeClr val="dk1"/>
                </a:solidFill>
              </a:rPr>
              <a:t>anomalía</a:t>
            </a:r>
            <a:r>
              <a:rPr lang="en-US" sz="2300" dirty="0">
                <a:solidFill>
                  <a:schemeClr val="dk1"/>
                </a:solidFill>
              </a:rPr>
              <a:t> </a:t>
            </a:r>
            <a:r>
              <a:rPr lang="en-US" sz="2300" dirty="0" err="1">
                <a:solidFill>
                  <a:schemeClr val="dk1"/>
                </a:solidFill>
              </a:rPr>
              <a:t>en</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funcionamiento</a:t>
            </a:r>
            <a:r>
              <a:rPr lang="en-US" sz="2300" dirty="0">
                <a:solidFill>
                  <a:schemeClr val="dk1"/>
                </a:solidFill>
              </a:rPr>
              <a:t> de </a:t>
            </a:r>
            <a:r>
              <a:rPr lang="en-US" sz="2300" dirty="0" err="1">
                <a:solidFill>
                  <a:schemeClr val="dk1"/>
                </a:solidFill>
              </a:rPr>
              <a:t>una</a:t>
            </a:r>
            <a:r>
              <a:rPr lang="en-US" sz="2300" dirty="0">
                <a:solidFill>
                  <a:schemeClr val="dk1"/>
                </a:solidFill>
              </a:rPr>
              <a:t> </a:t>
            </a:r>
            <a:r>
              <a:rPr lang="en-US" sz="2300" dirty="0" err="1">
                <a:solidFill>
                  <a:schemeClr val="dk1"/>
                </a:solidFill>
              </a:rPr>
              <a:t>máquina</a:t>
            </a:r>
            <a:r>
              <a:rPr lang="en-US" sz="2300" dirty="0">
                <a:solidFill>
                  <a:schemeClr val="dk1"/>
                </a:solidFill>
              </a:rPr>
              <a:t> antes de que </a:t>
            </a:r>
            <a:r>
              <a:rPr lang="en-US" sz="2300" dirty="0" err="1">
                <a:solidFill>
                  <a:schemeClr val="dk1"/>
                </a:solidFill>
              </a:rPr>
              <a:t>ocurra</a:t>
            </a:r>
            <a:r>
              <a:rPr lang="en-US" sz="2300" dirty="0">
                <a:solidFill>
                  <a:schemeClr val="dk1"/>
                </a:solidFill>
              </a:rPr>
              <a:t> </a:t>
            </a:r>
            <a:r>
              <a:rPr lang="en-US" sz="2300" dirty="0" err="1">
                <a:solidFill>
                  <a:schemeClr val="dk1"/>
                </a:solidFill>
              </a:rPr>
              <a:t>una</a:t>
            </a:r>
            <a:r>
              <a:rPr lang="en-US" sz="2300" dirty="0">
                <a:solidFill>
                  <a:schemeClr val="dk1"/>
                </a:solidFill>
              </a:rPr>
              <a:t> </a:t>
            </a:r>
            <a:r>
              <a:rPr lang="en-US" sz="2300" dirty="0" err="1">
                <a:solidFill>
                  <a:schemeClr val="dk1"/>
                </a:solidFill>
              </a:rPr>
              <a:t>avería</a:t>
            </a:r>
            <a:r>
              <a:rPr lang="en-US" sz="2300" dirty="0">
                <a:solidFill>
                  <a:schemeClr val="dk1"/>
                </a:solidFill>
              </a:rPr>
              <a:t>. Esto </a:t>
            </a:r>
            <a:r>
              <a:rPr lang="en-US" sz="2300" dirty="0" err="1">
                <a:solidFill>
                  <a:schemeClr val="dk1"/>
                </a:solidFill>
              </a:rPr>
              <a:t>permite</a:t>
            </a:r>
            <a:r>
              <a:rPr lang="en-US" sz="2300" dirty="0">
                <a:solidFill>
                  <a:schemeClr val="dk1"/>
                </a:solidFill>
              </a:rPr>
              <a:t> que se </a:t>
            </a:r>
            <a:r>
              <a:rPr lang="en-US" sz="2300" dirty="0" err="1">
                <a:solidFill>
                  <a:schemeClr val="dk1"/>
                </a:solidFill>
              </a:rPr>
              <a:t>realicen</a:t>
            </a:r>
            <a:r>
              <a:rPr lang="en-US" sz="2300" dirty="0">
                <a:solidFill>
                  <a:schemeClr val="dk1"/>
                </a:solidFill>
              </a:rPr>
              <a:t> </a:t>
            </a:r>
            <a:r>
              <a:rPr lang="en-US" sz="2300" b="1" dirty="0" err="1">
                <a:solidFill>
                  <a:schemeClr val="dk1"/>
                </a:solidFill>
              </a:rPr>
              <a:t>mantenimientos</a:t>
            </a:r>
            <a:r>
              <a:rPr lang="en-US" sz="2300" b="1" dirty="0">
                <a:solidFill>
                  <a:schemeClr val="dk1"/>
                </a:solidFill>
              </a:rPr>
              <a:t> </a:t>
            </a:r>
            <a:r>
              <a:rPr lang="en-US" sz="2300" b="1" dirty="0" err="1">
                <a:solidFill>
                  <a:schemeClr val="dk1"/>
                </a:solidFill>
              </a:rPr>
              <a:t>predictivos</a:t>
            </a:r>
            <a:r>
              <a:rPr lang="en-US" sz="2300" dirty="0">
                <a:solidFill>
                  <a:schemeClr val="dk1"/>
                </a:solidFill>
              </a:rPr>
              <a:t>, es </a:t>
            </a:r>
            <a:r>
              <a:rPr lang="en-US" sz="2300" dirty="0" err="1">
                <a:solidFill>
                  <a:schemeClr val="dk1"/>
                </a:solidFill>
              </a:rPr>
              <a:t>decir</a:t>
            </a:r>
            <a:r>
              <a:rPr lang="en-US" sz="2300" dirty="0">
                <a:solidFill>
                  <a:schemeClr val="dk1"/>
                </a:solidFill>
              </a:rPr>
              <a:t>, </a:t>
            </a:r>
            <a:r>
              <a:rPr lang="en-US" sz="2300" dirty="0" err="1">
                <a:solidFill>
                  <a:schemeClr val="dk1"/>
                </a:solidFill>
              </a:rPr>
              <a:t>reparaciones</a:t>
            </a:r>
            <a:r>
              <a:rPr lang="en-US" sz="2300" dirty="0">
                <a:solidFill>
                  <a:schemeClr val="dk1"/>
                </a:solidFill>
              </a:rPr>
              <a:t> antes de que </a:t>
            </a:r>
            <a:r>
              <a:rPr lang="en-US" sz="2300" dirty="0" err="1">
                <a:solidFill>
                  <a:schemeClr val="dk1"/>
                </a:solidFill>
              </a:rPr>
              <a:t>una</a:t>
            </a:r>
            <a:r>
              <a:rPr lang="en-US" sz="2300" dirty="0">
                <a:solidFill>
                  <a:schemeClr val="dk1"/>
                </a:solidFill>
              </a:rPr>
              <a:t> </a:t>
            </a:r>
            <a:r>
              <a:rPr lang="en-US" sz="2300" dirty="0" err="1">
                <a:solidFill>
                  <a:schemeClr val="dk1"/>
                </a:solidFill>
              </a:rPr>
              <a:t>máquina</a:t>
            </a:r>
            <a:r>
              <a:rPr lang="en-US" sz="2300" dirty="0">
                <a:solidFill>
                  <a:schemeClr val="dk1"/>
                </a:solidFill>
              </a:rPr>
              <a:t> se </a:t>
            </a:r>
            <a:r>
              <a:rPr lang="en-US" sz="2300" dirty="0" err="1">
                <a:solidFill>
                  <a:schemeClr val="dk1"/>
                </a:solidFill>
              </a:rPr>
              <a:t>rompa</a:t>
            </a:r>
            <a:r>
              <a:rPr lang="en-US" sz="2300" dirty="0">
                <a:solidFill>
                  <a:schemeClr val="dk1"/>
                </a:solidFill>
              </a:rPr>
              <a:t>, </a:t>
            </a:r>
            <a:r>
              <a:rPr lang="en-US" sz="2300" dirty="0" err="1">
                <a:solidFill>
                  <a:schemeClr val="dk1"/>
                </a:solidFill>
              </a:rPr>
              <a:t>evitando</a:t>
            </a:r>
            <a:r>
              <a:rPr lang="en-US" sz="2300" dirty="0">
                <a:solidFill>
                  <a:schemeClr val="dk1"/>
                </a:solidFill>
              </a:rPr>
              <a:t> </a:t>
            </a:r>
            <a:r>
              <a:rPr lang="en-US" sz="2300" dirty="0" err="1">
                <a:solidFill>
                  <a:schemeClr val="dk1"/>
                </a:solidFill>
              </a:rPr>
              <a:t>costosos</a:t>
            </a:r>
            <a:r>
              <a:rPr lang="en-US" sz="2300" dirty="0">
                <a:solidFill>
                  <a:schemeClr val="dk1"/>
                </a:solidFill>
              </a:rPr>
              <a:t> </a:t>
            </a:r>
            <a:r>
              <a:rPr lang="en-US" sz="2300" dirty="0" err="1">
                <a:solidFill>
                  <a:schemeClr val="dk1"/>
                </a:solidFill>
              </a:rPr>
              <a:t>tiempos</a:t>
            </a:r>
            <a:r>
              <a:rPr lang="en-US" sz="2300" dirty="0">
                <a:solidFill>
                  <a:schemeClr val="dk1"/>
                </a:solidFill>
              </a:rPr>
              <a:t> de </a:t>
            </a:r>
            <a:r>
              <a:rPr lang="en-US" sz="2300" dirty="0" err="1">
                <a:solidFill>
                  <a:schemeClr val="dk1"/>
                </a:solidFill>
              </a:rPr>
              <a:t>inactividad</a:t>
            </a:r>
            <a:r>
              <a:rPr lang="en-US" sz="2300" dirty="0">
                <a:solidFill>
                  <a:schemeClr val="dk1"/>
                </a:solidFill>
              </a:rPr>
              <a:t> no </a:t>
            </a:r>
            <a:r>
              <a:rPr lang="en-US" sz="2300" dirty="0" err="1">
                <a:solidFill>
                  <a:schemeClr val="dk1"/>
                </a:solidFill>
              </a:rPr>
              <a:t>planificados</a:t>
            </a:r>
            <a:r>
              <a:rPr lang="en-US" sz="2300" dirty="0">
                <a:solidFill>
                  <a:schemeClr val="dk1"/>
                </a:solidFill>
              </a:rPr>
              <a:t>.</a:t>
            </a:r>
            <a:endParaRPr sz="2300" dirty="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dirty="0">
                <a:solidFill>
                  <a:schemeClr val="dk1"/>
                </a:solidFill>
              </a:rPr>
              <a:t>La </a:t>
            </a:r>
            <a:r>
              <a:rPr lang="en-US" sz="2300" dirty="0" err="1">
                <a:solidFill>
                  <a:schemeClr val="dk1"/>
                </a:solidFill>
              </a:rPr>
              <a:t>fábrica</a:t>
            </a:r>
            <a:r>
              <a:rPr lang="en-US" sz="2300" dirty="0">
                <a:solidFill>
                  <a:schemeClr val="dk1"/>
                </a:solidFill>
              </a:rPr>
              <a:t> </a:t>
            </a:r>
            <a:r>
              <a:rPr lang="en-US" sz="2300" dirty="0" err="1">
                <a:solidFill>
                  <a:schemeClr val="dk1"/>
                </a:solidFill>
              </a:rPr>
              <a:t>utiliza</a:t>
            </a:r>
            <a:r>
              <a:rPr lang="en-US" sz="2300" dirty="0">
                <a:solidFill>
                  <a:schemeClr val="dk1"/>
                </a:solidFill>
              </a:rPr>
              <a:t> </a:t>
            </a:r>
            <a:r>
              <a:rPr lang="en-US" sz="2300" dirty="0" err="1">
                <a:solidFill>
                  <a:schemeClr val="dk1"/>
                </a:solidFill>
              </a:rPr>
              <a:t>esta</a:t>
            </a:r>
            <a:r>
              <a:rPr lang="en-US" sz="2300" dirty="0">
                <a:solidFill>
                  <a:schemeClr val="dk1"/>
                </a:solidFill>
              </a:rPr>
              <a:t> </a:t>
            </a:r>
            <a:r>
              <a:rPr lang="en-US" sz="2300" dirty="0" err="1">
                <a:solidFill>
                  <a:schemeClr val="dk1"/>
                </a:solidFill>
              </a:rPr>
              <a:t>información</a:t>
            </a:r>
            <a:r>
              <a:rPr lang="en-US" sz="2300" dirty="0">
                <a:solidFill>
                  <a:schemeClr val="dk1"/>
                </a:solidFill>
              </a:rPr>
              <a:t> para </a:t>
            </a:r>
            <a:r>
              <a:rPr lang="en-US" sz="2300" dirty="0" err="1">
                <a:solidFill>
                  <a:schemeClr val="dk1"/>
                </a:solidFill>
              </a:rPr>
              <a:t>optimizar</a:t>
            </a:r>
            <a:r>
              <a:rPr lang="en-US" sz="2300" dirty="0">
                <a:solidFill>
                  <a:schemeClr val="dk1"/>
                </a:solidFill>
              </a:rPr>
              <a:t> </a:t>
            </a:r>
            <a:r>
              <a:rPr lang="en-US" sz="2300" dirty="0" err="1">
                <a:solidFill>
                  <a:schemeClr val="dk1"/>
                </a:solidFill>
              </a:rPr>
              <a:t>los</a:t>
            </a:r>
            <a:r>
              <a:rPr lang="en-US" sz="2300" dirty="0">
                <a:solidFill>
                  <a:schemeClr val="dk1"/>
                </a:solidFill>
              </a:rPr>
              <a:t> </a:t>
            </a:r>
            <a:r>
              <a:rPr lang="en-US" sz="2300" dirty="0" err="1">
                <a:solidFill>
                  <a:schemeClr val="dk1"/>
                </a:solidFill>
              </a:rPr>
              <a:t>procesos</a:t>
            </a:r>
            <a:r>
              <a:rPr lang="en-US" sz="2300" dirty="0">
                <a:solidFill>
                  <a:schemeClr val="dk1"/>
                </a:solidFill>
              </a:rPr>
              <a:t> </a:t>
            </a:r>
            <a:r>
              <a:rPr lang="en-US" sz="2300" dirty="0" err="1">
                <a:solidFill>
                  <a:schemeClr val="dk1"/>
                </a:solidFill>
              </a:rPr>
              <a:t>en</a:t>
            </a:r>
            <a:r>
              <a:rPr lang="en-US" sz="2300" dirty="0">
                <a:solidFill>
                  <a:schemeClr val="dk1"/>
                </a:solidFill>
              </a:rPr>
              <a:t> </a:t>
            </a:r>
            <a:r>
              <a:rPr lang="en-US" sz="2300" dirty="0" err="1">
                <a:solidFill>
                  <a:schemeClr val="dk1"/>
                </a:solidFill>
              </a:rPr>
              <a:t>tiempo</a:t>
            </a:r>
            <a:r>
              <a:rPr lang="en-US" sz="2300" dirty="0">
                <a:solidFill>
                  <a:schemeClr val="dk1"/>
                </a:solidFill>
              </a:rPr>
              <a:t> real, lo que ha </a:t>
            </a:r>
            <a:r>
              <a:rPr lang="en-US" sz="2300" dirty="0" err="1">
                <a:solidFill>
                  <a:schemeClr val="dk1"/>
                </a:solidFill>
              </a:rPr>
              <a:t>permitido</a:t>
            </a:r>
            <a:r>
              <a:rPr lang="en-US" sz="2300" dirty="0">
                <a:solidFill>
                  <a:schemeClr val="dk1"/>
                </a:solidFill>
              </a:rPr>
              <a:t> a Siemens </a:t>
            </a:r>
            <a:r>
              <a:rPr lang="en-US" sz="2300" dirty="0" err="1">
                <a:solidFill>
                  <a:schemeClr val="dk1"/>
                </a:solidFill>
              </a:rPr>
              <a:t>reducir</a:t>
            </a:r>
            <a:r>
              <a:rPr lang="en-US" sz="2300" dirty="0">
                <a:solidFill>
                  <a:schemeClr val="dk1"/>
                </a:solidFill>
              </a:rPr>
              <a:t> </a:t>
            </a:r>
            <a:r>
              <a:rPr lang="en-US" sz="2300" dirty="0" err="1">
                <a:solidFill>
                  <a:schemeClr val="dk1"/>
                </a:solidFill>
              </a:rPr>
              <a:t>los</a:t>
            </a:r>
            <a:r>
              <a:rPr lang="en-US" sz="2300" dirty="0">
                <a:solidFill>
                  <a:schemeClr val="dk1"/>
                </a:solidFill>
              </a:rPr>
              <a:t> </a:t>
            </a:r>
            <a:r>
              <a:rPr lang="en-US" sz="2300" b="1" dirty="0" err="1">
                <a:solidFill>
                  <a:schemeClr val="dk1"/>
                </a:solidFill>
              </a:rPr>
              <a:t>defectos</a:t>
            </a:r>
            <a:r>
              <a:rPr lang="en-US" sz="2300" b="1" dirty="0">
                <a:solidFill>
                  <a:schemeClr val="dk1"/>
                </a:solidFill>
              </a:rPr>
              <a:t> de </a:t>
            </a:r>
            <a:r>
              <a:rPr lang="en-US" sz="2300" b="1" dirty="0" err="1">
                <a:solidFill>
                  <a:schemeClr val="dk1"/>
                </a:solidFill>
              </a:rPr>
              <a:t>fabricación</a:t>
            </a:r>
            <a:r>
              <a:rPr lang="en-US" sz="2300" dirty="0">
                <a:solidFill>
                  <a:schemeClr val="dk1"/>
                </a:solidFill>
              </a:rPr>
              <a:t> al </a:t>
            </a:r>
            <a:r>
              <a:rPr lang="en-US" sz="2300" dirty="0" err="1">
                <a:solidFill>
                  <a:schemeClr val="dk1"/>
                </a:solidFill>
              </a:rPr>
              <a:t>mínimo</a:t>
            </a:r>
            <a:r>
              <a:rPr lang="en-US" sz="2300" dirty="0">
                <a:solidFill>
                  <a:schemeClr val="dk1"/>
                </a:solidFill>
              </a:rPr>
              <a:t>, </a:t>
            </a:r>
            <a:r>
              <a:rPr lang="en-US" sz="2300" dirty="0" err="1">
                <a:solidFill>
                  <a:schemeClr val="dk1"/>
                </a:solidFill>
              </a:rPr>
              <a:t>incrementando</a:t>
            </a:r>
            <a:r>
              <a:rPr lang="en-US" sz="2300" dirty="0">
                <a:solidFill>
                  <a:schemeClr val="dk1"/>
                </a:solidFill>
              </a:rPr>
              <a:t> la </a:t>
            </a:r>
            <a:r>
              <a:rPr lang="en-US" sz="2300" b="1" dirty="0" err="1">
                <a:solidFill>
                  <a:schemeClr val="dk1"/>
                </a:solidFill>
              </a:rPr>
              <a:t>eficiencia</a:t>
            </a:r>
            <a:r>
              <a:rPr lang="en-US" sz="2300" b="1" dirty="0">
                <a:solidFill>
                  <a:schemeClr val="dk1"/>
                </a:solidFill>
              </a:rPr>
              <a:t> </a:t>
            </a:r>
            <a:r>
              <a:rPr lang="en-US" sz="2300" b="1" dirty="0" err="1">
                <a:solidFill>
                  <a:schemeClr val="dk1"/>
                </a:solidFill>
              </a:rPr>
              <a:t>operativa</a:t>
            </a:r>
            <a:r>
              <a:rPr lang="en-US" sz="2300" dirty="0">
                <a:solidFill>
                  <a:schemeClr val="dk1"/>
                </a:solidFill>
              </a:rPr>
              <a:t> y </a:t>
            </a:r>
            <a:r>
              <a:rPr lang="en-US" sz="2300" dirty="0" err="1">
                <a:solidFill>
                  <a:schemeClr val="dk1"/>
                </a:solidFill>
              </a:rPr>
              <a:t>reduciendo</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desperdicio</a:t>
            </a:r>
            <a:r>
              <a:rPr lang="en-US" sz="2300" dirty="0">
                <a:solidFill>
                  <a:schemeClr val="dk1"/>
                </a:solidFill>
              </a:rPr>
              <a:t>.</a:t>
            </a:r>
            <a:endParaRPr sz="2300" dirty="0">
              <a:solidFill>
                <a:schemeClr val="dk1"/>
              </a:solidFil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p:txBody>
      </p:sp>
      <p:pic>
        <p:nvPicPr>
          <p:cNvPr id="187" name="Google Shape;187;g308c30d8e00_0_20"/>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00" name="Google Shape;200;g308c30d8e00_0_37"/>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01" name="Google Shape;201;g308c30d8e00_0_37"/>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Flexibilidad mediante Producción Personalizada</a:t>
            </a:r>
            <a:endParaRPr sz="2700" b="1" i="0" u="none" strike="noStrike" cap="none">
              <a:solidFill>
                <a:srgbClr val="F46524"/>
              </a:solidFill>
              <a:latin typeface="Raleway"/>
              <a:ea typeface="Raleway"/>
              <a:cs typeface="Raleway"/>
              <a:sym typeface="Raleway"/>
            </a:endParaRPr>
          </a:p>
        </p:txBody>
      </p:sp>
      <p:sp>
        <p:nvSpPr>
          <p:cNvPr id="202" name="Google Shape;202;g308c30d8e00_0_37"/>
          <p:cNvSpPr txBox="1"/>
          <p:nvPr/>
        </p:nvSpPr>
        <p:spPr>
          <a:xfrm>
            <a:off x="3219000" y="1699550"/>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100" dirty="0">
                <a:solidFill>
                  <a:schemeClr val="dk1"/>
                </a:solidFill>
              </a:rPr>
              <a:t>La planta de Siemens </a:t>
            </a:r>
            <a:r>
              <a:rPr lang="en-US" sz="2100" dirty="0" err="1">
                <a:solidFill>
                  <a:schemeClr val="dk1"/>
                </a:solidFill>
              </a:rPr>
              <a:t>en</a:t>
            </a:r>
            <a:r>
              <a:rPr lang="en-US" sz="2100" dirty="0">
                <a:solidFill>
                  <a:schemeClr val="dk1"/>
                </a:solidFill>
              </a:rPr>
              <a:t> Amberg es </a:t>
            </a:r>
            <a:r>
              <a:rPr lang="en-US" sz="2100" dirty="0" err="1">
                <a:solidFill>
                  <a:schemeClr val="dk1"/>
                </a:solidFill>
              </a:rPr>
              <a:t>capaz</a:t>
            </a:r>
            <a:r>
              <a:rPr lang="en-US" sz="2100" dirty="0">
                <a:solidFill>
                  <a:schemeClr val="dk1"/>
                </a:solidFill>
              </a:rPr>
              <a:t> de </a:t>
            </a:r>
            <a:r>
              <a:rPr lang="en-US" sz="2100" dirty="0" err="1">
                <a:solidFill>
                  <a:schemeClr val="dk1"/>
                </a:solidFill>
              </a:rPr>
              <a:t>producir</a:t>
            </a:r>
            <a:r>
              <a:rPr lang="en-US" sz="2100" dirty="0">
                <a:solidFill>
                  <a:schemeClr val="dk1"/>
                </a:solidFill>
              </a:rPr>
              <a:t> hasta </a:t>
            </a:r>
            <a:r>
              <a:rPr lang="en-US" sz="2100" b="1" dirty="0">
                <a:solidFill>
                  <a:schemeClr val="dk1"/>
                </a:solidFill>
              </a:rPr>
              <a:t>12 </a:t>
            </a:r>
            <a:r>
              <a:rPr lang="en-US" sz="2100" b="1" dirty="0" err="1">
                <a:solidFill>
                  <a:schemeClr val="dk1"/>
                </a:solidFill>
              </a:rPr>
              <a:t>millones</a:t>
            </a:r>
            <a:r>
              <a:rPr lang="en-US" sz="2100" b="1" dirty="0">
                <a:solidFill>
                  <a:schemeClr val="dk1"/>
                </a:solidFill>
              </a:rPr>
              <a:t> de </a:t>
            </a:r>
            <a:r>
              <a:rPr lang="en-US" sz="2100" b="1" dirty="0" err="1">
                <a:solidFill>
                  <a:schemeClr val="dk1"/>
                </a:solidFill>
              </a:rPr>
              <a:t>unidades</a:t>
            </a:r>
            <a:r>
              <a:rPr lang="en-US" sz="2100" b="1" dirty="0">
                <a:solidFill>
                  <a:schemeClr val="dk1"/>
                </a:solidFill>
              </a:rPr>
              <a:t> al </a:t>
            </a:r>
            <a:r>
              <a:rPr lang="en-US" sz="2100" b="1" dirty="0" err="1">
                <a:solidFill>
                  <a:schemeClr val="dk1"/>
                </a:solidFill>
              </a:rPr>
              <a:t>año</a:t>
            </a:r>
            <a:r>
              <a:rPr lang="en-US" sz="2100" dirty="0">
                <a:solidFill>
                  <a:schemeClr val="dk1"/>
                </a:solidFill>
              </a:rPr>
              <a:t>, y lo </a:t>
            </a:r>
            <a:r>
              <a:rPr lang="en-US" sz="2100" dirty="0" err="1">
                <a:solidFill>
                  <a:schemeClr val="dk1"/>
                </a:solidFill>
              </a:rPr>
              <a:t>hace</a:t>
            </a:r>
            <a:r>
              <a:rPr lang="en-US" sz="2100" dirty="0">
                <a:solidFill>
                  <a:schemeClr val="dk1"/>
                </a:solidFill>
              </a:rPr>
              <a:t> de </a:t>
            </a:r>
            <a:r>
              <a:rPr lang="en-US" sz="2100" dirty="0" err="1">
                <a:solidFill>
                  <a:schemeClr val="dk1"/>
                </a:solidFill>
              </a:rPr>
              <a:t>manera</a:t>
            </a:r>
            <a:r>
              <a:rPr lang="en-US" sz="2100" dirty="0">
                <a:solidFill>
                  <a:schemeClr val="dk1"/>
                </a:solidFill>
              </a:rPr>
              <a:t> flexible, </a:t>
            </a:r>
            <a:r>
              <a:rPr lang="en-US" sz="2100" dirty="0" err="1">
                <a:solidFill>
                  <a:schemeClr val="dk1"/>
                </a:solidFill>
              </a:rPr>
              <a:t>permitiendo</a:t>
            </a:r>
            <a:r>
              <a:rPr lang="en-US" sz="2100" dirty="0">
                <a:solidFill>
                  <a:schemeClr val="dk1"/>
                </a:solidFill>
              </a:rPr>
              <a:t> la </a:t>
            </a:r>
            <a:r>
              <a:rPr lang="en-US" sz="2100" b="1" dirty="0" err="1">
                <a:solidFill>
                  <a:schemeClr val="dk1"/>
                </a:solidFill>
              </a:rPr>
              <a:t>producción</a:t>
            </a:r>
            <a:r>
              <a:rPr lang="en-US" sz="2100" b="1" dirty="0">
                <a:solidFill>
                  <a:schemeClr val="dk1"/>
                </a:solidFill>
              </a:rPr>
              <a:t> de </a:t>
            </a:r>
            <a:r>
              <a:rPr lang="en-US" sz="2100" b="1" dirty="0" err="1">
                <a:solidFill>
                  <a:schemeClr val="dk1"/>
                </a:solidFill>
              </a:rPr>
              <a:t>productos</a:t>
            </a:r>
            <a:r>
              <a:rPr lang="en-US" sz="2100" b="1" dirty="0">
                <a:solidFill>
                  <a:schemeClr val="dk1"/>
                </a:solidFill>
              </a:rPr>
              <a:t> </a:t>
            </a:r>
            <a:r>
              <a:rPr lang="en-US" sz="2100" b="1" dirty="0" err="1">
                <a:solidFill>
                  <a:schemeClr val="dk1"/>
                </a:solidFill>
              </a:rPr>
              <a:t>personalizados</a:t>
            </a:r>
            <a:r>
              <a:rPr lang="en-US" sz="2100" dirty="0">
                <a:solidFill>
                  <a:schemeClr val="dk1"/>
                </a:solidFill>
              </a:rPr>
              <a:t> a gran </a:t>
            </a:r>
            <a:r>
              <a:rPr lang="en-US" sz="2100" dirty="0" err="1">
                <a:solidFill>
                  <a:schemeClr val="dk1"/>
                </a:solidFill>
              </a:rPr>
              <a:t>escala.Siemens</a:t>
            </a:r>
            <a:r>
              <a:rPr lang="en-US" sz="2100" dirty="0">
                <a:solidFill>
                  <a:schemeClr val="dk1"/>
                </a:solidFill>
              </a:rPr>
              <a:t> ha </a:t>
            </a:r>
            <a:r>
              <a:rPr lang="en-US" sz="2100" dirty="0" err="1">
                <a:solidFill>
                  <a:schemeClr val="dk1"/>
                </a:solidFill>
              </a:rPr>
              <a:t>implementado</a:t>
            </a:r>
            <a:r>
              <a:rPr lang="en-US" sz="2100" dirty="0">
                <a:solidFill>
                  <a:schemeClr val="dk1"/>
                </a:solidFill>
              </a:rPr>
              <a:t> un </a:t>
            </a:r>
            <a:r>
              <a:rPr lang="en-US" sz="2100" dirty="0" err="1">
                <a:solidFill>
                  <a:schemeClr val="dk1"/>
                </a:solidFill>
              </a:rPr>
              <a:t>sistema</a:t>
            </a:r>
            <a:r>
              <a:rPr lang="en-US" sz="2100" dirty="0">
                <a:solidFill>
                  <a:schemeClr val="dk1"/>
                </a:solidFill>
              </a:rPr>
              <a:t> de </a:t>
            </a:r>
            <a:r>
              <a:rPr lang="en-US" sz="2100" dirty="0" err="1">
                <a:solidFill>
                  <a:schemeClr val="dk1"/>
                </a:solidFill>
              </a:rPr>
              <a:t>fabricación</a:t>
            </a:r>
            <a:r>
              <a:rPr lang="en-US" sz="2100" dirty="0">
                <a:solidFill>
                  <a:schemeClr val="dk1"/>
                </a:solidFill>
              </a:rPr>
              <a:t> modular, </a:t>
            </a:r>
            <a:r>
              <a:rPr lang="en-US" sz="2100" dirty="0" err="1">
                <a:solidFill>
                  <a:schemeClr val="dk1"/>
                </a:solidFill>
              </a:rPr>
              <a:t>donde</a:t>
            </a:r>
            <a:r>
              <a:rPr lang="en-US" sz="2100" dirty="0">
                <a:solidFill>
                  <a:schemeClr val="dk1"/>
                </a:solidFill>
              </a:rPr>
              <a:t> las </a:t>
            </a:r>
            <a:r>
              <a:rPr lang="en-US" sz="2100" dirty="0" err="1">
                <a:solidFill>
                  <a:schemeClr val="dk1"/>
                </a:solidFill>
              </a:rPr>
              <a:t>máquinas</a:t>
            </a:r>
            <a:r>
              <a:rPr lang="en-US" sz="2100" dirty="0">
                <a:solidFill>
                  <a:schemeClr val="dk1"/>
                </a:solidFill>
              </a:rPr>
              <a:t> </a:t>
            </a:r>
            <a:r>
              <a:rPr lang="en-US" sz="2100" dirty="0" err="1">
                <a:solidFill>
                  <a:schemeClr val="dk1"/>
                </a:solidFill>
              </a:rPr>
              <a:t>pueden</a:t>
            </a:r>
            <a:r>
              <a:rPr lang="en-US" sz="2100" dirty="0">
                <a:solidFill>
                  <a:schemeClr val="dk1"/>
                </a:solidFill>
              </a:rPr>
              <a:t> </a:t>
            </a:r>
            <a:r>
              <a:rPr lang="en-US" sz="2100" dirty="0" err="1">
                <a:solidFill>
                  <a:schemeClr val="dk1"/>
                </a:solidFill>
              </a:rPr>
              <a:t>ajustar</a:t>
            </a:r>
            <a:r>
              <a:rPr lang="en-US" sz="2100" dirty="0">
                <a:solidFill>
                  <a:schemeClr val="dk1"/>
                </a:solidFill>
              </a:rPr>
              <a:t> sus </a:t>
            </a:r>
            <a:r>
              <a:rPr lang="en-US" sz="2100" dirty="0" err="1">
                <a:solidFill>
                  <a:schemeClr val="dk1"/>
                </a:solidFill>
              </a:rPr>
              <a:t>parámetros</a:t>
            </a:r>
            <a:r>
              <a:rPr lang="en-US" sz="2100" dirty="0">
                <a:solidFill>
                  <a:schemeClr val="dk1"/>
                </a:solidFill>
              </a:rPr>
              <a:t> de </a:t>
            </a:r>
            <a:r>
              <a:rPr lang="en-US" sz="2100" dirty="0" err="1">
                <a:solidFill>
                  <a:schemeClr val="dk1"/>
                </a:solidFill>
              </a:rPr>
              <a:t>manera</a:t>
            </a:r>
            <a:r>
              <a:rPr lang="en-US" sz="2100" dirty="0">
                <a:solidFill>
                  <a:schemeClr val="dk1"/>
                </a:solidFill>
              </a:rPr>
              <a:t> </a:t>
            </a:r>
            <a:r>
              <a:rPr lang="en-US" sz="2100" dirty="0" err="1">
                <a:solidFill>
                  <a:schemeClr val="dk1"/>
                </a:solidFill>
              </a:rPr>
              <a:t>automática</a:t>
            </a:r>
            <a:r>
              <a:rPr lang="en-US" sz="2100" dirty="0">
                <a:solidFill>
                  <a:schemeClr val="dk1"/>
                </a:solidFill>
              </a:rPr>
              <a:t> </a:t>
            </a:r>
            <a:r>
              <a:rPr lang="en-US" sz="2100" dirty="0" err="1">
                <a:solidFill>
                  <a:schemeClr val="dk1"/>
                </a:solidFill>
              </a:rPr>
              <a:t>según</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producto</a:t>
            </a:r>
            <a:r>
              <a:rPr lang="en-US" sz="2100" dirty="0">
                <a:solidFill>
                  <a:schemeClr val="dk1"/>
                </a:solidFill>
              </a:rPr>
              <a:t> que </a:t>
            </a:r>
            <a:r>
              <a:rPr lang="en-US" sz="2100" dirty="0" err="1">
                <a:solidFill>
                  <a:schemeClr val="dk1"/>
                </a:solidFill>
              </a:rPr>
              <a:t>estén</a:t>
            </a:r>
            <a:r>
              <a:rPr lang="en-US" sz="2100" dirty="0">
                <a:solidFill>
                  <a:schemeClr val="dk1"/>
                </a:solidFill>
              </a:rPr>
              <a:t> </a:t>
            </a:r>
            <a:r>
              <a:rPr lang="en-US" sz="2100" dirty="0" err="1">
                <a:solidFill>
                  <a:schemeClr val="dk1"/>
                </a:solidFill>
              </a:rPr>
              <a:t>fabricando</a:t>
            </a:r>
            <a:r>
              <a:rPr lang="en-US" sz="2100" dirty="0">
                <a:solidFill>
                  <a:schemeClr val="dk1"/>
                </a:solidFill>
              </a:rPr>
              <a:t>, sin </a:t>
            </a:r>
            <a:r>
              <a:rPr lang="en-US" sz="2100" dirty="0" err="1">
                <a:solidFill>
                  <a:schemeClr val="dk1"/>
                </a:solidFill>
              </a:rPr>
              <a:t>necesidad</a:t>
            </a:r>
            <a:r>
              <a:rPr lang="en-US" sz="2100" dirty="0">
                <a:solidFill>
                  <a:schemeClr val="dk1"/>
                </a:solidFill>
              </a:rPr>
              <a:t> de </a:t>
            </a:r>
            <a:r>
              <a:rPr lang="en-US" sz="2100" dirty="0" err="1">
                <a:solidFill>
                  <a:schemeClr val="dk1"/>
                </a:solidFill>
              </a:rPr>
              <a:t>intervención</a:t>
            </a:r>
            <a:r>
              <a:rPr lang="en-US" sz="2100" dirty="0">
                <a:solidFill>
                  <a:schemeClr val="dk1"/>
                </a:solidFill>
              </a:rPr>
              <a:t> </a:t>
            </a:r>
            <a:r>
              <a:rPr lang="en-US" sz="2100" dirty="0" err="1">
                <a:solidFill>
                  <a:schemeClr val="dk1"/>
                </a:solidFill>
              </a:rPr>
              <a:t>humana</a:t>
            </a:r>
            <a:r>
              <a:rPr lang="en-US" sz="2100" dirty="0">
                <a:solidFill>
                  <a:schemeClr val="dk1"/>
                </a:solidFill>
              </a:rPr>
              <a:t>.</a:t>
            </a:r>
            <a:endParaRPr sz="2100" dirty="0">
              <a:solidFill>
                <a:schemeClr val="dk1"/>
              </a:solidFill>
            </a:endParaRPr>
          </a:p>
          <a:p>
            <a:pPr marL="0" lvl="0" indent="0" algn="l" rtl="0">
              <a:lnSpc>
                <a:spcPct val="115000"/>
              </a:lnSpc>
              <a:spcBef>
                <a:spcPts val="1200"/>
              </a:spcBef>
              <a:spcAft>
                <a:spcPts val="0"/>
              </a:spcAft>
              <a:buNone/>
            </a:pPr>
            <a:r>
              <a:rPr lang="en-US" sz="2100" b="1" dirty="0" err="1">
                <a:solidFill>
                  <a:schemeClr val="dk1"/>
                </a:solidFill>
              </a:rPr>
              <a:t>Ejemplo</a:t>
            </a:r>
            <a:r>
              <a:rPr lang="en-US" sz="2100" b="1" dirty="0">
                <a:solidFill>
                  <a:schemeClr val="dk1"/>
                </a:solidFill>
              </a:rPr>
              <a:t> de </a:t>
            </a:r>
            <a:r>
              <a:rPr lang="en-US" sz="2100" b="1" dirty="0" err="1">
                <a:solidFill>
                  <a:schemeClr val="dk1"/>
                </a:solidFill>
              </a:rPr>
              <a:t>Flexibilidad</a:t>
            </a:r>
            <a:r>
              <a:rPr lang="en-US" sz="2100" b="1" dirty="0">
                <a:solidFill>
                  <a:schemeClr val="dk1"/>
                </a:solidFill>
              </a:rPr>
              <a:t>:</a:t>
            </a:r>
            <a:endParaRPr sz="2100" b="1"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n-US" sz="2100" dirty="0" err="1">
                <a:solidFill>
                  <a:schemeClr val="dk1"/>
                </a:solidFill>
              </a:rPr>
              <a:t>Supongamos</a:t>
            </a:r>
            <a:r>
              <a:rPr lang="en-US" sz="2100" dirty="0">
                <a:solidFill>
                  <a:schemeClr val="dk1"/>
                </a:solidFill>
              </a:rPr>
              <a:t> que </a:t>
            </a:r>
            <a:r>
              <a:rPr lang="en-US" sz="2100" dirty="0" err="1">
                <a:solidFill>
                  <a:schemeClr val="dk1"/>
                </a:solidFill>
              </a:rPr>
              <a:t>en</a:t>
            </a:r>
            <a:r>
              <a:rPr lang="en-US" sz="2100" dirty="0">
                <a:solidFill>
                  <a:schemeClr val="dk1"/>
                </a:solidFill>
              </a:rPr>
              <a:t> </a:t>
            </a:r>
            <a:r>
              <a:rPr lang="en-US" sz="2100" dirty="0" err="1">
                <a:solidFill>
                  <a:schemeClr val="dk1"/>
                </a:solidFill>
              </a:rPr>
              <a:t>una</a:t>
            </a:r>
            <a:r>
              <a:rPr lang="en-US" sz="2100" dirty="0">
                <a:solidFill>
                  <a:schemeClr val="dk1"/>
                </a:solidFill>
              </a:rPr>
              <a:t> </a:t>
            </a:r>
            <a:r>
              <a:rPr lang="en-US" sz="2100" dirty="0" err="1">
                <a:solidFill>
                  <a:schemeClr val="dk1"/>
                </a:solidFill>
              </a:rPr>
              <a:t>cadena</a:t>
            </a:r>
            <a:r>
              <a:rPr lang="en-US" sz="2100" dirty="0">
                <a:solidFill>
                  <a:schemeClr val="dk1"/>
                </a:solidFill>
              </a:rPr>
              <a:t> de </a:t>
            </a:r>
            <a:r>
              <a:rPr lang="en-US" sz="2100" dirty="0" err="1">
                <a:solidFill>
                  <a:schemeClr val="dk1"/>
                </a:solidFill>
              </a:rPr>
              <a:t>producción</a:t>
            </a:r>
            <a:r>
              <a:rPr lang="en-US" sz="2100" dirty="0">
                <a:solidFill>
                  <a:schemeClr val="dk1"/>
                </a:solidFill>
              </a:rPr>
              <a:t> </a:t>
            </a:r>
            <a:r>
              <a:rPr lang="en-US" sz="2100" dirty="0" err="1">
                <a:solidFill>
                  <a:schemeClr val="dk1"/>
                </a:solidFill>
              </a:rPr>
              <a:t>tradicional</a:t>
            </a:r>
            <a:r>
              <a:rPr lang="en-US" sz="2100" dirty="0">
                <a:solidFill>
                  <a:schemeClr val="dk1"/>
                </a:solidFill>
              </a:rPr>
              <a:t> se </a:t>
            </a:r>
            <a:r>
              <a:rPr lang="en-US" sz="2100" dirty="0" err="1">
                <a:solidFill>
                  <a:schemeClr val="dk1"/>
                </a:solidFill>
              </a:rPr>
              <a:t>fabrican</a:t>
            </a:r>
            <a:r>
              <a:rPr lang="en-US" sz="2100" dirty="0">
                <a:solidFill>
                  <a:schemeClr val="dk1"/>
                </a:solidFill>
              </a:rPr>
              <a:t> un </a:t>
            </a:r>
            <a:r>
              <a:rPr lang="en-US" sz="2100" dirty="0" err="1">
                <a:solidFill>
                  <a:schemeClr val="dk1"/>
                </a:solidFill>
              </a:rPr>
              <a:t>lote</a:t>
            </a:r>
            <a:r>
              <a:rPr lang="en-US" sz="2100" dirty="0">
                <a:solidFill>
                  <a:schemeClr val="dk1"/>
                </a:solidFill>
              </a:rPr>
              <a:t> de </a:t>
            </a:r>
            <a:r>
              <a:rPr lang="en-US" sz="2100" dirty="0" err="1">
                <a:solidFill>
                  <a:schemeClr val="dk1"/>
                </a:solidFill>
              </a:rPr>
              <a:t>productos</a:t>
            </a:r>
            <a:r>
              <a:rPr lang="en-US" sz="2100" dirty="0">
                <a:solidFill>
                  <a:schemeClr val="dk1"/>
                </a:solidFill>
              </a:rPr>
              <a:t> </a:t>
            </a:r>
            <a:r>
              <a:rPr lang="en-US" sz="2100" dirty="0" err="1">
                <a:solidFill>
                  <a:schemeClr val="dk1"/>
                </a:solidFill>
              </a:rPr>
              <a:t>iguales</a:t>
            </a:r>
            <a:r>
              <a:rPr lang="en-US" sz="2100" dirty="0">
                <a:solidFill>
                  <a:schemeClr val="dk1"/>
                </a:solidFill>
              </a:rPr>
              <a:t> de forma continua. Sin embargo, con la </a:t>
            </a:r>
            <a:r>
              <a:rPr lang="en-US" sz="2100" dirty="0" err="1">
                <a:solidFill>
                  <a:schemeClr val="dk1"/>
                </a:solidFill>
              </a:rPr>
              <a:t>tecnología</a:t>
            </a:r>
            <a:r>
              <a:rPr lang="en-US" sz="2100" dirty="0">
                <a:solidFill>
                  <a:schemeClr val="dk1"/>
                </a:solidFill>
              </a:rPr>
              <a:t> digital de Siemens, la </a:t>
            </a:r>
            <a:r>
              <a:rPr lang="en-US" sz="2100" dirty="0" err="1">
                <a:solidFill>
                  <a:schemeClr val="dk1"/>
                </a:solidFill>
              </a:rPr>
              <a:t>misma</a:t>
            </a:r>
            <a:r>
              <a:rPr lang="en-US" sz="2100" dirty="0">
                <a:solidFill>
                  <a:schemeClr val="dk1"/>
                </a:solidFill>
              </a:rPr>
              <a:t> </a:t>
            </a:r>
            <a:r>
              <a:rPr lang="en-US" sz="2100" dirty="0" err="1">
                <a:solidFill>
                  <a:schemeClr val="dk1"/>
                </a:solidFill>
              </a:rPr>
              <a:t>línea</a:t>
            </a:r>
            <a:r>
              <a:rPr lang="en-US" sz="2100" dirty="0">
                <a:solidFill>
                  <a:schemeClr val="dk1"/>
                </a:solidFill>
              </a:rPr>
              <a:t> de </a:t>
            </a:r>
            <a:r>
              <a:rPr lang="en-US" sz="2100" dirty="0" err="1">
                <a:solidFill>
                  <a:schemeClr val="dk1"/>
                </a:solidFill>
              </a:rPr>
              <a:t>producción</a:t>
            </a:r>
            <a:r>
              <a:rPr lang="en-US" sz="2100" dirty="0">
                <a:solidFill>
                  <a:schemeClr val="dk1"/>
                </a:solidFill>
              </a:rPr>
              <a:t> </a:t>
            </a:r>
            <a:r>
              <a:rPr lang="en-US" sz="2100" dirty="0" err="1">
                <a:solidFill>
                  <a:schemeClr val="dk1"/>
                </a:solidFill>
              </a:rPr>
              <a:t>puede</a:t>
            </a:r>
            <a:r>
              <a:rPr lang="en-US" sz="2100" dirty="0">
                <a:solidFill>
                  <a:schemeClr val="dk1"/>
                </a:solidFill>
              </a:rPr>
              <a:t> </a:t>
            </a:r>
            <a:r>
              <a:rPr lang="en-US" sz="2100" dirty="0" err="1">
                <a:solidFill>
                  <a:schemeClr val="dk1"/>
                </a:solidFill>
              </a:rPr>
              <a:t>fabricar</a:t>
            </a:r>
            <a:r>
              <a:rPr lang="en-US" sz="2100" dirty="0">
                <a:solidFill>
                  <a:schemeClr val="dk1"/>
                </a:solidFill>
              </a:rPr>
              <a:t> </a:t>
            </a:r>
            <a:r>
              <a:rPr lang="en-US" sz="2100" b="1" dirty="0" err="1">
                <a:solidFill>
                  <a:schemeClr val="dk1"/>
                </a:solidFill>
              </a:rPr>
              <a:t>diferentes</a:t>
            </a:r>
            <a:r>
              <a:rPr lang="en-US" sz="2100" b="1" dirty="0">
                <a:solidFill>
                  <a:schemeClr val="dk1"/>
                </a:solidFill>
              </a:rPr>
              <a:t> </a:t>
            </a:r>
            <a:r>
              <a:rPr lang="en-US" sz="2100" b="1" dirty="0" err="1">
                <a:solidFill>
                  <a:schemeClr val="dk1"/>
                </a:solidFill>
              </a:rPr>
              <a:t>productos</a:t>
            </a:r>
            <a:r>
              <a:rPr lang="en-US" sz="2100" b="1" dirty="0">
                <a:solidFill>
                  <a:schemeClr val="dk1"/>
                </a:solidFill>
              </a:rPr>
              <a:t> </a:t>
            </a:r>
            <a:r>
              <a:rPr lang="en-US" sz="2100" b="1" dirty="0" err="1">
                <a:solidFill>
                  <a:schemeClr val="dk1"/>
                </a:solidFill>
              </a:rPr>
              <a:t>personalizados</a:t>
            </a:r>
            <a:r>
              <a:rPr lang="en-US" sz="2100" dirty="0">
                <a:solidFill>
                  <a:schemeClr val="dk1"/>
                </a:solidFill>
              </a:rPr>
              <a:t> sin </a:t>
            </a:r>
            <a:r>
              <a:rPr lang="en-US" sz="2100" dirty="0" err="1">
                <a:solidFill>
                  <a:schemeClr val="dk1"/>
                </a:solidFill>
              </a:rPr>
              <a:t>detener</a:t>
            </a:r>
            <a:r>
              <a:rPr lang="en-US" sz="2100" dirty="0">
                <a:solidFill>
                  <a:schemeClr val="dk1"/>
                </a:solidFill>
              </a:rPr>
              <a:t> la </a:t>
            </a:r>
            <a:r>
              <a:rPr lang="en-US" sz="2100" dirty="0" err="1">
                <a:solidFill>
                  <a:schemeClr val="dk1"/>
                </a:solidFill>
              </a:rPr>
              <a:t>producción</a:t>
            </a:r>
            <a:r>
              <a:rPr lang="en-US" sz="2100" dirty="0">
                <a:solidFill>
                  <a:schemeClr val="dk1"/>
                </a:solidFill>
              </a:rPr>
              <a:t> </a:t>
            </a:r>
            <a:r>
              <a:rPr lang="en-US" sz="2100" dirty="0" err="1">
                <a:solidFill>
                  <a:schemeClr val="dk1"/>
                </a:solidFill>
              </a:rPr>
              <a:t>ni</a:t>
            </a:r>
            <a:r>
              <a:rPr lang="en-US" sz="2100" dirty="0">
                <a:solidFill>
                  <a:schemeClr val="dk1"/>
                </a:solidFill>
              </a:rPr>
              <a:t> </a:t>
            </a:r>
            <a:r>
              <a:rPr lang="en-US" sz="2100" dirty="0" err="1">
                <a:solidFill>
                  <a:schemeClr val="dk1"/>
                </a:solidFill>
              </a:rPr>
              <a:t>modificar</a:t>
            </a:r>
            <a:r>
              <a:rPr lang="en-US" sz="2100" dirty="0">
                <a:solidFill>
                  <a:schemeClr val="dk1"/>
                </a:solidFill>
              </a:rPr>
              <a:t> </a:t>
            </a:r>
            <a:r>
              <a:rPr lang="en-US" sz="2100" dirty="0" err="1">
                <a:solidFill>
                  <a:schemeClr val="dk1"/>
                </a:solidFill>
              </a:rPr>
              <a:t>manualmente</a:t>
            </a:r>
            <a:r>
              <a:rPr lang="en-US" sz="2100" dirty="0">
                <a:solidFill>
                  <a:schemeClr val="dk1"/>
                </a:solidFill>
              </a:rPr>
              <a:t> las </a:t>
            </a:r>
            <a:r>
              <a:rPr lang="en-US" sz="2100" dirty="0" err="1">
                <a:solidFill>
                  <a:schemeClr val="dk1"/>
                </a:solidFill>
              </a:rPr>
              <a:t>máquinas</a:t>
            </a:r>
            <a:r>
              <a:rPr lang="en-US" sz="2100" dirty="0">
                <a:solidFill>
                  <a:schemeClr val="dk1"/>
                </a:solidFill>
              </a:rPr>
              <a:t>.</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a:solidFill>
                  <a:schemeClr val="dk1"/>
                </a:solidFill>
              </a:rPr>
              <a:t>Esto es </a:t>
            </a:r>
            <a:r>
              <a:rPr lang="en-US" sz="2100" dirty="0" err="1">
                <a:solidFill>
                  <a:schemeClr val="dk1"/>
                </a:solidFill>
              </a:rPr>
              <a:t>posible</a:t>
            </a:r>
            <a:r>
              <a:rPr lang="en-US" sz="2100" dirty="0">
                <a:solidFill>
                  <a:schemeClr val="dk1"/>
                </a:solidFill>
              </a:rPr>
              <a:t> gracias a la </a:t>
            </a:r>
            <a:r>
              <a:rPr lang="en-US" sz="2100" b="1" dirty="0" err="1">
                <a:solidFill>
                  <a:schemeClr val="dk1"/>
                </a:solidFill>
              </a:rPr>
              <a:t>digitalización</a:t>
            </a:r>
            <a:r>
              <a:rPr lang="en-US" sz="2100" b="1" dirty="0">
                <a:solidFill>
                  <a:schemeClr val="dk1"/>
                </a:solidFill>
              </a:rPr>
              <a:t> de </a:t>
            </a:r>
            <a:r>
              <a:rPr lang="en-US" sz="2100" b="1" dirty="0" err="1">
                <a:solidFill>
                  <a:schemeClr val="dk1"/>
                </a:solidFill>
              </a:rPr>
              <a:t>los</a:t>
            </a:r>
            <a:r>
              <a:rPr lang="en-US" sz="2100" b="1" dirty="0">
                <a:solidFill>
                  <a:schemeClr val="dk1"/>
                </a:solidFill>
              </a:rPr>
              <a:t> </a:t>
            </a:r>
            <a:r>
              <a:rPr lang="en-US" sz="2100" b="1" dirty="0" err="1">
                <a:solidFill>
                  <a:schemeClr val="dk1"/>
                </a:solidFill>
              </a:rPr>
              <a:t>gemelos</a:t>
            </a:r>
            <a:r>
              <a:rPr lang="en-US" sz="2100" b="1" dirty="0">
                <a:solidFill>
                  <a:schemeClr val="dk1"/>
                </a:solidFill>
              </a:rPr>
              <a:t> </a:t>
            </a:r>
            <a:r>
              <a:rPr lang="en-US" sz="2100" b="1" dirty="0" err="1">
                <a:solidFill>
                  <a:schemeClr val="dk1"/>
                </a:solidFill>
              </a:rPr>
              <a:t>digitales</a:t>
            </a:r>
            <a:r>
              <a:rPr lang="en-US" sz="2100" dirty="0">
                <a:solidFill>
                  <a:schemeClr val="dk1"/>
                </a:solidFill>
              </a:rPr>
              <a:t> (digital twins), que </a:t>
            </a:r>
            <a:r>
              <a:rPr lang="en-US" sz="2100" dirty="0" err="1">
                <a:solidFill>
                  <a:schemeClr val="dk1"/>
                </a:solidFill>
              </a:rPr>
              <a:t>replican</a:t>
            </a:r>
            <a:r>
              <a:rPr lang="en-US" sz="2100" dirty="0">
                <a:solidFill>
                  <a:schemeClr val="dk1"/>
                </a:solidFill>
              </a:rPr>
              <a:t> </a:t>
            </a:r>
            <a:r>
              <a:rPr lang="en-US" sz="2100" dirty="0" err="1">
                <a:solidFill>
                  <a:schemeClr val="dk1"/>
                </a:solidFill>
              </a:rPr>
              <a:t>virtualmente</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proceso</a:t>
            </a:r>
            <a:r>
              <a:rPr lang="en-US" sz="2100" dirty="0">
                <a:solidFill>
                  <a:schemeClr val="dk1"/>
                </a:solidFill>
              </a:rPr>
              <a:t> de </a:t>
            </a:r>
            <a:r>
              <a:rPr lang="en-US" sz="2100" dirty="0" err="1">
                <a:solidFill>
                  <a:schemeClr val="dk1"/>
                </a:solidFill>
              </a:rPr>
              <a:t>fabricación</a:t>
            </a:r>
            <a:r>
              <a:rPr lang="en-US" sz="2100" dirty="0">
                <a:solidFill>
                  <a:schemeClr val="dk1"/>
                </a:solidFill>
              </a:rPr>
              <a:t> y </a:t>
            </a:r>
            <a:r>
              <a:rPr lang="en-US" sz="2100" dirty="0" err="1">
                <a:solidFill>
                  <a:schemeClr val="dk1"/>
                </a:solidFill>
              </a:rPr>
              <a:t>permiten</a:t>
            </a:r>
            <a:r>
              <a:rPr lang="en-US" sz="2100" dirty="0">
                <a:solidFill>
                  <a:schemeClr val="dk1"/>
                </a:solidFill>
              </a:rPr>
              <a:t> </a:t>
            </a:r>
            <a:r>
              <a:rPr lang="en-US" sz="2100" dirty="0" err="1">
                <a:solidFill>
                  <a:schemeClr val="dk1"/>
                </a:solidFill>
              </a:rPr>
              <a:t>simular</a:t>
            </a:r>
            <a:r>
              <a:rPr lang="en-US" sz="2100" dirty="0">
                <a:solidFill>
                  <a:schemeClr val="dk1"/>
                </a:solidFill>
              </a:rPr>
              <a:t> </a:t>
            </a:r>
            <a:r>
              <a:rPr lang="en-US" sz="2100" dirty="0" err="1">
                <a:solidFill>
                  <a:schemeClr val="dk1"/>
                </a:solidFill>
              </a:rPr>
              <a:t>cambios</a:t>
            </a:r>
            <a:r>
              <a:rPr lang="en-US" sz="2100" dirty="0">
                <a:solidFill>
                  <a:schemeClr val="dk1"/>
                </a:solidFill>
              </a:rPr>
              <a:t> y </a:t>
            </a:r>
            <a:r>
              <a:rPr lang="en-US" sz="2100" dirty="0" err="1">
                <a:solidFill>
                  <a:schemeClr val="dk1"/>
                </a:solidFill>
              </a:rPr>
              <a:t>ajustes</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diseño</a:t>
            </a:r>
            <a:r>
              <a:rPr lang="en-US" sz="2100" dirty="0">
                <a:solidFill>
                  <a:schemeClr val="dk1"/>
                </a:solidFill>
              </a:rPr>
              <a:t> del </a:t>
            </a:r>
            <a:r>
              <a:rPr lang="en-US" sz="2100" dirty="0" err="1">
                <a:solidFill>
                  <a:schemeClr val="dk1"/>
                </a:solidFill>
              </a:rPr>
              <a:t>producto</a:t>
            </a:r>
            <a:r>
              <a:rPr lang="en-US" sz="2100" dirty="0">
                <a:solidFill>
                  <a:schemeClr val="dk1"/>
                </a:solidFill>
              </a:rPr>
              <a:t>, antes de que se </a:t>
            </a:r>
            <a:r>
              <a:rPr lang="en-US" sz="2100" dirty="0" err="1">
                <a:solidFill>
                  <a:schemeClr val="dk1"/>
                </a:solidFill>
              </a:rPr>
              <a:t>produzca</a:t>
            </a:r>
            <a:r>
              <a:rPr lang="en-US" sz="2100" dirty="0">
                <a:solidFill>
                  <a:schemeClr val="dk1"/>
                </a:solidFill>
              </a:rPr>
              <a:t> </a:t>
            </a:r>
            <a:r>
              <a:rPr lang="en-US" sz="2100" dirty="0" err="1">
                <a:solidFill>
                  <a:schemeClr val="dk1"/>
                </a:solidFill>
              </a:rPr>
              <a:t>físicamente</a:t>
            </a:r>
            <a:r>
              <a:rPr lang="en-US" sz="2100" dirty="0">
                <a:solidFill>
                  <a:schemeClr val="dk1"/>
                </a:solidFill>
              </a:rPr>
              <a:t>. Esto </a:t>
            </a:r>
            <a:r>
              <a:rPr lang="en-US" sz="2100" dirty="0" err="1">
                <a:solidFill>
                  <a:schemeClr val="dk1"/>
                </a:solidFill>
              </a:rPr>
              <a:t>agiliza</a:t>
            </a:r>
            <a:r>
              <a:rPr lang="en-US" sz="2100" dirty="0">
                <a:solidFill>
                  <a:schemeClr val="dk1"/>
                </a:solidFill>
              </a:rPr>
              <a:t> la </a:t>
            </a:r>
            <a:r>
              <a:rPr lang="en-US" sz="2100" dirty="0" err="1">
                <a:solidFill>
                  <a:schemeClr val="dk1"/>
                </a:solidFill>
              </a:rPr>
              <a:t>producción</a:t>
            </a:r>
            <a:r>
              <a:rPr lang="en-US" sz="2100" dirty="0">
                <a:solidFill>
                  <a:schemeClr val="dk1"/>
                </a:solidFill>
              </a:rPr>
              <a:t> y </a:t>
            </a:r>
            <a:r>
              <a:rPr lang="en-US" sz="2100" dirty="0" err="1">
                <a:solidFill>
                  <a:schemeClr val="dk1"/>
                </a:solidFill>
              </a:rPr>
              <a:t>permite</a:t>
            </a:r>
            <a:r>
              <a:rPr lang="en-US" sz="2100" dirty="0">
                <a:solidFill>
                  <a:schemeClr val="dk1"/>
                </a:solidFill>
              </a:rPr>
              <a:t> que Siemens </a:t>
            </a:r>
            <a:r>
              <a:rPr lang="en-US" sz="2100" dirty="0" err="1">
                <a:solidFill>
                  <a:schemeClr val="dk1"/>
                </a:solidFill>
              </a:rPr>
              <a:t>responda</a:t>
            </a:r>
            <a:r>
              <a:rPr lang="en-US" sz="2100" dirty="0">
                <a:solidFill>
                  <a:schemeClr val="dk1"/>
                </a:solidFill>
              </a:rPr>
              <a:t> </a:t>
            </a:r>
            <a:r>
              <a:rPr lang="en-US" sz="2100" dirty="0" err="1">
                <a:solidFill>
                  <a:schemeClr val="dk1"/>
                </a:solidFill>
              </a:rPr>
              <a:t>rápidamente</a:t>
            </a:r>
            <a:r>
              <a:rPr lang="en-US" sz="2100" dirty="0">
                <a:solidFill>
                  <a:schemeClr val="dk1"/>
                </a:solidFill>
              </a:rPr>
              <a:t> a las </a:t>
            </a:r>
            <a:r>
              <a:rPr lang="en-US" sz="2100" dirty="0" err="1">
                <a:solidFill>
                  <a:schemeClr val="dk1"/>
                </a:solidFill>
              </a:rPr>
              <a:t>demandas</a:t>
            </a:r>
            <a:r>
              <a:rPr lang="en-US" sz="2100" dirty="0">
                <a:solidFill>
                  <a:schemeClr val="dk1"/>
                </a:solidFill>
              </a:rPr>
              <a:t> </a:t>
            </a:r>
            <a:r>
              <a:rPr lang="en-US" sz="2100" dirty="0" err="1">
                <a:solidFill>
                  <a:schemeClr val="dk1"/>
                </a:solidFill>
              </a:rPr>
              <a:t>específicas</a:t>
            </a:r>
            <a:r>
              <a:rPr lang="en-US" sz="2100" dirty="0">
                <a:solidFill>
                  <a:schemeClr val="dk1"/>
                </a:solidFill>
              </a:rPr>
              <a:t> de </a:t>
            </a:r>
            <a:r>
              <a:rPr lang="en-US" sz="2100" dirty="0" err="1">
                <a:solidFill>
                  <a:schemeClr val="dk1"/>
                </a:solidFill>
              </a:rPr>
              <a:t>los</a:t>
            </a:r>
            <a:r>
              <a:rPr lang="en-US" sz="2100" dirty="0">
                <a:solidFill>
                  <a:schemeClr val="dk1"/>
                </a:solidFill>
              </a:rPr>
              <a:t> </a:t>
            </a:r>
            <a:r>
              <a:rPr lang="en-US" sz="2100" dirty="0" err="1">
                <a:solidFill>
                  <a:schemeClr val="dk1"/>
                </a:solidFill>
              </a:rPr>
              <a:t>clientes</a:t>
            </a:r>
            <a:r>
              <a:rPr lang="en-US" sz="2100" dirty="0">
                <a:solidFill>
                  <a:schemeClr val="dk1"/>
                </a:solidFill>
              </a:rPr>
              <a:t>.</a:t>
            </a:r>
            <a:endParaRPr sz="21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p:txBody>
      </p:sp>
      <p:pic>
        <p:nvPicPr>
          <p:cNvPr id="203" name="Google Shape;203;g308c30d8e00_0_37"/>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16" name="Google Shape;216;g308c30d8e00_0_53"/>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17" name="Google Shape;217;g308c30d8e00_0_53"/>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Inteligencia Artificial y Análisis de Datos</a:t>
            </a:r>
            <a:endParaRPr sz="2700" b="1" i="0" u="none" strike="noStrike" cap="none">
              <a:solidFill>
                <a:srgbClr val="F46524"/>
              </a:solidFill>
              <a:latin typeface="Raleway"/>
              <a:ea typeface="Raleway"/>
              <a:cs typeface="Raleway"/>
              <a:sym typeface="Raleway"/>
            </a:endParaRPr>
          </a:p>
        </p:txBody>
      </p:sp>
      <p:sp>
        <p:nvSpPr>
          <p:cNvPr id="218" name="Google Shape;218;g308c30d8e00_0_53"/>
          <p:cNvSpPr txBox="1"/>
          <p:nvPr/>
        </p:nvSpPr>
        <p:spPr>
          <a:xfrm>
            <a:off x="3219000" y="1699550"/>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100" dirty="0">
                <a:solidFill>
                  <a:schemeClr val="dk1"/>
                </a:solidFill>
              </a:rPr>
              <a:t>El </a:t>
            </a:r>
            <a:r>
              <a:rPr lang="en-US" sz="2100" dirty="0" err="1">
                <a:solidFill>
                  <a:schemeClr val="dk1"/>
                </a:solidFill>
              </a:rPr>
              <a:t>uso</a:t>
            </a:r>
            <a:r>
              <a:rPr lang="en-US" sz="2100" dirty="0">
                <a:solidFill>
                  <a:schemeClr val="dk1"/>
                </a:solidFill>
              </a:rPr>
              <a:t> de IA y </a:t>
            </a:r>
            <a:r>
              <a:rPr lang="en-US" sz="2100" dirty="0" err="1">
                <a:solidFill>
                  <a:schemeClr val="dk1"/>
                </a:solidFill>
              </a:rPr>
              <a:t>análisis</a:t>
            </a:r>
            <a:r>
              <a:rPr lang="en-US" sz="2100" dirty="0">
                <a:solidFill>
                  <a:schemeClr val="dk1"/>
                </a:solidFill>
              </a:rPr>
              <a:t> de big data también </a:t>
            </a:r>
            <a:r>
              <a:rPr lang="en-US" sz="2100" dirty="0" err="1">
                <a:solidFill>
                  <a:schemeClr val="dk1"/>
                </a:solidFill>
              </a:rPr>
              <a:t>juega</a:t>
            </a:r>
            <a:r>
              <a:rPr lang="en-US" sz="2100" dirty="0">
                <a:solidFill>
                  <a:schemeClr val="dk1"/>
                </a:solidFill>
              </a:rPr>
              <a:t> un </a:t>
            </a:r>
            <a:r>
              <a:rPr lang="en-US" sz="2100" dirty="0" err="1">
                <a:solidFill>
                  <a:schemeClr val="dk1"/>
                </a:solidFill>
              </a:rPr>
              <a:t>papel</a:t>
            </a:r>
            <a:r>
              <a:rPr lang="en-US" sz="2100" dirty="0">
                <a:solidFill>
                  <a:schemeClr val="dk1"/>
                </a:solidFill>
              </a:rPr>
              <a:t> crucial </a:t>
            </a:r>
            <a:r>
              <a:rPr lang="en-US" sz="2100" dirty="0" err="1">
                <a:solidFill>
                  <a:schemeClr val="dk1"/>
                </a:solidFill>
              </a:rPr>
              <a:t>en</a:t>
            </a:r>
            <a:r>
              <a:rPr lang="en-US" sz="2100" dirty="0">
                <a:solidFill>
                  <a:schemeClr val="dk1"/>
                </a:solidFill>
              </a:rPr>
              <a:t> la </a:t>
            </a:r>
            <a:r>
              <a:rPr lang="en-US" sz="2100" dirty="0" err="1">
                <a:solidFill>
                  <a:schemeClr val="dk1"/>
                </a:solidFill>
              </a:rPr>
              <a:t>fábrica</a:t>
            </a:r>
            <a:r>
              <a:rPr lang="en-US" sz="2100" dirty="0">
                <a:solidFill>
                  <a:schemeClr val="dk1"/>
                </a:solidFill>
              </a:rPr>
              <a:t> de Siemens. Los </a:t>
            </a:r>
            <a:r>
              <a:rPr lang="en-US" sz="2100" dirty="0" err="1">
                <a:solidFill>
                  <a:schemeClr val="dk1"/>
                </a:solidFill>
              </a:rPr>
              <a:t>datos</a:t>
            </a:r>
            <a:r>
              <a:rPr lang="en-US" sz="2100" dirty="0">
                <a:solidFill>
                  <a:schemeClr val="dk1"/>
                </a:solidFill>
              </a:rPr>
              <a:t> </a:t>
            </a:r>
            <a:r>
              <a:rPr lang="en-US" sz="2100" dirty="0" err="1">
                <a:solidFill>
                  <a:schemeClr val="dk1"/>
                </a:solidFill>
              </a:rPr>
              <a:t>recolectados</a:t>
            </a:r>
            <a:r>
              <a:rPr lang="en-US" sz="2100" dirty="0">
                <a:solidFill>
                  <a:schemeClr val="dk1"/>
                </a:solidFill>
              </a:rPr>
              <a:t> </a:t>
            </a:r>
            <a:r>
              <a:rPr lang="en-US" sz="2100" dirty="0" err="1">
                <a:solidFill>
                  <a:schemeClr val="dk1"/>
                </a:solidFill>
              </a:rPr>
              <a:t>por</a:t>
            </a:r>
            <a:r>
              <a:rPr lang="en-US" sz="2100" dirty="0">
                <a:solidFill>
                  <a:schemeClr val="dk1"/>
                </a:solidFill>
              </a:rPr>
              <a:t> </a:t>
            </a:r>
            <a:r>
              <a:rPr lang="en-US" sz="2100" dirty="0" err="1">
                <a:solidFill>
                  <a:schemeClr val="dk1"/>
                </a:solidFill>
              </a:rPr>
              <a:t>los</a:t>
            </a:r>
            <a:r>
              <a:rPr lang="en-US" sz="2100" dirty="0">
                <a:solidFill>
                  <a:schemeClr val="dk1"/>
                </a:solidFill>
              </a:rPr>
              <a:t> </a:t>
            </a:r>
            <a:r>
              <a:rPr lang="en-US" sz="2100" dirty="0" err="1">
                <a:solidFill>
                  <a:schemeClr val="dk1"/>
                </a:solidFill>
              </a:rPr>
              <a:t>sensores</a:t>
            </a:r>
            <a:r>
              <a:rPr lang="en-US" sz="2100" dirty="0">
                <a:solidFill>
                  <a:schemeClr val="dk1"/>
                </a:solidFill>
              </a:rPr>
              <a:t> y </a:t>
            </a:r>
            <a:r>
              <a:rPr lang="en-US" sz="2100" dirty="0" err="1">
                <a:solidFill>
                  <a:schemeClr val="dk1"/>
                </a:solidFill>
              </a:rPr>
              <a:t>sistemas</a:t>
            </a:r>
            <a:r>
              <a:rPr lang="en-US" sz="2100" dirty="0">
                <a:solidFill>
                  <a:schemeClr val="dk1"/>
                </a:solidFill>
              </a:rPr>
              <a:t> de IoT no solo son </a:t>
            </a:r>
            <a:r>
              <a:rPr lang="en-US" sz="2100" dirty="0" err="1">
                <a:solidFill>
                  <a:schemeClr val="dk1"/>
                </a:solidFill>
              </a:rPr>
              <a:t>utilizados</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tiempo</a:t>
            </a:r>
            <a:r>
              <a:rPr lang="en-US" sz="2100" dirty="0">
                <a:solidFill>
                  <a:schemeClr val="dk1"/>
                </a:solidFill>
              </a:rPr>
              <a:t> real, </a:t>
            </a:r>
            <a:r>
              <a:rPr lang="en-US" sz="2100" dirty="0" err="1">
                <a:solidFill>
                  <a:schemeClr val="dk1"/>
                </a:solidFill>
              </a:rPr>
              <a:t>sino</a:t>
            </a:r>
            <a:r>
              <a:rPr lang="en-US" sz="2100" dirty="0">
                <a:solidFill>
                  <a:schemeClr val="dk1"/>
                </a:solidFill>
              </a:rPr>
              <a:t> que también se </a:t>
            </a:r>
            <a:r>
              <a:rPr lang="en-US" sz="2100" dirty="0" err="1">
                <a:solidFill>
                  <a:schemeClr val="dk1"/>
                </a:solidFill>
              </a:rPr>
              <a:t>analizan</a:t>
            </a:r>
            <a:r>
              <a:rPr lang="en-US" sz="2100" dirty="0">
                <a:solidFill>
                  <a:schemeClr val="dk1"/>
                </a:solidFill>
              </a:rPr>
              <a:t> para </a:t>
            </a:r>
            <a:r>
              <a:rPr lang="en-US" sz="2100" dirty="0" err="1">
                <a:solidFill>
                  <a:schemeClr val="dk1"/>
                </a:solidFill>
              </a:rPr>
              <a:t>identificar</a:t>
            </a:r>
            <a:r>
              <a:rPr lang="en-US" sz="2100" dirty="0">
                <a:solidFill>
                  <a:schemeClr val="dk1"/>
                </a:solidFill>
              </a:rPr>
              <a:t> </a:t>
            </a:r>
            <a:r>
              <a:rPr lang="en-US" sz="2100" dirty="0" err="1">
                <a:solidFill>
                  <a:schemeClr val="dk1"/>
                </a:solidFill>
              </a:rPr>
              <a:t>patrones</a:t>
            </a:r>
            <a:r>
              <a:rPr lang="en-US" sz="2100" dirty="0">
                <a:solidFill>
                  <a:schemeClr val="dk1"/>
                </a:solidFill>
              </a:rPr>
              <a:t> y </a:t>
            </a:r>
            <a:r>
              <a:rPr lang="en-US" sz="2100" dirty="0" err="1">
                <a:solidFill>
                  <a:schemeClr val="dk1"/>
                </a:solidFill>
              </a:rPr>
              <a:t>mejorar</a:t>
            </a:r>
            <a:r>
              <a:rPr lang="en-US" sz="2100" dirty="0">
                <a:solidFill>
                  <a:schemeClr val="dk1"/>
                </a:solidFill>
              </a:rPr>
              <a:t> </a:t>
            </a:r>
            <a:r>
              <a:rPr lang="en-US" sz="2100" dirty="0" err="1">
                <a:solidFill>
                  <a:schemeClr val="dk1"/>
                </a:solidFill>
              </a:rPr>
              <a:t>continuamente</a:t>
            </a:r>
            <a:r>
              <a:rPr lang="en-US" sz="2100" dirty="0">
                <a:solidFill>
                  <a:schemeClr val="dk1"/>
                </a:solidFill>
              </a:rPr>
              <a:t> </a:t>
            </a:r>
            <a:r>
              <a:rPr lang="en-US" sz="2100" dirty="0" err="1">
                <a:solidFill>
                  <a:schemeClr val="dk1"/>
                </a:solidFill>
              </a:rPr>
              <a:t>los</a:t>
            </a:r>
            <a:r>
              <a:rPr lang="en-US" sz="2100" dirty="0">
                <a:solidFill>
                  <a:schemeClr val="dk1"/>
                </a:solidFill>
              </a:rPr>
              <a:t> </a:t>
            </a:r>
            <a:r>
              <a:rPr lang="en-US" sz="2100" dirty="0" err="1">
                <a:solidFill>
                  <a:schemeClr val="dk1"/>
                </a:solidFill>
              </a:rPr>
              <a:t>procesos</a:t>
            </a:r>
            <a:r>
              <a:rPr lang="en-US" sz="2100" dirty="0">
                <a:solidFill>
                  <a:schemeClr val="dk1"/>
                </a:solidFill>
              </a:rPr>
              <a:t> de </a:t>
            </a:r>
            <a:r>
              <a:rPr lang="en-US" sz="2100" dirty="0" err="1">
                <a:solidFill>
                  <a:schemeClr val="dk1"/>
                </a:solidFill>
              </a:rPr>
              <a:t>producción</a:t>
            </a:r>
            <a:r>
              <a:rPr lang="en-US" sz="2100" dirty="0">
                <a:solidFill>
                  <a:schemeClr val="dk1"/>
                </a:solidFill>
              </a:rPr>
              <a:t>.</a:t>
            </a:r>
            <a:endParaRPr sz="2100" dirty="0">
              <a:solidFill>
                <a:schemeClr val="dk1"/>
              </a:solidFill>
            </a:endParaRPr>
          </a:p>
          <a:p>
            <a:pPr marL="0" lvl="0" indent="0" algn="l" rtl="0">
              <a:lnSpc>
                <a:spcPct val="115000"/>
              </a:lnSpc>
              <a:spcBef>
                <a:spcPts val="1200"/>
              </a:spcBef>
              <a:spcAft>
                <a:spcPts val="0"/>
              </a:spcAft>
              <a:buNone/>
            </a:pPr>
            <a:r>
              <a:rPr lang="en-US" sz="2100" b="1" dirty="0" err="1">
                <a:solidFill>
                  <a:schemeClr val="dk1"/>
                </a:solidFill>
              </a:rPr>
              <a:t>Ejemplo</a:t>
            </a:r>
            <a:r>
              <a:rPr lang="en-US" sz="2100" b="1" dirty="0">
                <a:solidFill>
                  <a:schemeClr val="dk1"/>
                </a:solidFill>
              </a:rPr>
              <a:t> de </a:t>
            </a:r>
            <a:r>
              <a:rPr lang="en-US" sz="2100" b="1" dirty="0" err="1">
                <a:solidFill>
                  <a:schemeClr val="dk1"/>
                </a:solidFill>
              </a:rPr>
              <a:t>Mejora</a:t>
            </a:r>
            <a:r>
              <a:rPr lang="en-US" sz="2100" b="1" dirty="0">
                <a:solidFill>
                  <a:schemeClr val="dk1"/>
                </a:solidFill>
              </a:rPr>
              <a:t> Continua:</a:t>
            </a:r>
            <a:endParaRPr sz="2100" b="1" dirty="0">
              <a:solidFill>
                <a:schemeClr val="dk1"/>
              </a:solidFill>
            </a:endParaRPr>
          </a:p>
          <a:p>
            <a:pPr marL="457200" lvl="0" indent="-361950" algn="l" rtl="0">
              <a:lnSpc>
                <a:spcPct val="115000"/>
              </a:lnSpc>
              <a:spcBef>
                <a:spcPts val="1200"/>
              </a:spcBef>
              <a:spcAft>
                <a:spcPts val="0"/>
              </a:spcAft>
              <a:buClr>
                <a:schemeClr val="dk1"/>
              </a:buClr>
              <a:buSzPts val="2100"/>
              <a:buChar char="●"/>
            </a:pPr>
            <a:r>
              <a:rPr lang="en-US" sz="2100" dirty="0">
                <a:solidFill>
                  <a:schemeClr val="dk1"/>
                </a:solidFill>
              </a:rPr>
              <a:t>Siemens </a:t>
            </a:r>
            <a:r>
              <a:rPr lang="en-US" sz="2100" dirty="0" err="1">
                <a:solidFill>
                  <a:schemeClr val="dk1"/>
                </a:solidFill>
              </a:rPr>
              <a:t>emplea</a:t>
            </a:r>
            <a:r>
              <a:rPr lang="en-US" sz="2100" dirty="0">
                <a:solidFill>
                  <a:schemeClr val="dk1"/>
                </a:solidFill>
              </a:rPr>
              <a:t> </a:t>
            </a:r>
            <a:r>
              <a:rPr lang="en-US" sz="2100" dirty="0" err="1">
                <a:solidFill>
                  <a:schemeClr val="dk1"/>
                </a:solidFill>
              </a:rPr>
              <a:t>algoritmos</a:t>
            </a:r>
            <a:r>
              <a:rPr lang="en-US" sz="2100" dirty="0">
                <a:solidFill>
                  <a:schemeClr val="dk1"/>
                </a:solidFill>
              </a:rPr>
              <a:t> de </a:t>
            </a:r>
            <a:r>
              <a:rPr lang="en-US" sz="2100" b="1" dirty="0">
                <a:solidFill>
                  <a:schemeClr val="dk1"/>
                </a:solidFill>
              </a:rPr>
              <a:t>machine learning</a:t>
            </a:r>
            <a:r>
              <a:rPr lang="en-US" sz="2100" dirty="0">
                <a:solidFill>
                  <a:schemeClr val="dk1"/>
                </a:solidFill>
              </a:rPr>
              <a:t> para </a:t>
            </a:r>
            <a:r>
              <a:rPr lang="en-US" sz="2100" dirty="0" err="1">
                <a:solidFill>
                  <a:schemeClr val="dk1"/>
                </a:solidFill>
              </a:rPr>
              <a:t>analizar</a:t>
            </a:r>
            <a:r>
              <a:rPr lang="en-US" sz="2100" dirty="0">
                <a:solidFill>
                  <a:schemeClr val="dk1"/>
                </a:solidFill>
              </a:rPr>
              <a:t> </a:t>
            </a:r>
            <a:r>
              <a:rPr lang="en-US" sz="2100" dirty="0" err="1">
                <a:solidFill>
                  <a:schemeClr val="dk1"/>
                </a:solidFill>
              </a:rPr>
              <a:t>grandes</a:t>
            </a:r>
            <a:r>
              <a:rPr lang="en-US" sz="2100" dirty="0">
                <a:solidFill>
                  <a:schemeClr val="dk1"/>
                </a:solidFill>
              </a:rPr>
              <a:t> </a:t>
            </a:r>
            <a:r>
              <a:rPr lang="en-US" sz="2100" dirty="0" err="1">
                <a:solidFill>
                  <a:schemeClr val="dk1"/>
                </a:solidFill>
              </a:rPr>
              <a:t>volúmenes</a:t>
            </a:r>
            <a:r>
              <a:rPr lang="en-US" sz="2100" dirty="0">
                <a:solidFill>
                  <a:schemeClr val="dk1"/>
                </a:solidFill>
              </a:rPr>
              <a:t> de </a:t>
            </a:r>
            <a:r>
              <a:rPr lang="en-US" sz="2100" dirty="0" err="1">
                <a:solidFill>
                  <a:schemeClr val="dk1"/>
                </a:solidFill>
              </a:rPr>
              <a:t>datos</a:t>
            </a:r>
            <a:r>
              <a:rPr lang="en-US" sz="2100" dirty="0">
                <a:solidFill>
                  <a:schemeClr val="dk1"/>
                </a:solidFill>
              </a:rPr>
              <a:t> </a:t>
            </a:r>
            <a:r>
              <a:rPr lang="en-US" sz="2100" dirty="0" err="1">
                <a:solidFill>
                  <a:schemeClr val="dk1"/>
                </a:solidFill>
              </a:rPr>
              <a:t>históricos</a:t>
            </a:r>
            <a:r>
              <a:rPr lang="en-US" sz="2100" dirty="0">
                <a:solidFill>
                  <a:schemeClr val="dk1"/>
                </a:solidFill>
              </a:rPr>
              <a:t> y </a:t>
            </a:r>
            <a:r>
              <a:rPr lang="en-US" sz="2100" dirty="0" err="1">
                <a:solidFill>
                  <a:schemeClr val="dk1"/>
                </a:solidFill>
              </a:rPr>
              <a:t>operativos</a:t>
            </a:r>
            <a:r>
              <a:rPr lang="en-US" sz="2100" dirty="0">
                <a:solidFill>
                  <a:schemeClr val="dk1"/>
                </a:solidFill>
              </a:rPr>
              <a:t>, con </a:t>
            </a:r>
            <a:r>
              <a:rPr lang="en-US" sz="2100" dirty="0" err="1">
                <a:solidFill>
                  <a:schemeClr val="dk1"/>
                </a:solidFill>
              </a:rPr>
              <a:t>el</a:t>
            </a:r>
            <a:r>
              <a:rPr lang="en-US" sz="2100" dirty="0">
                <a:solidFill>
                  <a:schemeClr val="dk1"/>
                </a:solidFill>
              </a:rPr>
              <a:t> fin de </a:t>
            </a:r>
            <a:r>
              <a:rPr lang="en-US" sz="2100" dirty="0" err="1">
                <a:solidFill>
                  <a:schemeClr val="dk1"/>
                </a:solidFill>
              </a:rPr>
              <a:t>prever</a:t>
            </a:r>
            <a:r>
              <a:rPr lang="en-US" sz="2100" dirty="0">
                <a:solidFill>
                  <a:schemeClr val="dk1"/>
                </a:solidFill>
              </a:rPr>
              <a:t> </a:t>
            </a:r>
            <a:r>
              <a:rPr lang="en-US" sz="2100" dirty="0" err="1">
                <a:solidFill>
                  <a:schemeClr val="dk1"/>
                </a:solidFill>
              </a:rPr>
              <a:t>cuellos</a:t>
            </a:r>
            <a:r>
              <a:rPr lang="en-US" sz="2100" dirty="0">
                <a:solidFill>
                  <a:schemeClr val="dk1"/>
                </a:solidFill>
              </a:rPr>
              <a:t> de </a:t>
            </a:r>
            <a:r>
              <a:rPr lang="en-US" sz="2100" dirty="0" err="1">
                <a:solidFill>
                  <a:schemeClr val="dk1"/>
                </a:solidFill>
              </a:rPr>
              <a:t>botella</a:t>
            </a:r>
            <a:r>
              <a:rPr lang="en-US" sz="2100" dirty="0">
                <a:solidFill>
                  <a:schemeClr val="dk1"/>
                </a:solidFill>
              </a:rPr>
              <a:t> </a:t>
            </a:r>
            <a:r>
              <a:rPr lang="en-US" sz="2100" dirty="0" err="1">
                <a:solidFill>
                  <a:schemeClr val="dk1"/>
                </a:solidFill>
              </a:rPr>
              <a:t>en</a:t>
            </a:r>
            <a:r>
              <a:rPr lang="en-US" sz="2100" dirty="0">
                <a:solidFill>
                  <a:schemeClr val="dk1"/>
                </a:solidFill>
              </a:rPr>
              <a:t> la </a:t>
            </a:r>
            <a:r>
              <a:rPr lang="en-US" sz="2100" dirty="0" err="1">
                <a:solidFill>
                  <a:schemeClr val="dk1"/>
                </a:solidFill>
              </a:rPr>
              <a:t>producción</a:t>
            </a:r>
            <a:r>
              <a:rPr lang="en-US" sz="2100" dirty="0">
                <a:solidFill>
                  <a:schemeClr val="dk1"/>
                </a:solidFill>
              </a:rPr>
              <a:t> o </a:t>
            </a:r>
            <a:r>
              <a:rPr lang="en-US" sz="2100" dirty="0" err="1">
                <a:solidFill>
                  <a:schemeClr val="dk1"/>
                </a:solidFill>
              </a:rPr>
              <a:t>identificar</a:t>
            </a:r>
            <a:r>
              <a:rPr lang="en-US" sz="2100" dirty="0">
                <a:solidFill>
                  <a:schemeClr val="dk1"/>
                </a:solidFill>
              </a:rPr>
              <a:t> </a:t>
            </a:r>
            <a:r>
              <a:rPr lang="en-US" sz="2100" dirty="0" err="1">
                <a:solidFill>
                  <a:schemeClr val="dk1"/>
                </a:solidFill>
              </a:rPr>
              <a:t>patrones</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comportamiento</a:t>
            </a:r>
            <a:r>
              <a:rPr lang="en-US" sz="2100" dirty="0">
                <a:solidFill>
                  <a:schemeClr val="dk1"/>
                </a:solidFill>
              </a:rPr>
              <a:t> de las </a:t>
            </a:r>
            <a:r>
              <a:rPr lang="en-US" sz="2100" dirty="0" err="1">
                <a:solidFill>
                  <a:schemeClr val="dk1"/>
                </a:solidFill>
              </a:rPr>
              <a:t>máquinas</a:t>
            </a:r>
            <a:r>
              <a:rPr lang="en-US" sz="2100" dirty="0">
                <a:solidFill>
                  <a:schemeClr val="dk1"/>
                </a:solidFill>
              </a:rPr>
              <a:t>. </a:t>
            </a:r>
            <a:r>
              <a:rPr lang="en-US" sz="2100" dirty="0" err="1">
                <a:solidFill>
                  <a:schemeClr val="dk1"/>
                </a:solidFill>
              </a:rPr>
              <a:t>Estos</a:t>
            </a:r>
            <a:r>
              <a:rPr lang="en-US" sz="2100" dirty="0">
                <a:solidFill>
                  <a:schemeClr val="dk1"/>
                </a:solidFill>
              </a:rPr>
              <a:t> </a:t>
            </a:r>
            <a:r>
              <a:rPr lang="en-US" sz="2100" dirty="0" err="1">
                <a:solidFill>
                  <a:schemeClr val="dk1"/>
                </a:solidFill>
              </a:rPr>
              <a:t>análisis</a:t>
            </a:r>
            <a:r>
              <a:rPr lang="en-US" sz="2100" dirty="0">
                <a:solidFill>
                  <a:schemeClr val="dk1"/>
                </a:solidFill>
              </a:rPr>
              <a:t> </a:t>
            </a:r>
            <a:r>
              <a:rPr lang="en-US" sz="2100" dirty="0" err="1">
                <a:solidFill>
                  <a:schemeClr val="dk1"/>
                </a:solidFill>
              </a:rPr>
              <a:t>permiten</a:t>
            </a:r>
            <a:r>
              <a:rPr lang="en-US" sz="2100" dirty="0">
                <a:solidFill>
                  <a:schemeClr val="dk1"/>
                </a:solidFill>
              </a:rPr>
              <a:t> a la </a:t>
            </a:r>
            <a:r>
              <a:rPr lang="en-US" sz="2100" dirty="0" err="1">
                <a:solidFill>
                  <a:schemeClr val="dk1"/>
                </a:solidFill>
              </a:rPr>
              <a:t>empresa</a:t>
            </a:r>
            <a:r>
              <a:rPr lang="en-US" sz="2100" dirty="0">
                <a:solidFill>
                  <a:schemeClr val="dk1"/>
                </a:solidFill>
              </a:rPr>
              <a:t> </a:t>
            </a:r>
            <a:r>
              <a:rPr lang="en-US" sz="2100" b="1" dirty="0" err="1">
                <a:solidFill>
                  <a:schemeClr val="dk1"/>
                </a:solidFill>
              </a:rPr>
              <a:t>optimizar</a:t>
            </a:r>
            <a:r>
              <a:rPr lang="en-US" sz="2100" b="1" dirty="0">
                <a:solidFill>
                  <a:schemeClr val="dk1"/>
                </a:solidFill>
              </a:rPr>
              <a:t> </a:t>
            </a:r>
            <a:r>
              <a:rPr lang="en-US" sz="2100" b="1" dirty="0" err="1">
                <a:solidFill>
                  <a:schemeClr val="dk1"/>
                </a:solidFill>
              </a:rPr>
              <a:t>el</a:t>
            </a:r>
            <a:r>
              <a:rPr lang="en-US" sz="2100" b="1" dirty="0">
                <a:solidFill>
                  <a:schemeClr val="dk1"/>
                </a:solidFill>
              </a:rPr>
              <a:t> </a:t>
            </a:r>
            <a:r>
              <a:rPr lang="en-US" sz="2100" b="1" dirty="0" err="1">
                <a:solidFill>
                  <a:schemeClr val="dk1"/>
                </a:solidFill>
              </a:rPr>
              <a:t>flujo</a:t>
            </a:r>
            <a:r>
              <a:rPr lang="en-US" sz="2100" b="1" dirty="0">
                <a:solidFill>
                  <a:schemeClr val="dk1"/>
                </a:solidFill>
              </a:rPr>
              <a:t> de </a:t>
            </a:r>
            <a:r>
              <a:rPr lang="en-US" sz="2100" b="1" dirty="0" err="1">
                <a:solidFill>
                  <a:schemeClr val="dk1"/>
                </a:solidFill>
              </a:rPr>
              <a:t>trabajo</a:t>
            </a:r>
            <a:r>
              <a:rPr lang="en-US" sz="2100" dirty="0">
                <a:solidFill>
                  <a:schemeClr val="dk1"/>
                </a:solidFill>
              </a:rPr>
              <a:t> y </a:t>
            </a:r>
            <a:r>
              <a:rPr lang="en-US" sz="2100" b="1" dirty="0" err="1">
                <a:solidFill>
                  <a:schemeClr val="dk1"/>
                </a:solidFill>
              </a:rPr>
              <a:t>reorganizar</a:t>
            </a:r>
            <a:r>
              <a:rPr lang="en-US" sz="2100" b="1" dirty="0">
                <a:solidFill>
                  <a:schemeClr val="dk1"/>
                </a:solidFill>
              </a:rPr>
              <a:t> la </a:t>
            </a:r>
            <a:r>
              <a:rPr lang="en-US" sz="2100" b="1" dirty="0" err="1">
                <a:solidFill>
                  <a:schemeClr val="dk1"/>
                </a:solidFill>
              </a:rPr>
              <a:t>producción</a:t>
            </a:r>
            <a:r>
              <a:rPr lang="en-US" sz="2100" dirty="0">
                <a:solidFill>
                  <a:schemeClr val="dk1"/>
                </a:solidFill>
              </a:rPr>
              <a:t> de </a:t>
            </a:r>
            <a:r>
              <a:rPr lang="en-US" sz="2100" dirty="0" err="1">
                <a:solidFill>
                  <a:schemeClr val="dk1"/>
                </a:solidFill>
              </a:rPr>
              <a:t>manera</a:t>
            </a:r>
            <a:r>
              <a:rPr lang="en-US" sz="2100" dirty="0">
                <a:solidFill>
                  <a:schemeClr val="dk1"/>
                </a:solidFill>
              </a:rPr>
              <a:t> </a:t>
            </a:r>
            <a:r>
              <a:rPr lang="en-US" sz="2100" dirty="0" err="1">
                <a:solidFill>
                  <a:schemeClr val="dk1"/>
                </a:solidFill>
              </a:rPr>
              <a:t>más</a:t>
            </a:r>
            <a:r>
              <a:rPr lang="en-US" sz="2100" dirty="0">
                <a:solidFill>
                  <a:schemeClr val="dk1"/>
                </a:solidFill>
              </a:rPr>
              <a:t> </a:t>
            </a:r>
            <a:r>
              <a:rPr lang="en-US" sz="2100" dirty="0" err="1">
                <a:solidFill>
                  <a:schemeClr val="dk1"/>
                </a:solidFill>
              </a:rPr>
              <a:t>eficiente</a:t>
            </a:r>
            <a:r>
              <a:rPr lang="en-US" sz="2100" dirty="0">
                <a:solidFill>
                  <a:schemeClr val="dk1"/>
                </a:solidFill>
              </a:rPr>
              <a:t>, </a:t>
            </a:r>
            <a:r>
              <a:rPr lang="en-US" sz="2100" dirty="0" err="1">
                <a:solidFill>
                  <a:schemeClr val="dk1"/>
                </a:solidFill>
              </a:rPr>
              <a:t>según</a:t>
            </a:r>
            <a:r>
              <a:rPr lang="en-US" sz="2100" dirty="0">
                <a:solidFill>
                  <a:schemeClr val="dk1"/>
                </a:solidFill>
              </a:rPr>
              <a:t> las </a:t>
            </a:r>
            <a:r>
              <a:rPr lang="en-US" sz="2100" dirty="0" err="1">
                <a:solidFill>
                  <a:schemeClr val="dk1"/>
                </a:solidFill>
              </a:rPr>
              <a:t>demandas</a:t>
            </a:r>
            <a:r>
              <a:rPr lang="en-US" sz="2100" dirty="0">
                <a:solidFill>
                  <a:schemeClr val="dk1"/>
                </a:solidFill>
              </a:rPr>
              <a:t> del mercado.</a:t>
            </a:r>
            <a:endParaRPr sz="2100" dirty="0">
              <a:solidFill>
                <a:schemeClr val="dk1"/>
              </a:solidFill>
            </a:endParaRPr>
          </a:p>
          <a:p>
            <a:pPr marL="457200" lvl="0" indent="-361950" algn="l" rtl="0">
              <a:lnSpc>
                <a:spcPct val="115000"/>
              </a:lnSpc>
              <a:spcBef>
                <a:spcPts val="0"/>
              </a:spcBef>
              <a:spcAft>
                <a:spcPts val="0"/>
              </a:spcAft>
              <a:buClr>
                <a:schemeClr val="dk1"/>
              </a:buClr>
              <a:buSzPts val="2100"/>
              <a:buChar char="●"/>
            </a:pPr>
            <a:r>
              <a:rPr lang="en-US" sz="2100" dirty="0" err="1">
                <a:solidFill>
                  <a:schemeClr val="dk1"/>
                </a:solidFill>
              </a:rPr>
              <a:t>Además</a:t>
            </a:r>
            <a:r>
              <a:rPr lang="en-US" sz="2100" dirty="0">
                <a:solidFill>
                  <a:schemeClr val="dk1"/>
                </a:solidFill>
              </a:rPr>
              <a:t>, </a:t>
            </a:r>
            <a:r>
              <a:rPr lang="en-US" sz="2100" dirty="0" err="1">
                <a:solidFill>
                  <a:schemeClr val="dk1"/>
                </a:solidFill>
              </a:rPr>
              <a:t>los</a:t>
            </a:r>
            <a:r>
              <a:rPr lang="en-US" sz="2100" dirty="0">
                <a:solidFill>
                  <a:schemeClr val="dk1"/>
                </a:solidFill>
              </a:rPr>
              <a:t> </a:t>
            </a:r>
            <a:r>
              <a:rPr lang="en-US" sz="2100" dirty="0" err="1">
                <a:solidFill>
                  <a:schemeClr val="dk1"/>
                </a:solidFill>
              </a:rPr>
              <a:t>sistemas</a:t>
            </a:r>
            <a:r>
              <a:rPr lang="en-US" sz="2100" dirty="0">
                <a:solidFill>
                  <a:schemeClr val="dk1"/>
                </a:solidFill>
              </a:rPr>
              <a:t> </a:t>
            </a:r>
            <a:r>
              <a:rPr lang="en-US" sz="2100" dirty="0" err="1">
                <a:solidFill>
                  <a:schemeClr val="dk1"/>
                </a:solidFill>
              </a:rPr>
              <a:t>inteligentes</a:t>
            </a:r>
            <a:r>
              <a:rPr lang="en-US" sz="2100" dirty="0">
                <a:solidFill>
                  <a:schemeClr val="dk1"/>
                </a:solidFill>
              </a:rPr>
              <a:t> de Siemens </a:t>
            </a:r>
            <a:r>
              <a:rPr lang="en-US" sz="2100" dirty="0" err="1">
                <a:solidFill>
                  <a:schemeClr val="dk1"/>
                </a:solidFill>
              </a:rPr>
              <a:t>permiten</a:t>
            </a:r>
            <a:r>
              <a:rPr lang="en-US" sz="2100" dirty="0">
                <a:solidFill>
                  <a:schemeClr val="dk1"/>
                </a:solidFill>
              </a:rPr>
              <a:t> la </a:t>
            </a:r>
            <a:r>
              <a:rPr lang="en-US" sz="2100" b="1" dirty="0" err="1">
                <a:solidFill>
                  <a:schemeClr val="dk1"/>
                </a:solidFill>
              </a:rPr>
              <a:t>toma</a:t>
            </a:r>
            <a:r>
              <a:rPr lang="en-US" sz="2100" b="1" dirty="0">
                <a:solidFill>
                  <a:schemeClr val="dk1"/>
                </a:solidFill>
              </a:rPr>
              <a:t> de </a:t>
            </a:r>
            <a:r>
              <a:rPr lang="en-US" sz="2100" b="1" dirty="0" err="1">
                <a:solidFill>
                  <a:schemeClr val="dk1"/>
                </a:solidFill>
              </a:rPr>
              <a:t>decisiones</a:t>
            </a:r>
            <a:r>
              <a:rPr lang="en-US" sz="2100" b="1" dirty="0">
                <a:solidFill>
                  <a:schemeClr val="dk1"/>
                </a:solidFill>
              </a:rPr>
              <a:t> </a:t>
            </a:r>
            <a:r>
              <a:rPr lang="en-US" sz="2100" b="1" dirty="0" err="1">
                <a:solidFill>
                  <a:schemeClr val="dk1"/>
                </a:solidFill>
              </a:rPr>
              <a:t>autónoma</a:t>
            </a:r>
            <a:r>
              <a:rPr lang="en-US" sz="2100" dirty="0">
                <a:solidFill>
                  <a:schemeClr val="dk1"/>
                </a:solidFill>
              </a:rPr>
              <a:t>. Las </a:t>
            </a:r>
            <a:r>
              <a:rPr lang="en-US" sz="2100" dirty="0" err="1">
                <a:solidFill>
                  <a:schemeClr val="dk1"/>
                </a:solidFill>
              </a:rPr>
              <a:t>máquinas</a:t>
            </a:r>
            <a:r>
              <a:rPr lang="en-US" sz="2100" dirty="0">
                <a:solidFill>
                  <a:schemeClr val="dk1"/>
                </a:solidFill>
              </a:rPr>
              <a:t> </a:t>
            </a:r>
            <a:r>
              <a:rPr lang="en-US" sz="2100" dirty="0" err="1">
                <a:solidFill>
                  <a:schemeClr val="dk1"/>
                </a:solidFill>
              </a:rPr>
              <a:t>pueden</a:t>
            </a:r>
            <a:r>
              <a:rPr lang="en-US" sz="2100" dirty="0">
                <a:solidFill>
                  <a:schemeClr val="dk1"/>
                </a:solidFill>
              </a:rPr>
              <a:t> </a:t>
            </a:r>
            <a:r>
              <a:rPr lang="en-US" sz="2100" dirty="0" err="1">
                <a:solidFill>
                  <a:schemeClr val="dk1"/>
                </a:solidFill>
              </a:rPr>
              <a:t>realizar</a:t>
            </a:r>
            <a:r>
              <a:rPr lang="en-US" sz="2100" dirty="0">
                <a:solidFill>
                  <a:schemeClr val="dk1"/>
                </a:solidFill>
              </a:rPr>
              <a:t> </a:t>
            </a:r>
            <a:r>
              <a:rPr lang="en-US" sz="2100" dirty="0" err="1">
                <a:solidFill>
                  <a:schemeClr val="dk1"/>
                </a:solidFill>
              </a:rPr>
              <a:t>ajustes</a:t>
            </a:r>
            <a:r>
              <a:rPr lang="en-US" sz="2100" dirty="0">
                <a:solidFill>
                  <a:schemeClr val="dk1"/>
                </a:solidFill>
              </a:rPr>
              <a:t> </a:t>
            </a:r>
            <a:r>
              <a:rPr lang="en-US" sz="2100" dirty="0" err="1">
                <a:solidFill>
                  <a:schemeClr val="dk1"/>
                </a:solidFill>
              </a:rPr>
              <a:t>automáticos</a:t>
            </a:r>
            <a:r>
              <a:rPr lang="en-US" sz="2100" dirty="0">
                <a:solidFill>
                  <a:schemeClr val="dk1"/>
                </a:solidFill>
              </a:rPr>
              <a:t> </a:t>
            </a:r>
            <a:r>
              <a:rPr lang="en-US" sz="2100" dirty="0" err="1">
                <a:solidFill>
                  <a:schemeClr val="dk1"/>
                </a:solidFill>
              </a:rPr>
              <a:t>basados</a:t>
            </a:r>
            <a:r>
              <a:rPr lang="en-US" sz="2100" dirty="0">
                <a:solidFill>
                  <a:schemeClr val="dk1"/>
                </a:solidFill>
              </a:rPr>
              <a:t> </a:t>
            </a:r>
            <a:r>
              <a:rPr lang="en-US" sz="2100" dirty="0" err="1">
                <a:solidFill>
                  <a:schemeClr val="dk1"/>
                </a:solidFill>
              </a:rPr>
              <a:t>en</a:t>
            </a:r>
            <a:r>
              <a:rPr lang="en-US" sz="2100" dirty="0">
                <a:solidFill>
                  <a:schemeClr val="dk1"/>
                </a:solidFill>
              </a:rPr>
              <a:t> </a:t>
            </a:r>
            <a:r>
              <a:rPr lang="en-US" sz="2100" dirty="0" err="1">
                <a:solidFill>
                  <a:schemeClr val="dk1"/>
                </a:solidFill>
              </a:rPr>
              <a:t>los</a:t>
            </a:r>
            <a:r>
              <a:rPr lang="en-US" sz="2100" dirty="0">
                <a:solidFill>
                  <a:schemeClr val="dk1"/>
                </a:solidFill>
              </a:rPr>
              <a:t> </a:t>
            </a:r>
            <a:r>
              <a:rPr lang="en-US" sz="2100" dirty="0" err="1">
                <a:solidFill>
                  <a:schemeClr val="dk1"/>
                </a:solidFill>
              </a:rPr>
              <a:t>datos</a:t>
            </a:r>
            <a:r>
              <a:rPr lang="en-US" sz="2100" dirty="0">
                <a:solidFill>
                  <a:schemeClr val="dk1"/>
                </a:solidFill>
              </a:rPr>
              <a:t>, sin </a:t>
            </a:r>
            <a:r>
              <a:rPr lang="en-US" sz="2100" dirty="0" err="1">
                <a:solidFill>
                  <a:schemeClr val="dk1"/>
                </a:solidFill>
              </a:rPr>
              <a:t>intervención</a:t>
            </a:r>
            <a:r>
              <a:rPr lang="en-US" sz="2100" dirty="0">
                <a:solidFill>
                  <a:schemeClr val="dk1"/>
                </a:solidFill>
              </a:rPr>
              <a:t> </a:t>
            </a:r>
            <a:r>
              <a:rPr lang="en-US" sz="2100" dirty="0" err="1">
                <a:solidFill>
                  <a:schemeClr val="dk1"/>
                </a:solidFill>
              </a:rPr>
              <a:t>humana</a:t>
            </a:r>
            <a:r>
              <a:rPr lang="en-US" sz="2100" dirty="0">
                <a:solidFill>
                  <a:schemeClr val="dk1"/>
                </a:solidFill>
              </a:rPr>
              <a:t>. Por </a:t>
            </a:r>
            <a:r>
              <a:rPr lang="en-US" sz="2100" dirty="0" err="1">
                <a:solidFill>
                  <a:schemeClr val="dk1"/>
                </a:solidFill>
              </a:rPr>
              <a:t>ejemplo</a:t>
            </a:r>
            <a:r>
              <a:rPr lang="en-US" sz="2100" dirty="0">
                <a:solidFill>
                  <a:schemeClr val="dk1"/>
                </a:solidFill>
              </a:rPr>
              <a:t>, </a:t>
            </a:r>
            <a:r>
              <a:rPr lang="en-US" sz="2100" dirty="0" err="1">
                <a:solidFill>
                  <a:schemeClr val="dk1"/>
                </a:solidFill>
              </a:rPr>
              <a:t>si</a:t>
            </a:r>
            <a:r>
              <a:rPr lang="en-US" sz="2100" dirty="0">
                <a:solidFill>
                  <a:schemeClr val="dk1"/>
                </a:solidFill>
              </a:rPr>
              <a:t> se </a:t>
            </a:r>
            <a:r>
              <a:rPr lang="en-US" sz="2100" dirty="0" err="1">
                <a:solidFill>
                  <a:schemeClr val="dk1"/>
                </a:solidFill>
              </a:rPr>
              <a:t>detecta</a:t>
            </a:r>
            <a:r>
              <a:rPr lang="en-US" sz="2100" dirty="0">
                <a:solidFill>
                  <a:schemeClr val="dk1"/>
                </a:solidFill>
              </a:rPr>
              <a:t> que </a:t>
            </a:r>
            <a:r>
              <a:rPr lang="en-US" sz="2100" dirty="0" err="1">
                <a:solidFill>
                  <a:schemeClr val="dk1"/>
                </a:solidFill>
              </a:rPr>
              <a:t>una</a:t>
            </a:r>
            <a:r>
              <a:rPr lang="en-US" sz="2100" dirty="0">
                <a:solidFill>
                  <a:schemeClr val="dk1"/>
                </a:solidFill>
              </a:rPr>
              <a:t> </a:t>
            </a:r>
            <a:r>
              <a:rPr lang="en-US" sz="2100" dirty="0" err="1">
                <a:solidFill>
                  <a:schemeClr val="dk1"/>
                </a:solidFill>
              </a:rPr>
              <a:t>máquina</a:t>
            </a:r>
            <a:r>
              <a:rPr lang="en-US" sz="2100" dirty="0">
                <a:solidFill>
                  <a:schemeClr val="dk1"/>
                </a:solidFill>
              </a:rPr>
              <a:t> </a:t>
            </a:r>
            <a:r>
              <a:rPr lang="en-US" sz="2100" dirty="0" err="1">
                <a:solidFill>
                  <a:schemeClr val="dk1"/>
                </a:solidFill>
              </a:rPr>
              <a:t>está</a:t>
            </a:r>
            <a:r>
              <a:rPr lang="en-US" sz="2100" dirty="0">
                <a:solidFill>
                  <a:schemeClr val="dk1"/>
                </a:solidFill>
              </a:rPr>
              <a:t> a punto de </a:t>
            </a:r>
            <a:r>
              <a:rPr lang="en-US" sz="2100" dirty="0" err="1">
                <a:solidFill>
                  <a:schemeClr val="dk1"/>
                </a:solidFill>
              </a:rPr>
              <a:t>sobrecalentarse</a:t>
            </a:r>
            <a:r>
              <a:rPr lang="en-US" sz="2100" dirty="0">
                <a:solidFill>
                  <a:schemeClr val="dk1"/>
                </a:solidFill>
              </a:rPr>
              <a:t>, </a:t>
            </a:r>
            <a:r>
              <a:rPr lang="en-US" sz="2100" dirty="0" err="1">
                <a:solidFill>
                  <a:schemeClr val="dk1"/>
                </a:solidFill>
              </a:rPr>
              <a:t>el</a:t>
            </a:r>
            <a:r>
              <a:rPr lang="en-US" sz="2100" dirty="0">
                <a:solidFill>
                  <a:schemeClr val="dk1"/>
                </a:solidFill>
              </a:rPr>
              <a:t> </a:t>
            </a:r>
            <a:r>
              <a:rPr lang="en-US" sz="2100" dirty="0" err="1">
                <a:solidFill>
                  <a:schemeClr val="dk1"/>
                </a:solidFill>
              </a:rPr>
              <a:t>sistema</a:t>
            </a:r>
            <a:r>
              <a:rPr lang="en-US" sz="2100" dirty="0">
                <a:solidFill>
                  <a:schemeClr val="dk1"/>
                </a:solidFill>
              </a:rPr>
              <a:t> </a:t>
            </a:r>
            <a:r>
              <a:rPr lang="en-US" sz="2100" dirty="0" err="1">
                <a:solidFill>
                  <a:schemeClr val="dk1"/>
                </a:solidFill>
              </a:rPr>
              <a:t>ajusta</a:t>
            </a:r>
            <a:r>
              <a:rPr lang="en-US" sz="2100" dirty="0">
                <a:solidFill>
                  <a:schemeClr val="dk1"/>
                </a:solidFill>
              </a:rPr>
              <a:t> </a:t>
            </a:r>
            <a:r>
              <a:rPr lang="en-US" sz="2100" dirty="0" err="1">
                <a:solidFill>
                  <a:schemeClr val="dk1"/>
                </a:solidFill>
              </a:rPr>
              <a:t>automáticamente</a:t>
            </a:r>
            <a:r>
              <a:rPr lang="en-US" sz="2100" dirty="0">
                <a:solidFill>
                  <a:schemeClr val="dk1"/>
                </a:solidFill>
              </a:rPr>
              <a:t> la carga de </a:t>
            </a:r>
            <a:r>
              <a:rPr lang="en-US" sz="2100" dirty="0" err="1">
                <a:solidFill>
                  <a:schemeClr val="dk1"/>
                </a:solidFill>
              </a:rPr>
              <a:t>trabajo</a:t>
            </a:r>
            <a:r>
              <a:rPr lang="en-US" sz="2100" dirty="0">
                <a:solidFill>
                  <a:schemeClr val="dk1"/>
                </a:solidFill>
              </a:rPr>
              <a:t> o </a:t>
            </a:r>
            <a:r>
              <a:rPr lang="en-US" sz="2100" dirty="0" err="1">
                <a:solidFill>
                  <a:schemeClr val="dk1"/>
                </a:solidFill>
              </a:rPr>
              <a:t>activa</a:t>
            </a:r>
            <a:r>
              <a:rPr lang="en-US" sz="2100" dirty="0">
                <a:solidFill>
                  <a:schemeClr val="dk1"/>
                </a:solidFill>
              </a:rPr>
              <a:t> </a:t>
            </a:r>
            <a:r>
              <a:rPr lang="en-US" sz="2100" dirty="0" err="1">
                <a:solidFill>
                  <a:schemeClr val="dk1"/>
                </a:solidFill>
              </a:rPr>
              <a:t>sistemas</a:t>
            </a:r>
            <a:r>
              <a:rPr lang="en-US" sz="2100" dirty="0">
                <a:solidFill>
                  <a:schemeClr val="dk1"/>
                </a:solidFill>
              </a:rPr>
              <a:t> de </a:t>
            </a:r>
            <a:r>
              <a:rPr lang="en-US" sz="2100" dirty="0" err="1">
                <a:solidFill>
                  <a:schemeClr val="dk1"/>
                </a:solidFill>
              </a:rPr>
              <a:t>refrigeración</a:t>
            </a:r>
            <a:r>
              <a:rPr lang="en-US" sz="2100" dirty="0">
                <a:solidFill>
                  <a:schemeClr val="dk1"/>
                </a:solidFill>
              </a:rPr>
              <a:t> para </a:t>
            </a:r>
            <a:r>
              <a:rPr lang="en-US" sz="2100" dirty="0" err="1">
                <a:solidFill>
                  <a:schemeClr val="dk1"/>
                </a:solidFill>
              </a:rPr>
              <a:t>evitar</a:t>
            </a:r>
            <a:r>
              <a:rPr lang="en-US" sz="2100" dirty="0">
                <a:solidFill>
                  <a:schemeClr val="dk1"/>
                </a:solidFill>
              </a:rPr>
              <a:t> </a:t>
            </a:r>
            <a:r>
              <a:rPr lang="en-US" sz="2100" dirty="0" err="1">
                <a:solidFill>
                  <a:schemeClr val="dk1"/>
                </a:solidFill>
              </a:rPr>
              <a:t>problemas</a:t>
            </a:r>
            <a:r>
              <a:rPr lang="en-US" sz="2100" dirty="0">
                <a:solidFill>
                  <a:schemeClr val="dk1"/>
                </a:solidFill>
              </a:rPr>
              <a:t>.</a:t>
            </a:r>
            <a:endParaRPr sz="21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dirty="0">
              <a:solidFill>
                <a:schemeClr val="dk1"/>
              </a:solidFil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dirty="0">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dirty="0">
              <a:solidFill>
                <a:srgbClr val="000000"/>
              </a:solidFill>
              <a:latin typeface="Arial"/>
              <a:ea typeface="Arial"/>
              <a:cs typeface="Arial"/>
              <a:sym typeface="Arial"/>
            </a:endParaRPr>
          </a:p>
        </p:txBody>
      </p:sp>
      <p:pic>
        <p:nvPicPr>
          <p:cNvPr id="219" name="Google Shape;219;g308c30d8e00_0_53"/>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32" name="Google Shape;232;g308c30d8e00_0_69"/>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33" name="Google Shape;233;g308c30d8e00_0_69"/>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Automatización Avanzada y Robótica</a:t>
            </a:r>
            <a:endParaRPr sz="2700" b="1" i="0" u="none" strike="noStrike" cap="none">
              <a:solidFill>
                <a:srgbClr val="F46524"/>
              </a:solidFill>
              <a:latin typeface="Raleway"/>
              <a:ea typeface="Raleway"/>
              <a:cs typeface="Raleway"/>
              <a:sym typeface="Raleway"/>
            </a:endParaRPr>
          </a:p>
        </p:txBody>
      </p:sp>
      <p:sp>
        <p:nvSpPr>
          <p:cNvPr id="234" name="Google Shape;234;g308c30d8e00_0_69"/>
          <p:cNvSpPr txBox="1"/>
          <p:nvPr/>
        </p:nvSpPr>
        <p:spPr>
          <a:xfrm>
            <a:off x="3219000" y="1699550"/>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200" dirty="0">
                <a:solidFill>
                  <a:schemeClr val="dk1"/>
                </a:solidFill>
              </a:rPr>
              <a:t>La </a:t>
            </a:r>
            <a:r>
              <a:rPr lang="en-US" sz="2200" dirty="0" err="1">
                <a:solidFill>
                  <a:schemeClr val="dk1"/>
                </a:solidFill>
              </a:rPr>
              <a:t>automatización</a:t>
            </a:r>
            <a:r>
              <a:rPr lang="en-US" sz="2200" dirty="0">
                <a:solidFill>
                  <a:schemeClr val="dk1"/>
                </a:solidFill>
              </a:rPr>
              <a:t> es </a:t>
            </a:r>
            <a:r>
              <a:rPr lang="en-US" sz="2200" dirty="0" err="1">
                <a:solidFill>
                  <a:schemeClr val="dk1"/>
                </a:solidFill>
              </a:rPr>
              <a:t>otra</a:t>
            </a:r>
            <a:r>
              <a:rPr lang="en-US" sz="2200" dirty="0">
                <a:solidFill>
                  <a:schemeClr val="dk1"/>
                </a:solidFill>
              </a:rPr>
              <a:t> clave para la </a:t>
            </a:r>
            <a:r>
              <a:rPr lang="en-US" sz="2200" dirty="0" err="1">
                <a:solidFill>
                  <a:schemeClr val="dk1"/>
                </a:solidFill>
              </a:rPr>
              <a:t>transformación</a:t>
            </a:r>
            <a:r>
              <a:rPr lang="en-US" sz="2200" dirty="0">
                <a:solidFill>
                  <a:schemeClr val="dk1"/>
                </a:solidFill>
              </a:rPr>
              <a:t> digital de Siemens. Robots y </a:t>
            </a:r>
            <a:r>
              <a:rPr lang="en-US" sz="2200" dirty="0" err="1">
                <a:solidFill>
                  <a:schemeClr val="dk1"/>
                </a:solidFill>
              </a:rPr>
              <a:t>sistemas</a:t>
            </a:r>
            <a:r>
              <a:rPr lang="en-US" sz="2200" dirty="0">
                <a:solidFill>
                  <a:schemeClr val="dk1"/>
                </a:solidFill>
              </a:rPr>
              <a:t> </a:t>
            </a:r>
            <a:r>
              <a:rPr lang="en-US" sz="2200" dirty="0" err="1">
                <a:solidFill>
                  <a:schemeClr val="dk1"/>
                </a:solidFill>
              </a:rPr>
              <a:t>automatizados</a:t>
            </a:r>
            <a:r>
              <a:rPr lang="en-US" sz="2200" dirty="0">
                <a:solidFill>
                  <a:schemeClr val="dk1"/>
                </a:solidFill>
              </a:rPr>
              <a:t> </a:t>
            </a:r>
            <a:r>
              <a:rPr lang="en-US" sz="2200" dirty="0" err="1">
                <a:solidFill>
                  <a:schemeClr val="dk1"/>
                </a:solidFill>
              </a:rPr>
              <a:t>manejan</a:t>
            </a:r>
            <a:r>
              <a:rPr lang="en-US" sz="2200" dirty="0">
                <a:solidFill>
                  <a:schemeClr val="dk1"/>
                </a:solidFill>
              </a:rPr>
              <a:t> gran </a:t>
            </a:r>
            <a:r>
              <a:rPr lang="en-US" sz="2200" dirty="0" err="1">
                <a:solidFill>
                  <a:schemeClr val="dk1"/>
                </a:solidFill>
              </a:rPr>
              <a:t>parte</a:t>
            </a:r>
            <a:r>
              <a:rPr lang="en-US" sz="2200" dirty="0">
                <a:solidFill>
                  <a:schemeClr val="dk1"/>
                </a:solidFill>
              </a:rPr>
              <a:t> del </a:t>
            </a:r>
            <a:r>
              <a:rPr lang="en-US" sz="2200" dirty="0" err="1">
                <a:solidFill>
                  <a:schemeClr val="dk1"/>
                </a:solidFill>
              </a:rPr>
              <a:t>proceso</a:t>
            </a:r>
            <a:r>
              <a:rPr lang="en-US" sz="2200" dirty="0">
                <a:solidFill>
                  <a:schemeClr val="dk1"/>
                </a:solidFill>
              </a:rPr>
              <a:t> de </a:t>
            </a:r>
            <a:r>
              <a:rPr lang="en-US" sz="2200" dirty="0" err="1">
                <a:solidFill>
                  <a:schemeClr val="dk1"/>
                </a:solidFill>
              </a:rPr>
              <a:t>fabricación</a:t>
            </a:r>
            <a:r>
              <a:rPr lang="en-US" sz="2200" dirty="0">
                <a:solidFill>
                  <a:schemeClr val="dk1"/>
                </a:solidFill>
              </a:rPr>
              <a:t> </a:t>
            </a:r>
            <a:r>
              <a:rPr lang="en-US" sz="2200" dirty="0" err="1">
                <a:solidFill>
                  <a:schemeClr val="dk1"/>
                </a:solidFill>
              </a:rPr>
              <a:t>en</a:t>
            </a:r>
            <a:r>
              <a:rPr lang="en-US" sz="2200" dirty="0">
                <a:solidFill>
                  <a:schemeClr val="dk1"/>
                </a:solidFill>
              </a:rPr>
              <a:t> las </a:t>
            </a:r>
            <a:r>
              <a:rPr lang="en-US" sz="2200" dirty="0" err="1">
                <a:solidFill>
                  <a:schemeClr val="dk1"/>
                </a:solidFill>
              </a:rPr>
              <a:t>fábricas</a:t>
            </a:r>
            <a:r>
              <a:rPr lang="en-US" sz="2200" dirty="0">
                <a:solidFill>
                  <a:schemeClr val="dk1"/>
                </a:solidFill>
              </a:rPr>
              <a:t> de Siemens, </a:t>
            </a:r>
            <a:r>
              <a:rPr lang="en-US" sz="2200" dirty="0" err="1">
                <a:solidFill>
                  <a:schemeClr val="dk1"/>
                </a:solidFill>
              </a:rPr>
              <a:t>desde</a:t>
            </a:r>
            <a:r>
              <a:rPr lang="en-US" sz="2200" dirty="0">
                <a:solidFill>
                  <a:schemeClr val="dk1"/>
                </a:solidFill>
              </a:rPr>
              <a:t> </a:t>
            </a:r>
            <a:r>
              <a:rPr lang="en-US" sz="2200" dirty="0" err="1">
                <a:solidFill>
                  <a:schemeClr val="dk1"/>
                </a:solidFill>
              </a:rPr>
              <a:t>el</a:t>
            </a:r>
            <a:r>
              <a:rPr lang="en-US" sz="2200" dirty="0">
                <a:solidFill>
                  <a:schemeClr val="dk1"/>
                </a:solidFill>
              </a:rPr>
              <a:t> </a:t>
            </a:r>
            <a:r>
              <a:rPr lang="en-US" sz="2200" dirty="0" err="1">
                <a:solidFill>
                  <a:schemeClr val="dk1"/>
                </a:solidFill>
              </a:rPr>
              <a:t>ensamblaje</a:t>
            </a:r>
            <a:r>
              <a:rPr lang="en-US" sz="2200" dirty="0">
                <a:solidFill>
                  <a:schemeClr val="dk1"/>
                </a:solidFill>
              </a:rPr>
              <a:t> hasta </a:t>
            </a:r>
            <a:r>
              <a:rPr lang="en-US" sz="2200" dirty="0" err="1">
                <a:solidFill>
                  <a:schemeClr val="dk1"/>
                </a:solidFill>
              </a:rPr>
              <a:t>el</a:t>
            </a:r>
            <a:r>
              <a:rPr lang="en-US" sz="2200" dirty="0">
                <a:solidFill>
                  <a:schemeClr val="dk1"/>
                </a:solidFill>
              </a:rPr>
              <a:t> </a:t>
            </a:r>
            <a:r>
              <a:rPr lang="en-US" sz="2200" dirty="0" err="1">
                <a:solidFill>
                  <a:schemeClr val="dk1"/>
                </a:solidFill>
              </a:rPr>
              <a:t>empaquetado</a:t>
            </a:r>
            <a:r>
              <a:rPr lang="en-US" sz="2200" dirty="0">
                <a:solidFill>
                  <a:schemeClr val="dk1"/>
                </a:solidFill>
              </a:rPr>
              <a:t>, lo que </a:t>
            </a:r>
            <a:r>
              <a:rPr lang="en-US" sz="2200" dirty="0" err="1">
                <a:solidFill>
                  <a:schemeClr val="dk1"/>
                </a:solidFill>
              </a:rPr>
              <a:t>minimiza</a:t>
            </a:r>
            <a:r>
              <a:rPr lang="en-US" sz="2200" dirty="0">
                <a:solidFill>
                  <a:schemeClr val="dk1"/>
                </a:solidFill>
              </a:rPr>
              <a:t> la </a:t>
            </a:r>
            <a:r>
              <a:rPr lang="en-US" sz="2200" dirty="0" err="1">
                <a:solidFill>
                  <a:schemeClr val="dk1"/>
                </a:solidFill>
              </a:rPr>
              <a:t>intervención</a:t>
            </a:r>
            <a:r>
              <a:rPr lang="en-US" sz="2200" dirty="0">
                <a:solidFill>
                  <a:schemeClr val="dk1"/>
                </a:solidFill>
              </a:rPr>
              <a:t> </a:t>
            </a:r>
            <a:r>
              <a:rPr lang="en-US" sz="2200" dirty="0" err="1">
                <a:solidFill>
                  <a:schemeClr val="dk1"/>
                </a:solidFill>
              </a:rPr>
              <a:t>humana</a:t>
            </a:r>
            <a:r>
              <a:rPr lang="en-US" sz="2200" dirty="0">
                <a:solidFill>
                  <a:schemeClr val="dk1"/>
                </a:solidFill>
              </a:rPr>
              <a:t> </a:t>
            </a:r>
            <a:r>
              <a:rPr lang="en-US" sz="2200" dirty="0" err="1">
                <a:solidFill>
                  <a:schemeClr val="dk1"/>
                </a:solidFill>
              </a:rPr>
              <a:t>en</a:t>
            </a:r>
            <a:r>
              <a:rPr lang="en-US" sz="2200" dirty="0">
                <a:solidFill>
                  <a:schemeClr val="dk1"/>
                </a:solidFill>
              </a:rPr>
              <a:t> </a:t>
            </a:r>
            <a:r>
              <a:rPr lang="en-US" sz="2200" dirty="0" err="1">
                <a:solidFill>
                  <a:schemeClr val="dk1"/>
                </a:solidFill>
              </a:rPr>
              <a:t>tareas</a:t>
            </a:r>
            <a:r>
              <a:rPr lang="en-US" sz="2200" dirty="0">
                <a:solidFill>
                  <a:schemeClr val="dk1"/>
                </a:solidFill>
              </a:rPr>
              <a:t> </a:t>
            </a:r>
            <a:r>
              <a:rPr lang="en-US" sz="2200" dirty="0" err="1">
                <a:solidFill>
                  <a:schemeClr val="dk1"/>
                </a:solidFill>
              </a:rPr>
              <a:t>repetitivas</a:t>
            </a:r>
            <a:r>
              <a:rPr lang="en-US" sz="2200" dirty="0">
                <a:solidFill>
                  <a:schemeClr val="dk1"/>
                </a:solidFill>
              </a:rPr>
              <a:t> y </a:t>
            </a:r>
            <a:r>
              <a:rPr lang="en-US" sz="2200" dirty="0" err="1">
                <a:solidFill>
                  <a:schemeClr val="dk1"/>
                </a:solidFill>
              </a:rPr>
              <a:t>optimiza</a:t>
            </a:r>
            <a:r>
              <a:rPr lang="en-US" sz="2200" dirty="0">
                <a:solidFill>
                  <a:schemeClr val="dk1"/>
                </a:solidFill>
              </a:rPr>
              <a:t> </a:t>
            </a:r>
            <a:r>
              <a:rPr lang="en-US" sz="2200" dirty="0" err="1">
                <a:solidFill>
                  <a:schemeClr val="dk1"/>
                </a:solidFill>
              </a:rPr>
              <a:t>los</a:t>
            </a:r>
            <a:r>
              <a:rPr lang="en-US" sz="2200" dirty="0">
                <a:solidFill>
                  <a:schemeClr val="dk1"/>
                </a:solidFill>
              </a:rPr>
              <a:t> </a:t>
            </a:r>
            <a:r>
              <a:rPr lang="en-US" sz="2200" dirty="0" err="1">
                <a:solidFill>
                  <a:schemeClr val="dk1"/>
                </a:solidFill>
              </a:rPr>
              <a:t>tiempos</a:t>
            </a:r>
            <a:r>
              <a:rPr lang="en-US" sz="2200" dirty="0">
                <a:solidFill>
                  <a:schemeClr val="dk1"/>
                </a:solidFill>
              </a:rPr>
              <a:t> de </a:t>
            </a:r>
            <a:r>
              <a:rPr lang="en-US" sz="2200" dirty="0" err="1">
                <a:solidFill>
                  <a:schemeClr val="dk1"/>
                </a:solidFill>
              </a:rPr>
              <a:t>producción</a:t>
            </a:r>
            <a:r>
              <a:rPr lang="en-US" sz="2200" dirty="0">
                <a:solidFill>
                  <a:schemeClr val="dk1"/>
                </a:solidFill>
              </a:rPr>
              <a:t>.</a:t>
            </a:r>
            <a:endParaRPr sz="2200" dirty="0">
              <a:solidFill>
                <a:schemeClr val="dk1"/>
              </a:solidFill>
            </a:endParaRPr>
          </a:p>
          <a:p>
            <a:pPr marL="0" lvl="0" indent="0" algn="l" rtl="0">
              <a:lnSpc>
                <a:spcPct val="115000"/>
              </a:lnSpc>
              <a:spcBef>
                <a:spcPts val="1200"/>
              </a:spcBef>
              <a:spcAft>
                <a:spcPts val="0"/>
              </a:spcAft>
              <a:buNone/>
            </a:pPr>
            <a:r>
              <a:rPr lang="en-US" sz="2200" b="1" dirty="0" err="1">
                <a:solidFill>
                  <a:schemeClr val="dk1"/>
                </a:solidFill>
              </a:rPr>
              <a:t>Ejemplo</a:t>
            </a:r>
            <a:r>
              <a:rPr lang="en-US" sz="2200" b="1" dirty="0">
                <a:solidFill>
                  <a:schemeClr val="dk1"/>
                </a:solidFill>
              </a:rPr>
              <a:t> de </a:t>
            </a:r>
            <a:r>
              <a:rPr lang="en-US" sz="2200" b="1" dirty="0" err="1">
                <a:solidFill>
                  <a:schemeClr val="dk1"/>
                </a:solidFill>
              </a:rPr>
              <a:t>Automatización</a:t>
            </a:r>
            <a:r>
              <a:rPr lang="en-US" sz="2200" b="1" dirty="0">
                <a:solidFill>
                  <a:schemeClr val="dk1"/>
                </a:solidFill>
              </a:rPr>
              <a:t>:</a:t>
            </a:r>
            <a:endParaRPr sz="2200" b="1" dirty="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dirty="0">
                <a:solidFill>
                  <a:schemeClr val="dk1"/>
                </a:solidFill>
              </a:rPr>
              <a:t>Siemens </a:t>
            </a:r>
            <a:r>
              <a:rPr lang="en-US" sz="2200" dirty="0" err="1">
                <a:solidFill>
                  <a:schemeClr val="dk1"/>
                </a:solidFill>
              </a:rPr>
              <a:t>utiliza</a:t>
            </a:r>
            <a:r>
              <a:rPr lang="en-US" sz="2200" dirty="0">
                <a:solidFill>
                  <a:schemeClr val="dk1"/>
                </a:solidFill>
              </a:rPr>
              <a:t> </a:t>
            </a:r>
            <a:r>
              <a:rPr lang="en-US" sz="2200" b="1" dirty="0" err="1">
                <a:solidFill>
                  <a:schemeClr val="dk1"/>
                </a:solidFill>
              </a:rPr>
              <a:t>brazos</a:t>
            </a:r>
            <a:r>
              <a:rPr lang="en-US" sz="2200" b="1" dirty="0">
                <a:solidFill>
                  <a:schemeClr val="dk1"/>
                </a:solidFill>
              </a:rPr>
              <a:t> </a:t>
            </a:r>
            <a:r>
              <a:rPr lang="en-US" sz="2200" b="1" dirty="0" err="1">
                <a:solidFill>
                  <a:schemeClr val="dk1"/>
                </a:solidFill>
              </a:rPr>
              <a:t>robóticos</a:t>
            </a:r>
            <a:r>
              <a:rPr lang="en-US" sz="2200" b="1" dirty="0">
                <a:solidFill>
                  <a:schemeClr val="dk1"/>
                </a:solidFill>
              </a:rPr>
              <a:t> y </a:t>
            </a:r>
            <a:r>
              <a:rPr lang="en-US" sz="2200" b="1" dirty="0" err="1">
                <a:solidFill>
                  <a:schemeClr val="dk1"/>
                </a:solidFill>
              </a:rPr>
              <a:t>máquinas</a:t>
            </a:r>
            <a:r>
              <a:rPr lang="en-US" sz="2200" b="1" dirty="0">
                <a:solidFill>
                  <a:schemeClr val="dk1"/>
                </a:solidFill>
              </a:rPr>
              <a:t> </a:t>
            </a:r>
            <a:r>
              <a:rPr lang="en-US" sz="2200" b="1" dirty="0" err="1">
                <a:solidFill>
                  <a:schemeClr val="dk1"/>
                </a:solidFill>
              </a:rPr>
              <a:t>automatizadas</a:t>
            </a:r>
            <a:r>
              <a:rPr lang="en-US" sz="2200" dirty="0">
                <a:solidFill>
                  <a:schemeClr val="dk1"/>
                </a:solidFill>
              </a:rPr>
              <a:t> que </a:t>
            </a:r>
            <a:r>
              <a:rPr lang="en-US" sz="2200" dirty="0" err="1">
                <a:solidFill>
                  <a:schemeClr val="dk1"/>
                </a:solidFill>
              </a:rPr>
              <a:t>trabajan</a:t>
            </a:r>
            <a:r>
              <a:rPr lang="en-US" sz="2200" dirty="0">
                <a:solidFill>
                  <a:schemeClr val="dk1"/>
                </a:solidFill>
              </a:rPr>
              <a:t> </a:t>
            </a:r>
            <a:r>
              <a:rPr lang="en-US" sz="2200" dirty="0" err="1">
                <a:solidFill>
                  <a:schemeClr val="dk1"/>
                </a:solidFill>
              </a:rPr>
              <a:t>en</a:t>
            </a:r>
            <a:r>
              <a:rPr lang="en-US" sz="2200" dirty="0">
                <a:solidFill>
                  <a:schemeClr val="dk1"/>
                </a:solidFill>
              </a:rPr>
              <a:t> conjunto con </a:t>
            </a:r>
            <a:r>
              <a:rPr lang="en-US" sz="2200" dirty="0" err="1">
                <a:solidFill>
                  <a:schemeClr val="dk1"/>
                </a:solidFill>
              </a:rPr>
              <a:t>los</a:t>
            </a:r>
            <a:r>
              <a:rPr lang="en-US" sz="2200" dirty="0">
                <a:solidFill>
                  <a:schemeClr val="dk1"/>
                </a:solidFill>
              </a:rPr>
              <a:t> </a:t>
            </a:r>
            <a:r>
              <a:rPr lang="en-US" sz="2200" dirty="0" err="1">
                <a:solidFill>
                  <a:schemeClr val="dk1"/>
                </a:solidFill>
              </a:rPr>
              <a:t>sistemas</a:t>
            </a:r>
            <a:r>
              <a:rPr lang="en-US" sz="2200" dirty="0">
                <a:solidFill>
                  <a:schemeClr val="dk1"/>
                </a:solidFill>
              </a:rPr>
              <a:t> de IoT para </a:t>
            </a:r>
            <a:r>
              <a:rPr lang="en-US" sz="2200" dirty="0" err="1">
                <a:solidFill>
                  <a:schemeClr val="dk1"/>
                </a:solidFill>
              </a:rPr>
              <a:t>ejecutar</a:t>
            </a:r>
            <a:r>
              <a:rPr lang="en-US" sz="2200" dirty="0">
                <a:solidFill>
                  <a:schemeClr val="dk1"/>
                </a:solidFill>
              </a:rPr>
              <a:t> </a:t>
            </a:r>
            <a:r>
              <a:rPr lang="en-US" sz="2200" dirty="0" err="1">
                <a:solidFill>
                  <a:schemeClr val="dk1"/>
                </a:solidFill>
              </a:rPr>
              <a:t>tareas</a:t>
            </a:r>
            <a:r>
              <a:rPr lang="en-US" sz="2200" dirty="0">
                <a:solidFill>
                  <a:schemeClr val="dk1"/>
                </a:solidFill>
              </a:rPr>
              <a:t> </a:t>
            </a:r>
            <a:r>
              <a:rPr lang="en-US" sz="2200" dirty="0" err="1">
                <a:solidFill>
                  <a:schemeClr val="dk1"/>
                </a:solidFill>
              </a:rPr>
              <a:t>complejas</a:t>
            </a:r>
            <a:r>
              <a:rPr lang="en-US" sz="2200" dirty="0">
                <a:solidFill>
                  <a:schemeClr val="dk1"/>
                </a:solidFill>
              </a:rPr>
              <a:t> de </a:t>
            </a:r>
            <a:r>
              <a:rPr lang="en-US" sz="2200" dirty="0" err="1">
                <a:solidFill>
                  <a:schemeClr val="dk1"/>
                </a:solidFill>
              </a:rPr>
              <a:t>manera</a:t>
            </a:r>
            <a:r>
              <a:rPr lang="en-US" sz="2200" dirty="0">
                <a:solidFill>
                  <a:schemeClr val="dk1"/>
                </a:solidFill>
              </a:rPr>
              <a:t> </a:t>
            </a:r>
            <a:r>
              <a:rPr lang="en-US" sz="2200" dirty="0" err="1">
                <a:solidFill>
                  <a:schemeClr val="dk1"/>
                </a:solidFill>
              </a:rPr>
              <a:t>autónoma</a:t>
            </a:r>
            <a:r>
              <a:rPr lang="en-US" sz="2200" dirty="0">
                <a:solidFill>
                  <a:schemeClr val="dk1"/>
                </a:solidFill>
              </a:rPr>
              <a:t>, </a:t>
            </a:r>
            <a:r>
              <a:rPr lang="en-US" sz="2200" dirty="0" err="1">
                <a:solidFill>
                  <a:schemeClr val="dk1"/>
                </a:solidFill>
              </a:rPr>
              <a:t>como</a:t>
            </a:r>
            <a:r>
              <a:rPr lang="en-US" sz="2200" dirty="0">
                <a:solidFill>
                  <a:schemeClr val="dk1"/>
                </a:solidFill>
              </a:rPr>
              <a:t> </a:t>
            </a:r>
            <a:r>
              <a:rPr lang="en-US" sz="2200" dirty="0" err="1">
                <a:solidFill>
                  <a:schemeClr val="dk1"/>
                </a:solidFill>
              </a:rPr>
              <a:t>el</a:t>
            </a:r>
            <a:r>
              <a:rPr lang="en-US" sz="2200" dirty="0">
                <a:solidFill>
                  <a:schemeClr val="dk1"/>
                </a:solidFill>
              </a:rPr>
              <a:t> </a:t>
            </a:r>
            <a:r>
              <a:rPr lang="en-US" sz="2200" dirty="0" err="1">
                <a:solidFill>
                  <a:schemeClr val="dk1"/>
                </a:solidFill>
              </a:rPr>
              <a:t>ensamblaje</a:t>
            </a:r>
            <a:r>
              <a:rPr lang="en-US" sz="2200" dirty="0">
                <a:solidFill>
                  <a:schemeClr val="dk1"/>
                </a:solidFill>
              </a:rPr>
              <a:t> de </a:t>
            </a:r>
            <a:r>
              <a:rPr lang="en-US" sz="2200" dirty="0" err="1">
                <a:solidFill>
                  <a:schemeClr val="dk1"/>
                </a:solidFill>
              </a:rPr>
              <a:t>productos</a:t>
            </a:r>
            <a:r>
              <a:rPr lang="en-US" sz="2200" dirty="0">
                <a:solidFill>
                  <a:schemeClr val="dk1"/>
                </a:solidFill>
              </a:rPr>
              <a:t> </a:t>
            </a:r>
            <a:r>
              <a:rPr lang="en-US" sz="2200" dirty="0" err="1">
                <a:solidFill>
                  <a:schemeClr val="dk1"/>
                </a:solidFill>
              </a:rPr>
              <a:t>electrónicos</a:t>
            </a:r>
            <a:r>
              <a:rPr lang="en-US" sz="2200" dirty="0">
                <a:solidFill>
                  <a:schemeClr val="dk1"/>
                </a:solidFill>
              </a:rPr>
              <a:t> o </a:t>
            </a:r>
            <a:r>
              <a:rPr lang="en-US" sz="2200" dirty="0" err="1">
                <a:solidFill>
                  <a:schemeClr val="dk1"/>
                </a:solidFill>
              </a:rPr>
              <a:t>el</a:t>
            </a:r>
            <a:r>
              <a:rPr lang="en-US" sz="2200" dirty="0">
                <a:solidFill>
                  <a:schemeClr val="dk1"/>
                </a:solidFill>
              </a:rPr>
              <a:t> </a:t>
            </a:r>
            <a:r>
              <a:rPr lang="en-US" sz="2200" dirty="0" err="1">
                <a:solidFill>
                  <a:schemeClr val="dk1"/>
                </a:solidFill>
              </a:rPr>
              <a:t>manejo</a:t>
            </a:r>
            <a:r>
              <a:rPr lang="en-US" sz="2200" dirty="0">
                <a:solidFill>
                  <a:schemeClr val="dk1"/>
                </a:solidFill>
              </a:rPr>
              <a:t> de </a:t>
            </a:r>
            <a:r>
              <a:rPr lang="en-US" sz="2200" dirty="0" err="1">
                <a:solidFill>
                  <a:schemeClr val="dk1"/>
                </a:solidFill>
              </a:rPr>
              <a:t>piezas</a:t>
            </a:r>
            <a:r>
              <a:rPr lang="en-US" sz="2200" dirty="0">
                <a:solidFill>
                  <a:schemeClr val="dk1"/>
                </a:solidFill>
              </a:rPr>
              <a:t> </a:t>
            </a:r>
            <a:r>
              <a:rPr lang="en-US" sz="2200" dirty="0" err="1">
                <a:solidFill>
                  <a:schemeClr val="dk1"/>
                </a:solidFill>
              </a:rPr>
              <a:t>en</a:t>
            </a:r>
            <a:r>
              <a:rPr lang="en-US" sz="2200" dirty="0">
                <a:solidFill>
                  <a:schemeClr val="dk1"/>
                </a:solidFill>
              </a:rPr>
              <a:t> </a:t>
            </a:r>
            <a:r>
              <a:rPr lang="en-US" sz="2200" dirty="0" err="1">
                <a:solidFill>
                  <a:schemeClr val="dk1"/>
                </a:solidFill>
              </a:rPr>
              <a:t>entornos</a:t>
            </a:r>
            <a:r>
              <a:rPr lang="en-US" sz="2200" dirty="0">
                <a:solidFill>
                  <a:schemeClr val="dk1"/>
                </a:solidFill>
              </a:rPr>
              <a:t> </a:t>
            </a:r>
            <a:r>
              <a:rPr lang="en-US" sz="2200" dirty="0" err="1">
                <a:solidFill>
                  <a:schemeClr val="dk1"/>
                </a:solidFill>
              </a:rPr>
              <a:t>delicados</a:t>
            </a:r>
            <a:r>
              <a:rPr lang="en-US" sz="2200" dirty="0">
                <a:solidFill>
                  <a:schemeClr val="dk1"/>
                </a:solidFill>
              </a:rPr>
              <a:t>. </a:t>
            </a:r>
            <a:r>
              <a:rPr lang="en-US" sz="2200" dirty="0" err="1">
                <a:solidFill>
                  <a:schemeClr val="dk1"/>
                </a:solidFill>
              </a:rPr>
              <a:t>Estos</a:t>
            </a:r>
            <a:r>
              <a:rPr lang="en-US" sz="2200" dirty="0">
                <a:solidFill>
                  <a:schemeClr val="dk1"/>
                </a:solidFill>
              </a:rPr>
              <a:t> robots </a:t>
            </a:r>
            <a:r>
              <a:rPr lang="en-US" sz="2200" dirty="0" err="1">
                <a:solidFill>
                  <a:schemeClr val="dk1"/>
                </a:solidFill>
              </a:rPr>
              <a:t>están</a:t>
            </a:r>
            <a:r>
              <a:rPr lang="en-US" sz="2200" dirty="0">
                <a:solidFill>
                  <a:schemeClr val="dk1"/>
                </a:solidFill>
              </a:rPr>
              <a:t> </a:t>
            </a:r>
            <a:r>
              <a:rPr lang="en-US" sz="2200" dirty="0" err="1">
                <a:solidFill>
                  <a:schemeClr val="dk1"/>
                </a:solidFill>
              </a:rPr>
              <a:t>conectados</a:t>
            </a:r>
            <a:r>
              <a:rPr lang="en-US" sz="2200" dirty="0">
                <a:solidFill>
                  <a:schemeClr val="dk1"/>
                </a:solidFill>
              </a:rPr>
              <a:t> a la red y, </a:t>
            </a:r>
            <a:r>
              <a:rPr lang="en-US" sz="2200" dirty="0" err="1">
                <a:solidFill>
                  <a:schemeClr val="dk1"/>
                </a:solidFill>
              </a:rPr>
              <a:t>mediante</a:t>
            </a:r>
            <a:r>
              <a:rPr lang="en-US" sz="2200" dirty="0">
                <a:solidFill>
                  <a:schemeClr val="dk1"/>
                </a:solidFill>
              </a:rPr>
              <a:t> </a:t>
            </a:r>
            <a:r>
              <a:rPr lang="en-US" sz="2200" dirty="0" err="1">
                <a:solidFill>
                  <a:schemeClr val="dk1"/>
                </a:solidFill>
              </a:rPr>
              <a:t>algoritmos</a:t>
            </a:r>
            <a:r>
              <a:rPr lang="en-US" sz="2200" dirty="0">
                <a:solidFill>
                  <a:schemeClr val="dk1"/>
                </a:solidFill>
              </a:rPr>
              <a:t> de IA, </a:t>
            </a:r>
            <a:r>
              <a:rPr lang="en-US" sz="2200" dirty="0" err="1">
                <a:solidFill>
                  <a:schemeClr val="dk1"/>
                </a:solidFill>
              </a:rPr>
              <a:t>aprenden</a:t>
            </a:r>
            <a:r>
              <a:rPr lang="en-US" sz="2200" dirty="0">
                <a:solidFill>
                  <a:schemeClr val="dk1"/>
                </a:solidFill>
              </a:rPr>
              <a:t> y </a:t>
            </a:r>
            <a:r>
              <a:rPr lang="en-US" sz="2200" dirty="0" err="1">
                <a:solidFill>
                  <a:schemeClr val="dk1"/>
                </a:solidFill>
              </a:rPr>
              <a:t>optimizan</a:t>
            </a:r>
            <a:r>
              <a:rPr lang="en-US" sz="2200" dirty="0">
                <a:solidFill>
                  <a:schemeClr val="dk1"/>
                </a:solidFill>
              </a:rPr>
              <a:t> sus </a:t>
            </a:r>
            <a:r>
              <a:rPr lang="en-US" sz="2200" dirty="0" err="1">
                <a:solidFill>
                  <a:schemeClr val="dk1"/>
                </a:solidFill>
              </a:rPr>
              <a:t>movimientos</a:t>
            </a:r>
            <a:r>
              <a:rPr lang="en-US" sz="2200" dirty="0">
                <a:solidFill>
                  <a:schemeClr val="dk1"/>
                </a:solidFill>
              </a:rPr>
              <a:t> para </a:t>
            </a:r>
            <a:r>
              <a:rPr lang="en-US" sz="2200" dirty="0" err="1">
                <a:solidFill>
                  <a:schemeClr val="dk1"/>
                </a:solidFill>
              </a:rPr>
              <a:t>mejorar</a:t>
            </a:r>
            <a:r>
              <a:rPr lang="en-US" sz="2200" dirty="0">
                <a:solidFill>
                  <a:schemeClr val="dk1"/>
                </a:solidFill>
              </a:rPr>
              <a:t> la </a:t>
            </a:r>
            <a:r>
              <a:rPr lang="en-US" sz="2200" dirty="0" err="1">
                <a:solidFill>
                  <a:schemeClr val="dk1"/>
                </a:solidFill>
              </a:rPr>
              <a:t>precisión</a:t>
            </a:r>
            <a:r>
              <a:rPr lang="en-US" sz="2200" dirty="0">
                <a:solidFill>
                  <a:schemeClr val="dk1"/>
                </a:solidFill>
              </a:rPr>
              <a:t> y la </a:t>
            </a:r>
            <a:r>
              <a:rPr lang="en-US" sz="2200" dirty="0" err="1">
                <a:solidFill>
                  <a:schemeClr val="dk1"/>
                </a:solidFill>
              </a:rPr>
              <a:t>velocidad</a:t>
            </a:r>
            <a:r>
              <a:rPr lang="en-US" sz="2200" dirty="0">
                <a:solidFill>
                  <a:schemeClr val="dk1"/>
                </a:solidFill>
              </a:rPr>
              <a:t> </a:t>
            </a:r>
            <a:r>
              <a:rPr lang="en-US" sz="2200" dirty="0" err="1">
                <a:solidFill>
                  <a:schemeClr val="dk1"/>
                </a:solidFill>
              </a:rPr>
              <a:t>en</a:t>
            </a:r>
            <a:r>
              <a:rPr lang="en-US" sz="2200" dirty="0">
                <a:solidFill>
                  <a:schemeClr val="dk1"/>
                </a:solidFill>
              </a:rPr>
              <a:t> </a:t>
            </a:r>
            <a:r>
              <a:rPr lang="en-US" sz="2200" dirty="0" err="1">
                <a:solidFill>
                  <a:schemeClr val="dk1"/>
                </a:solidFill>
              </a:rPr>
              <a:t>cada</a:t>
            </a:r>
            <a:r>
              <a:rPr lang="en-US" sz="2200" dirty="0">
                <a:solidFill>
                  <a:schemeClr val="dk1"/>
                </a:solidFill>
              </a:rPr>
              <a:t> </a:t>
            </a:r>
            <a:r>
              <a:rPr lang="en-US" sz="2200" dirty="0" err="1">
                <a:solidFill>
                  <a:schemeClr val="dk1"/>
                </a:solidFill>
              </a:rPr>
              <a:t>ciclo</a:t>
            </a:r>
            <a:r>
              <a:rPr lang="en-US" sz="2200" dirty="0">
                <a:solidFill>
                  <a:schemeClr val="dk1"/>
                </a:solidFill>
              </a:rPr>
              <a:t> de </a:t>
            </a:r>
            <a:r>
              <a:rPr lang="en-US" sz="2200" dirty="0" err="1">
                <a:solidFill>
                  <a:schemeClr val="dk1"/>
                </a:solidFill>
              </a:rPr>
              <a:t>producción</a:t>
            </a:r>
            <a:r>
              <a:rPr lang="en-US" sz="2200" dirty="0">
                <a:solidFill>
                  <a:schemeClr val="dk1"/>
                </a:solidFill>
              </a:rPr>
              <a:t>.</a:t>
            </a:r>
            <a:endParaRPr sz="2200" dirty="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dirty="0">
                <a:solidFill>
                  <a:schemeClr val="dk1"/>
                </a:solidFill>
              </a:rPr>
              <a:t>Este </a:t>
            </a:r>
            <a:r>
              <a:rPr lang="en-US" sz="2200" dirty="0" err="1">
                <a:solidFill>
                  <a:schemeClr val="dk1"/>
                </a:solidFill>
              </a:rPr>
              <a:t>nivel</a:t>
            </a:r>
            <a:r>
              <a:rPr lang="en-US" sz="2200" dirty="0">
                <a:solidFill>
                  <a:schemeClr val="dk1"/>
                </a:solidFill>
              </a:rPr>
              <a:t> de </a:t>
            </a:r>
            <a:r>
              <a:rPr lang="en-US" sz="2200" dirty="0" err="1">
                <a:solidFill>
                  <a:schemeClr val="dk1"/>
                </a:solidFill>
              </a:rPr>
              <a:t>automatización</a:t>
            </a:r>
            <a:r>
              <a:rPr lang="en-US" sz="2200" dirty="0">
                <a:solidFill>
                  <a:schemeClr val="dk1"/>
                </a:solidFill>
              </a:rPr>
              <a:t> no solo </a:t>
            </a:r>
            <a:r>
              <a:rPr lang="en-US" sz="2200" dirty="0" err="1">
                <a:solidFill>
                  <a:schemeClr val="dk1"/>
                </a:solidFill>
              </a:rPr>
              <a:t>aumenta</a:t>
            </a:r>
            <a:r>
              <a:rPr lang="en-US" sz="2200" dirty="0">
                <a:solidFill>
                  <a:schemeClr val="dk1"/>
                </a:solidFill>
              </a:rPr>
              <a:t> la </a:t>
            </a:r>
            <a:r>
              <a:rPr lang="en-US" sz="2200" dirty="0" err="1">
                <a:solidFill>
                  <a:schemeClr val="dk1"/>
                </a:solidFill>
              </a:rPr>
              <a:t>velocidad</a:t>
            </a:r>
            <a:r>
              <a:rPr lang="en-US" sz="2200" dirty="0">
                <a:solidFill>
                  <a:schemeClr val="dk1"/>
                </a:solidFill>
              </a:rPr>
              <a:t> de </a:t>
            </a:r>
            <a:r>
              <a:rPr lang="en-US" sz="2200" dirty="0" err="1">
                <a:solidFill>
                  <a:schemeClr val="dk1"/>
                </a:solidFill>
              </a:rPr>
              <a:t>producción</a:t>
            </a:r>
            <a:r>
              <a:rPr lang="en-US" sz="2200" dirty="0">
                <a:solidFill>
                  <a:schemeClr val="dk1"/>
                </a:solidFill>
              </a:rPr>
              <a:t>, </a:t>
            </a:r>
            <a:r>
              <a:rPr lang="en-US" sz="2200" dirty="0" err="1">
                <a:solidFill>
                  <a:schemeClr val="dk1"/>
                </a:solidFill>
              </a:rPr>
              <a:t>sino</a:t>
            </a:r>
            <a:r>
              <a:rPr lang="en-US" sz="2200" dirty="0">
                <a:solidFill>
                  <a:schemeClr val="dk1"/>
                </a:solidFill>
              </a:rPr>
              <a:t> que también </a:t>
            </a:r>
            <a:r>
              <a:rPr lang="en-US" sz="2200" dirty="0" err="1">
                <a:solidFill>
                  <a:schemeClr val="dk1"/>
                </a:solidFill>
              </a:rPr>
              <a:t>mejora</a:t>
            </a:r>
            <a:r>
              <a:rPr lang="en-US" sz="2200" dirty="0">
                <a:solidFill>
                  <a:schemeClr val="dk1"/>
                </a:solidFill>
              </a:rPr>
              <a:t> la </a:t>
            </a:r>
            <a:r>
              <a:rPr lang="en-US" sz="2200" b="1" dirty="0" err="1">
                <a:solidFill>
                  <a:schemeClr val="dk1"/>
                </a:solidFill>
              </a:rPr>
              <a:t>calidad</a:t>
            </a:r>
            <a:r>
              <a:rPr lang="en-US" sz="2200" b="1" dirty="0">
                <a:solidFill>
                  <a:schemeClr val="dk1"/>
                </a:solidFill>
              </a:rPr>
              <a:t> y </a:t>
            </a:r>
            <a:r>
              <a:rPr lang="en-US" sz="2200" b="1" dirty="0" err="1">
                <a:solidFill>
                  <a:schemeClr val="dk1"/>
                </a:solidFill>
              </a:rPr>
              <a:t>consistencia</a:t>
            </a:r>
            <a:r>
              <a:rPr lang="en-US" sz="2200" dirty="0">
                <a:solidFill>
                  <a:schemeClr val="dk1"/>
                </a:solidFill>
              </a:rPr>
              <a:t> de </a:t>
            </a:r>
            <a:r>
              <a:rPr lang="en-US" sz="2200" dirty="0" err="1">
                <a:solidFill>
                  <a:schemeClr val="dk1"/>
                </a:solidFill>
              </a:rPr>
              <a:t>los</a:t>
            </a:r>
            <a:r>
              <a:rPr lang="en-US" sz="2200" dirty="0">
                <a:solidFill>
                  <a:schemeClr val="dk1"/>
                </a:solidFill>
              </a:rPr>
              <a:t> </a:t>
            </a:r>
            <a:r>
              <a:rPr lang="en-US" sz="2200" dirty="0" err="1">
                <a:solidFill>
                  <a:schemeClr val="dk1"/>
                </a:solidFill>
              </a:rPr>
              <a:t>productos</a:t>
            </a:r>
            <a:r>
              <a:rPr lang="en-US" sz="2200" dirty="0">
                <a:solidFill>
                  <a:schemeClr val="dk1"/>
                </a:solidFill>
              </a:rPr>
              <a:t> </a:t>
            </a:r>
            <a:r>
              <a:rPr lang="en-US" sz="2200" dirty="0" err="1">
                <a:solidFill>
                  <a:schemeClr val="dk1"/>
                </a:solidFill>
              </a:rPr>
              <a:t>fabricados</a:t>
            </a:r>
            <a:r>
              <a:rPr lang="en-US" sz="2200" dirty="0">
                <a:solidFill>
                  <a:schemeClr val="dk1"/>
                </a:solidFill>
              </a:rPr>
              <a:t>, </a:t>
            </a:r>
            <a:r>
              <a:rPr lang="en-US" sz="2200" dirty="0" err="1">
                <a:solidFill>
                  <a:schemeClr val="dk1"/>
                </a:solidFill>
              </a:rPr>
              <a:t>reduciendo</a:t>
            </a:r>
            <a:r>
              <a:rPr lang="en-US" sz="2200" dirty="0">
                <a:solidFill>
                  <a:schemeClr val="dk1"/>
                </a:solidFill>
              </a:rPr>
              <a:t> la </a:t>
            </a:r>
            <a:r>
              <a:rPr lang="en-US" sz="2200" dirty="0" err="1">
                <a:solidFill>
                  <a:schemeClr val="dk1"/>
                </a:solidFill>
              </a:rPr>
              <a:t>posibilidad</a:t>
            </a:r>
            <a:r>
              <a:rPr lang="en-US" sz="2200" dirty="0">
                <a:solidFill>
                  <a:schemeClr val="dk1"/>
                </a:solidFill>
              </a:rPr>
              <a:t> de </a:t>
            </a:r>
            <a:r>
              <a:rPr lang="en-US" sz="2200" dirty="0" err="1">
                <a:solidFill>
                  <a:schemeClr val="dk1"/>
                </a:solidFill>
              </a:rPr>
              <a:t>errores</a:t>
            </a:r>
            <a:r>
              <a:rPr lang="en-US" sz="2200" dirty="0">
                <a:solidFill>
                  <a:schemeClr val="dk1"/>
                </a:solidFill>
              </a:rPr>
              <a:t> </a:t>
            </a:r>
            <a:r>
              <a:rPr lang="en-US" sz="2200" dirty="0" err="1">
                <a:solidFill>
                  <a:schemeClr val="dk1"/>
                </a:solidFill>
              </a:rPr>
              <a:t>humanos</a:t>
            </a:r>
            <a:r>
              <a:rPr lang="en-US" sz="2200" dirty="0">
                <a:solidFill>
                  <a:schemeClr val="dk1"/>
                </a:solidFill>
              </a:rPr>
              <a:t>.</a:t>
            </a:r>
            <a:endParaRPr sz="22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b="0"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0" i="0" u="none" strike="noStrike" cap="none" dirty="0">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dirty="0">
              <a:solidFill>
                <a:srgbClr val="000000"/>
              </a:solidFill>
              <a:latin typeface="Arial"/>
              <a:ea typeface="Arial"/>
              <a:cs typeface="Arial"/>
              <a:sym typeface="Arial"/>
            </a:endParaRPr>
          </a:p>
        </p:txBody>
      </p:sp>
      <p:pic>
        <p:nvPicPr>
          <p:cNvPr id="235" name="Google Shape;235;g308c30d8e00_0_69"/>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8" name="Google Shape;248;g308c30d8e00_0_85"/>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49" name="Google Shape;249;g308c30d8e00_0_85"/>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rgbClr val="F46524"/>
                </a:solidFill>
                <a:latin typeface="Raleway"/>
                <a:ea typeface="Raleway"/>
                <a:cs typeface="Raleway"/>
                <a:sym typeface="Raleway"/>
              </a:rPr>
              <a:t>Transformación en la Producción de Siemens</a:t>
            </a:r>
            <a:endParaRPr sz="2700" b="1" i="0" u="none" strike="noStrike" cap="none">
              <a:solidFill>
                <a:srgbClr val="F46524"/>
              </a:solidFill>
              <a:latin typeface="Raleway"/>
              <a:ea typeface="Raleway"/>
              <a:cs typeface="Raleway"/>
              <a:sym typeface="Raleway"/>
            </a:endParaRPr>
          </a:p>
        </p:txBody>
      </p:sp>
      <p:sp>
        <p:nvSpPr>
          <p:cNvPr id="250" name="Google Shape;250;g308c30d8e00_0_85"/>
          <p:cNvSpPr txBox="1"/>
          <p:nvPr/>
        </p:nvSpPr>
        <p:spPr>
          <a:xfrm>
            <a:off x="3219000" y="251942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La </a:t>
            </a:r>
            <a:r>
              <a:rPr lang="en-US" sz="2300" b="1">
                <a:solidFill>
                  <a:schemeClr val="dk1"/>
                </a:solidFill>
              </a:rPr>
              <a:t>interconexión de dispositivos, sistemas y datos</a:t>
            </a:r>
            <a:r>
              <a:rPr lang="en-US" sz="2300">
                <a:solidFill>
                  <a:schemeClr val="dk1"/>
                </a:solidFill>
              </a:rPr>
              <a:t> ha transformado la producción de Siemens en un entorno altamente eficiente y flexible. Al conectar las máquinas, los datos en tiempo real y los sistemas inteligentes, Siemens ha logrado:</a:t>
            </a:r>
            <a:endParaRPr sz="2300">
              <a:solidFill>
                <a:schemeClr val="dk1"/>
              </a:solidFill>
            </a:endParaRPr>
          </a:p>
          <a:p>
            <a:pPr marL="457200" lvl="0" indent="-374650" algn="l" rtl="0">
              <a:lnSpc>
                <a:spcPct val="115000"/>
              </a:lnSpc>
              <a:spcBef>
                <a:spcPts val="1200"/>
              </a:spcBef>
              <a:spcAft>
                <a:spcPts val="0"/>
              </a:spcAft>
              <a:buClr>
                <a:schemeClr val="dk1"/>
              </a:buClr>
              <a:buSzPts val="2300"/>
              <a:buChar char="●"/>
            </a:pPr>
            <a:r>
              <a:rPr lang="en-US" sz="2300">
                <a:solidFill>
                  <a:schemeClr val="dk1"/>
                </a:solidFill>
              </a:rPr>
              <a:t>Reducir el tiempo de inactividad y mejorar la eficiencia con </a:t>
            </a:r>
            <a:r>
              <a:rPr lang="en-US" sz="2300" b="1">
                <a:solidFill>
                  <a:schemeClr val="dk1"/>
                </a:solidFill>
              </a:rPr>
              <a:t>mantenimiento predictivo</a:t>
            </a:r>
            <a:r>
              <a:rPr lang="en-US" sz="2300">
                <a:solidFill>
                  <a:schemeClr val="dk1"/>
                </a:solidFill>
              </a:rPr>
              <a:t>.</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Personalizar productos a gran escala con cambios automáticos en los parámetros de las máquinas.</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Mejorar continuamente los procesos con el análisis de datos y la IA.</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Automatizar procesos complejos, reduciendo errores y aumentando la velocidad de producción.</a:t>
            </a:r>
            <a:endParaRPr sz="23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p:txBody>
      </p:sp>
      <p:pic>
        <p:nvPicPr>
          <p:cNvPr id="251" name="Google Shape;251;g308c30d8e00_0_85"/>
          <p:cNvPicPr preferRelativeResize="0"/>
          <p:nvPr/>
        </p:nvPicPr>
        <p:blipFill>
          <a:blip r:embed="rId4">
            <a:alphaModFix/>
          </a:blip>
          <a:stretch>
            <a:fillRect/>
          </a:stretch>
        </p:blipFill>
        <p:spPr>
          <a:xfrm>
            <a:off x="14336350" y="3538349"/>
            <a:ext cx="3171350" cy="1664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64" name="Google Shape;264;g308c30d8e00_0_10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65" name="Google Shape;265;g308c30d8e00_0_101"/>
          <p:cNvSpPr txBox="1"/>
          <p:nvPr/>
        </p:nvSpPr>
        <p:spPr>
          <a:xfrm>
            <a:off x="3337500" y="3429000"/>
            <a:ext cx="133872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n-US" sz="5800" b="1">
                <a:solidFill>
                  <a:schemeClr val="accent6"/>
                </a:solidFill>
                <a:latin typeface="Raleway"/>
                <a:ea typeface="Raleway"/>
                <a:cs typeface="Raleway"/>
                <a:sym typeface="Raleway"/>
              </a:rPr>
              <a:t>Experiencia del proceso de transformación digital en una  empresa del sector Agroalimentario.  </a:t>
            </a:r>
            <a:endParaRPr sz="5800" b="1" i="0" u="none" strike="noStrike" cap="none">
              <a:solidFill>
                <a:schemeClr val="accent6"/>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8" name="Google Shape;278;g308c30d8e00_0_11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79" name="Google Shape;279;g308c30d8e00_0_11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Contexto de la transformación digital en el sector agroalimentario</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280" name="Google Shape;280;g308c30d8e00_0_114"/>
          <p:cNvSpPr txBox="1"/>
          <p:nvPr/>
        </p:nvSpPr>
        <p:spPr>
          <a:xfrm>
            <a:off x="3219000" y="251942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El crecimiento de la población mundial y la demanda de alimentos más sostenibles ha impulsado a las empresas agroalimentarias a buscar soluciones tecnológicas. La transformación digital no solo se centra en la automatización de procesos, sino también en la recolección y análisis de datos en tiempo real para optimizar la toma de decisiones.</a:t>
            </a:r>
            <a:endParaRPr sz="2300">
              <a:solidFill>
                <a:schemeClr val="dk1"/>
              </a:solidFill>
            </a:endParaRPr>
          </a:p>
          <a:p>
            <a:pPr marL="0" lvl="0" indent="0" algn="l" rtl="0">
              <a:lnSpc>
                <a:spcPct val="115000"/>
              </a:lnSpc>
              <a:spcBef>
                <a:spcPts val="1200"/>
              </a:spcBef>
              <a:spcAft>
                <a:spcPts val="0"/>
              </a:spcAft>
              <a:buNone/>
            </a:pPr>
            <a:r>
              <a:rPr lang="en-US" sz="2300">
                <a:solidFill>
                  <a:schemeClr val="dk1"/>
                </a:solidFill>
              </a:rPr>
              <a:t>Por ejemplo, el uso de </a:t>
            </a:r>
            <a:r>
              <a:rPr lang="en-US" sz="2300" b="1">
                <a:solidFill>
                  <a:schemeClr val="dk1"/>
                </a:solidFill>
              </a:rPr>
              <a:t>sensores</a:t>
            </a:r>
            <a:r>
              <a:rPr lang="en-US" sz="2300">
                <a:solidFill>
                  <a:schemeClr val="dk1"/>
                </a:solidFill>
              </a:rPr>
              <a:t> en los campos agrícolas puede monitorear la humedad del suelo, los niveles de nutrientes y las condiciones climáticas, lo que permite a los agricultores ajustar sus riegos y aplicaciones de fertilizantes de manera más precisa, optimizando los recursos y aumentando el rendimiento. Además, las cadenas de suministro se benefician de tecnologías como el </a:t>
            </a:r>
            <a:r>
              <a:rPr lang="en-US" sz="2300" b="1">
                <a:solidFill>
                  <a:schemeClr val="dk1"/>
                </a:solidFill>
              </a:rPr>
              <a:t>blockchain</a:t>
            </a:r>
            <a:r>
              <a:rPr lang="en-US" sz="2300">
                <a:solidFill>
                  <a:schemeClr val="dk1"/>
                </a:solidFill>
              </a:rPr>
              <a:t>, que garantiza la trazabilidad de los productos desde la granja hasta el consumidor final.</a:t>
            </a: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93" name="Google Shape;293;g308c30d8e00_0_13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294" name="Google Shape;294;g308c30d8e00_0_131"/>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Ejemplo real de transformación digital en el sector agroalimentario: John Deere</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295" name="Google Shape;295;g308c30d8e00_0_131"/>
          <p:cNvSpPr txBox="1"/>
          <p:nvPr/>
        </p:nvSpPr>
        <p:spPr>
          <a:xfrm>
            <a:off x="3219000" y="251942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Un caso destacado de transformación digital en el sector agroalimentario es </a:t>
            </a:r>
            <a:r>
              <a:rPr lang="en-US" sz="2300" b="1">
                <a:solidFill>
                  <a:schemeClr val="dk1"/>
                </a:solidFill>
              </a:rPr>
              <a:t>John Deere</a:t>
            </a:r>
            <a:r>
              <a:rPr lang="en-US" sz="2300">
                <a:solidFill>
                  <a:schemeClr val="dk1"/>
                </a:solidFill>
              </a:rPr>
              <a:t>, una de las mayores empresas de maquinaria agrícola del mundo. John Deere ha implementado tecnologías avanzadas como </a:t>
            </a:r>
            <a:r>
              <a:rPr lang="en-US" sz="2300" b="1">
                <a:solidFill>
                  <a:schemeClr val="dk1"/>
                </a:solidFill>
              </a:rPr>
              <a:t>máquinas conectadas</a:t>
            </a:r>
            <a:r>
              <a:rPr lang="en-US" sz="2300">
                <a:solidFill>
                  <a:schemeClr val="dk1"/>
                </a:solidFill>
              </a:rPr>
              <a:t> a través del IoT y sistemas de </a:t>
            </a:r>
            <a:r>
              <a:rPr lang="en-US" sz="2300" b="1">
                <a:solidFill>
                  <a:schemeClr val="dk1"/>
                </a:solidFill>
              </a:rPr>
              <a:t>análisis de datos en la nube</a:t>
            </a:r>
            <a:r>
              <a:rPr lang="en-US" sz="2300">
                <a:solidFill>
                  <a:schemeClr val="dk1"/>
                </a:solidFill>
              </a:rPr>
              <a:t>. Sus tractores y equipos agrícolas están equipados con sensores y software que permiten a los agricultores recopilar datos detallados sobre el rendimiento de los cultivos, el uso de agua, las condiciones del suelo y el clima.</a:t>
            </a:r>
            <a:endParaRPr sz="2300">
              <a:solidFill>
                <a:schemeClr val="dk1"/>
              </a:solidFill>
            </a:endParaRPr>
          </a:p>
          <a:p>
            <a:pPr marL="0" lvl="0" indent="0" algn="l" rtl="0">
              <a:lnSpc>
                <a:spcPct val="115000"/>
              </a:lnSpc>
              <a:spcBef>
                <a:spcPts val="1200"/>
              </a:spcBef>
              <a:spcAft>
                <a:spcPts val="0"/>
              </a:spcAft>
              <a:buNone/>
            </a:pPr>
            <a:r>
              <a:rPr lang="en-US" sz="2300">
                <a:solidFill>
                  <a:schemeClr val="dk1"/>
                </a:solidFill>
              </a:rPr>
              <a:t>John Deere también ha desarrollado la plataforma </a:t>
            </a:r>
            <a:r>
              <a:rPr lang="en-US" sz="2300" b="1">
                <a:solidFill>
                  <a:schemeClr val="dk1"/>
                </a:solidFill>
              </a:rPr>
              <a:t>John Deere Operations Center</a:t>
            </a:r>
            <a:r>
              <a:rPr lang="en-US" sz="2300">
                <a:solidFill>
                  <a:schemeClr val="dk1"/>
                </a:solidFill>
              </a:rPr>
              <a:t>, que permite a los agricultores monitorear y analizar todos los datos recolectados en sus granjas desde una aplicación móvil o un portal web. Esta integración tecnológica ha permitido a los agricultores ser más eficientes en la toma de decisiones, reduciendo los costos y mejorando los rendimientos.</a:t>
            </a: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p:txBody>
      </p:sp>
      <p:pic>
        <p:nvPicPr>
          <p:cNvPr id="296" name="Google Shape;296;g308c30d8e00_0_131"/>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9" name="Google Shape;309;g308c30d8e00_0_147"/>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10" name="Google Shape;310;g308c30d8e00_0_147"/>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Ejemplo real de transformación digital en el sector agroalimentario: John Deere</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11" name="Google Shape;311;g308c30d8e00_0_147"/>
          <p:cNvSpPr txBox="1"/>
          <p:nvPr/>
        </p:nvSpPr>
        <p:spPr>
          <a:xfrm>
            <a:off x="3219000" y="2287400"/>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Un caso destacado de transformación digital en el sector agroalimentario es </a:t>
            </a:r>
            <a:r>
              <a:rPr lang="en-US" sz="2300" b="1">
                <a:solidFill>
                  <a:schemeClr val="dk1"/>
                </a:solidFill>
              </a:rPr>
              <a:t>John Deere</a:t>
            </a:r>
            <a:r>
              <a:rPr lang="en-US" sz="2300">
                <a:solidFill>
                  <a:schemeClr val="dk1"/>
                </a:solidFill>
              </a:rPr>
              <a:t>, una de las mayores empresas de maquinaria agrícola del mundo. John Deere ha implementado tecnologías avanzadas como </a:t>
            </a:r>
            <a:r>
              <a:rPr lang="en-US" sz="2300" b="1">
                <a:solidFill>
                  <a:schemeClr val="dk1"/>
                </a:solidFill>
              </a:rPr>
              <a:t>máquinas conectadas</a:t>
            </a:r>
            <a:r>
              <a:rPr lang="en-US" sz="2300">
                <a:solidFill>
                  <a:schemeClr val="dk1"/>
                </a:solidFill>
              </a:rPr>
              <a:t> a través del IoT y sistemas de </a:t>
            </a:r>
            <a:r>
              <a:rPr lang="en-US" sz="2300" b="1">
                <a:solidFill>
                  <a:schemeClr val="dk1"/>
                </a:solidFill>
              </a:rPr>
              <a:t>análisis de datos en la nube</a:t>
            </a:r>
            <a:r>
              <a:rPr lang="en-US" sz="2300">
                <a:solidFill>
                  <a:schemeClr val="dk1"/>
                </a:solidFill>
              </a:rPr>
              <a:t>. Sus tractores y equipos agrícolas están equipados con sensores y software que permiten a los agricultores recopilar datos detallados sobre el rendimiento de los cultivos, el uso de agua, las condiciones del suelo y el clima.</a:t>
            </a:r>
            <a:endParaRPr sz="2300">
              <a:solidFill>
                <a:schemeClr val="dk1"/>
              </a:solidFill>
            </a:endParaRPr>
          </a:p>
          <a:p>
            <a:pPr marL="0" lvl="0" indent="0" algn="l" rtl="0">
              <a:lnSpc>
                <a:spcPct val="115000"/>
              </a:lnSpc>
              <a:spcBef>
                <a:spcPts val="1200"/>
              </a:spcBef>
              <a:spcAft>
                <a:spcPts val="0"/>
              </a:spcAft>
              <a:buNone/>
            </a:pPr>
            <a:r>
              <a:rPr lang="en-US" sz="2300">
                <a:solidFill>
                  <a:schemeClr val="dk1"/>
                </a:solidFill>
              </a:rPr>
              <a:t>John Deere también ha desarrollado la plataforma </a:t>
            </a:r>
            <a:r>
              <a:rPr lang="en-US" sz="2300" b="1">
                <a:solidFill>
                  <a:schemeClr val="dk1"/>
                </a:solidFill>
              </a:rPr>
              <a:t>John Deere Operations Center</a:t>
            </a:r>
            <a:r>
              <a:rPr lang="en-US" sz="2300">
                <a:solidFill>
                  <a:schemeClr val="dk1"/>
                </a:solidFill>
              </a:rPr>
              <a:t>, que permite a los agricultores monitorear y analizar todos los datos recolectados en sus granjas desde una aplicación móvil o un portal web. Esta integración tecnológica ha permitido a los agricultores ser más eficientes en la toma de decisiones, reduciendo los costos y mejorando los rendimientos.</a:t>
            </a: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1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100" b="1" i="0" u="none" strike="noStrike" cap="none">
              <a:solidFill>
                <a:srgbClr val="000000"/>
              </a:solidFill>
              <a:latin typeface="Arial"/>
              <a:ea typeface="Arial"/>
              <a:cs typeface="Arial"/>
              <a:sym typeface="Arial"/>
            </a:endParaRPr>
          </a:p>
        </p:txBody>
      </p:sp>
      <p:pic>
        <p:nvPicPr>
          <p:cNvPr id="312" name="Google Shape;312;g308c30d8e00_0_147"/>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25" name="Google Shape;325;g308c30d8e00_0_16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26" name="Google Shape;326;g308c30d8e00_0_161"/>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Implementación de Sensores en Maquinaria Agrícola</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27" name="Google Shape;327;g308c30d8e00_0_161"/>
          <p:cNvSpPr txBox="1"/>
          <p:nvPr/>
        </p:nvSpPr>
        <p:spPr>
          <a:xfrm>
            <a:off x="3219000" y="1838775"/>
            <a:ext cx="10145400" cy="401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200">
                <a:solidFill>
                  <a:schemeClr val="dk1"/>
                </a:solidFill>
              </a:rPr>
              <a:t>John Deere equipa sus tractores, cosechadoras y demás maquinaria con </a:t>
            </a:r>
            <a:r>
              <a:rPr lang="en-US" sz="2200" b="1">
                <a:solidFill>
                  <a:schemeClr val="dk1"/>
                </a:solidFill>
              </a:rPr>
              <a:t>sensores inteligentes</a:t>
            </a:r>
            <a:r>
              <a:rPr lang="en-US" sz="2200">
                <a:solidFill>
                  <a:schemeClr val="dk1"/>
                </a:solidFill>
              </a:rPr>
              <a:t> que recogen datos clave del campo en tiempo real. Estos sensores pueden monitorear diferentes aspectos del entorno agrícola, tales como:</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b="1">
                <a:solidFill>
                  <a:schemeClr val="dk1"/>
                </a:solidFill>
              </a:rPr>
              <a:t>Humedad del suelo</a:t>
            </a:r>
            <a:r>
              <a:rPr lang="en-US" sz="2200">
                <a:solidFill>
                  <a:schemeClr val="dk1"/>
                </a:solidFill>
              </a:rPr>
              <a:t>: Los sensores determinan los niveles de humedad, lo que permite una mejor gestión del riego. Con estos datos, los agricultores pueden ajustar el suministro de agua en función de las necesidades específicas de cada parte del campo, evitando el desperdicio y mejorando el crecimiento de los cultivos.</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Condiciones climáticas</a:t>
            </a:r>
            <a:r>
              <a:rPr lang="en-US" sz="2200">
                <a:solidFill>
                  <a:schemeClr val="dk1"/>
                </a:solidFill>
              </a:rPr>
              <a:t>: Los sensores monitorean la temperatura, la velocidad del viento y otros factores climáticos que pueden afectar la producción agrícola. Estos datos ayudan a los agricultores a decidir el mejor momento para sembrar, regar o aplicar productos fitosanitarios.</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rPr>
              <a:t>Estado del cultivo</a:t>
            </a:r>
            <a:r>
              <a:rPr lang="en-US" sz="2200">
                <a:solidFill>
                  <a:schemeClr val="dk1"/>
                </a:solidFill>
              </a:rPr>
              <a:t>: Los sensores que miden el crecimiento de los cultivos, la densidad y la salud de las plantas permiten identificar de manera temprana posibles problemas, como plagas o enfermedades, optimizando la intervención y mejorando los rendimientos.</a:t>
            </a: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2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2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p:txBody>
      </p:sp>
      <p:pic>
        <p:nvPicPr>
          <p:cNvPr id="328" name="Google Shape;328;g308c30d8e00_0_161"/>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41" name="Google Shape;341;g308c30d8e00_0_177"/>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42" name="Google Shape;342;g308c30d8e00_0_177"/>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Conectividad a Plataformas Digitales</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43" name="Google Shape;343;g308c30d8e00_0_177"/>
          <p:cNvSpPr txBox="1"/>
          <p:nvPr/>
        </p:nvSpPr>
        <p:spPr>
          <a:xfrm>
            <a:off x="3219000" y="3429000"/>
            <a:ext cx="10145400" cy="2368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US" sz="2300">
                <a:solidFill>
                  <a:schemeClr val="dk1"/>
                </a:solidFill>
              </a:rPr>
              <a:t>Toda la información recopilada por los sensores se envía a la </a:t>
            </a:r>
            <a:r>
              <a:rPr lang="en-US" sz="2300" b="1">
                <a:solidFill>
                  <a:schemeClr val="dk1"/>
                </a:solidFill>
              </a:rPr>
              <a:t>plataforma John Deere Operations Center</a:t>
            </a:r>
            <a:r>
              <a:rPr lang="en-US" sz="2300">
                <a:solidFill>
                  <a:schemeClr val="dk1"/>
                </a:solidFill>
              </a:rPr>
              <a:t>, donde los agricultores pueden visualizar los datos en tiempo real a través de una aplicación móvil o desde un ordenador. Esta conectividad en la nube permite tomar decisiones más informadas en cualquier momento y lugar.</a:t>
            </a:r>
            <a:endParaRPr sz="23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lvl="0" indent="0" algn="l" rtl="0">
              <a:lnSpc>
                <a:spcPct val="115000"/>
              </a:lnSpc>
              <a:spcBef>
                <a:spcPts val="1200"/>
              </a:spcBef>
              <a:spcAft>
                <a:spcPts val="0"/>
              </a:spcAft>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2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2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2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200" b="1" i="0" u="none" strike="noStrike" cap="none">
              <a:solidFill>
                <a:srgbClr val="000000"/>
              </a:solidFill>
              <a:latin typeface="Arial"/>
              <a:ea typeface="Arial"/>
              <a:cs typeface="Arial"/>
              <a:sym typeface="Arial"/>
            </a:endParaRPr>
          </a:p>
        </p:txBody>
      </p:sp>
      <p:pic>
        <p:nvPicPr>
          <p:cNvPr id="344" name="Google Shape;344;g308c30d8e00_0_177"/>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57" name="Google Shape;357;g308c30d8e00_0_193"/>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58" name="Google Shape;358;g308c30d8e00_0_193"/>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Beneficios de la Tecnología de Sensores en la Agricultura</a:t>
            </a:r>
            <a:endParaRPr sz="2700" b="1">
              <a:solidFill>
                <a:srgbClr val="F46524"/>
              </a:solidFill>
              <a:latin typeface="Raleway"/>
              <a:ea typeface="Raleway"/>
              <a:cs typeface="Raleway"/>
              <a:sym typeface="Raleway"/>
            </a:endParaRPr>
          </a:p>
          <a:p>
            <a:pPr marL="0" lvl="0" indent="0" algn="ctr" rtl="0">
              <a:spcBef>
                <a:spcPts val="0"/>
              </a:spcBef>
              <a:spcAft>
                <a:spcPts val="0"/>
              </a:spcAft>
              <a:buClr>
                <a:schemeClr val="dk1"/>
              </a:buClr>
              <a:buSzPts val="1100"/>
              <a:buFont typeface="Arial"/>
              <a:buNone/>
            </a:pP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59" name="Google Shape;359;g308c30d8e00_0_193"/>
          <p:cNvSpPr txBox="1"/>
          <p:nvPr/>
        </p:nvSpPr>
        <p:spPr>
          <a:xfrm>
            <a:off x="3219000" y="1943950"/>
            <a:ext cx="10145400" cy="2368800"/>
          </a:xfrm>
          <a:prstGeom prst="rect">
            <a:avLst/>
          </a:prstGeom>
          <a:noFill/>
          <a:ln>
            <a:noFill/>
          </a:ln>
        </p:spPr>
        <p:txBody>
          <a:bodyPr spcFirstLastPara="1" wrap="square" lIns="91425" tIns="91425" rIns="91425" bIns="91425" anchor="t" anchorCtr="0">
            <a:noAutofit/>
          </a:bodyPr>
          <a:lstStyle/>
          <a:p>
            <a:pPr marL="457200" lvl="0" indent="-374650" algn="l" rtl="0">
              <a:lnSpc>
                <a:spcPct val="115000"/>
              </a:lnSpc>
              <a:spcBef>
                <a:spcPts val="1200"/>
              </a:spcBef>
              <a:spcAft>
                <a:spcPts val="0"/>
              </a:spcAft>
              <a:buClr>
                <a:schemeClr val="dk1"/>
              </a:buClr>
              <a:buSzPts val="2300"/>
              <a:buChar char="●"/>
            </a:pPr>
            <a:r>
              <a:rPr lang="en-US" sz="2300" b="1">
                <a:solidFill>
                  <a:schemeClr val="dk1"/>
                </a:solidFill>
              </a:rPr>
              <a:t>Agricultura de precisión</a:t>
            </a:r>
            <a:r>
              <a:rPr lang="en-US" sz="2300">
                <a:solidFill>
                  <a:schemeClr val="dk1"/>
                </a:solidFill>
              </a:rPr>
              <a:t>: Gracias a los sensores, los agricultores pueden optimizar el uso de insumos (agua, fertilizantes, pesticidas) de manera más eficiente y localizada. Ya no es necesario tratar todo el campo de la misma forma, sino que se pueden aplicar soluciones específicas según las necesidades de cada área.</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b="1">
                <a:solidFill>
                  <a:schemeClr val="dk1"/>
                </a:solidFill>
              </a:rPr>
              <a:t>Reducción de costos y mejora en la sostenibilidad</a:t>
            </a:r>
            <a:r>
              <a:rPr lang="en-US" sz="2300">
                <a:solidFill>
                  <a:schemeClr val="dk1"/>
                </a:solidFill>
              </a:rPr>
              <a:t>: Al poder monitorizar el suelo y las condiciones climáticas en tiempo real, se evita el desperdicio de recursos y se promueven prácticas más sostenibles. Esto no solo reduce los costos operativos, sino que también minimiza el impacto ambiental.</a:t>
            </a: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b="1">
                <a:solidFill>
                  <a:schemeClr val="dk1"/>
                </a:solidFill>
              </a:rPr>
              <a:t>Anticipación de problemas</a:t>
            </a:r>
            <a:r>
              <a:rPr lang="en-US" sz="2300">
                <a:solidFill>
                  <a:schemeClr val="dk1"/>
                </a:solidFill>
              </a:rPr>
              <a:t>: Los datos en tiempo real permiten detectar problemas antes de que se agraven. Por ejemplo, si los sensores detectan un nivel de humedad bajo, el agricultor puede intervenir rápidamente para regar el área afectada antes de que los cultivos sufran daños.</a:t>
            </a: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360" name="Google Shape;360;g308c30d8e00_0_193"/>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73" name="Google Shape;373;g308c30d8e00_0_209"/>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74" name="Google Shape;374;g308c30d8e00_0_209"/>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Agricultura de Precisión en Tiempo Real</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75" name="Google Shape;375;g308c30d8e00_0_209"/>
          <p:cNvSpPr txBox="1"/>
          <p:nvPr/>
        </p:nvSpPr>
        <p:spPr>
          <a:xfrm>
            <a:off x="3219000" y="1943950"/>
            <a:ext cx="10145400" cy="2368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1200"/>
              </a:spcBef>
              <a:spcAft>
                <a:spcPts val="0"/>
              </a:spcAft>
              <a:buNone/>
            </a:pPr>
            <a:r>
              <a:rPr lang="en-US" sz="2300">
                <a:solidFill>
                  <a:schemeClr val="dk1"/>
                </a:solidFill>
              </a:rPr>
              <a:t>Uno de los avances más notables que ha logrado John Deere a través de los sensores es la capacidad de realizar </a:t>
            </a:r>
            <a:r>
              <a:rPr lang="en-US" sz="2300" b="1">
                <a:solidFill>
                  <a:schemeClr val="dk1"/>
                </a:solidFill>
              </a:rPr>
              <a:t>agricultura de precisión</a:t>
            </a:r>
            <a:r>
              <a:rPr lang="en-US" sz="2300">
                <a:solidFill>
                  <a:schemeClr val="dk1"/>
                </a:solidFill>
              </a:rPr>
              <a:t> en tiempo real. Los tractores equipados con sensores y sistemas de posicionamiento GPS pueden ajustar automáticamente la cantidad de semillas plantadas o la aplicación de fertilizantes en función de los datos del suelo y del cultivo. Esto asegura que cada parte del campo reciba exactamente lo que necesita para maximizar su rendimiento.</a:t>
            </a:r>
            <a:endParaRPr sz="2300">
              <a:solidFill>
                <a:schemeClr val="dk1"/>
              </a:solidFill>
            </a:endParaRPr>
          </a:p>
          <a:p>
            <a:pPr marL="457200" lvl="0" indent="0" algn="l" rtl="0">
              <a:lnSpc>
                <a:spcPct val="115000"/>
              </a:lnSpc>
              <a:spcBef>
                <a:spcPts val="1200"/>
              </a:spcBef>
              <a:spcAft>
                <a:spcPts val="0"/>
              </a:spcAft>
              <a:buNone/>
            </a:pPr>
            <a:r>
              <a:rPr lang="en-US" sz="2300">
                <a:solidFill>
                  <a:schemeClr val="dk1"/>
                </a:solidFill>
              </a:rPr>
              <a:t>Por ejemplo, si una sección del campo tiene un suelo más pobre, los sensores pueden indicarle al tractor que aplique una mayor cantidad de fertilizante en esa zona específica, mientras que en áreas más fértiles, la aplicación puede ser reducida. Esta personalización del tratamiento reduce los desperdicios y aumenta la eficiencia.</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376" name="Google Shape;376;g308c30d8e00_0_209"/>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9" name="Google Shape;389;g308c30d8e00_0_225"/>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390" name="Google Shape;390;g308c30d8e00_0_225"/>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Impacto en la Agricultura Moderna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391" name="Google Shape;391;g308c30d8e00_0_225"/>
          <p:cNvSpPr txBox="1"/>
          <p:nvPr/>
        </p:nvSpPr>
        <p:spPr>
          <a:xfrm>
            <a:off x="3219000" y="30422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dirty="0">
                <a:solidFill>
                  <a:schemeClr val="dk1"/>
                </a:solidFill>
              </a:rPr>
              <a:t>John Deere ha </a:t>
            </a:r>
            <a:r>
              <a:rPr lang="en-US" sz="2300" dirty="0" err="1">
                <a:solidFill>
                  <a:schemeClr val="dk1"/>
                </a:solidFill>
              </a:rPr>
              <a:t>convertido</a:t>
            </a:r>
            <a:r>
              <a:rPr lang="en-US" sz="2300" dirty="0">
                <a:solidFill>
                  <a:schemeClr val="dk1"/>
                </a:solidFill>
              </a:rPr>
              <a:t> </a:t>
            </a:r>
            <a:r>
              <a:rPr lang="en-US" sz="2300" dirty="0" err="1">
                <a:solidFill>
                  <a:schemeClr val="dk1"/>
                </a:solidFill>
              </a:rPr>
              <a:t>los</a:t>
            </a:r>
            <a:r>
              <a:rPr lang="en-US" sz="2300" dirty="0">
                <a:solidFill>
                  <a:schemeClr val="dk1"/>
                </a:solidFill>
              </a:rPr>
              <a:t> </a:t>
            </a:r>
            <a:r>
              <a:rPr lang="en-US" sz="2300" dirty="0" err="1">
                <a:solidFill>
                  <a:schemeClr val="dk1"/>
                </a:solidFill>
              </a:rPr>
              <a:t>sensores</a:t>
            </a:r>
            <a:r>
              <a:rPr lang="en-US" sz="2300" dirty="0">
                <a:solidFill>
                  <a:schemeClr val="dk1"/>
                </a:solidFill>
              </a:rPr>
              <a:t> y </a:t>
            </a:r>
            <a:r>
              <a:rPr lang="en-US" sz="2300" dirty="0" err="1">
                <a:solidFill>
                  <a:schemeClr val="dk1"/>
                </a:solidFill>
              </a:rPr>
              <a:t>el</a:t>
            </a:r>
            <a:r>
              <a:rPr lang="en-US" sz="2300" dirty="0">
                <a:solidFill>
                  <a:schemeClr val="dk1"/>
                </a:solidFill>
              </a:rPr>
              <a:t> </a:t>
            </a:r>
            <a:r>
              <a:rPr lang="en-US" sz="2300" dirty="0" err="1">
                <a:solidFill>
                  <a:schemeClr val="dk1"/>
                </a:solidFill>
              </a:rPr>
              <a:t>análisis</a:t>
            </a:r>
            <a:r>
              <a:rPr lang="en-US" sz="2300" dirty="0">
                <a:solidFill>
                  <a:schemeClr val="dk1"/>
                </a:solidFill>
              </a:rPr>
              <a:t> de </a:t>
            </a:r>
            <a:r>
              <a:rPr lang="en-US" sz="2300" dirty="0" err="1">
                <a:solidFill>
                  <a:schemeClr val="dk1"/>
                </a:solidFill>
              </a:rPr>
              <a:t>datos</a:t>
            </a:r>
            <a:r>
              <a:rPr lang="en-US" sz="2300" dirty="0">
                <a:solidFill>
                  <a:schemeClr val="dk1"/>
                </a:solidFill>
              </a:rPr>
              <a:t> </a:t>
            </a:r>
            <a:r>
              <a:rPr lang="en-US" sz="2300" dirty="0" err="1">
                <a:solidFill>
                  <a:schemeClr val="dk1"/>
                </a:solidFill>
              </a:rPr>
              <a:t>en</a:t>
            </a:r>
            <a:r>
              <a:rPr lang="en-US" sz="2300" dirty="0">
                <a:solidFill>
                  <a:schemeClr val="dk1"/>
                </a:solidFill>
              </a:rPr>
              <a:t> </a:t>
            </a:r>
            <a:r>
              <a:rPr lang="en-US" sz="2300" dirty="0" err="1">
                <a:solidFill>
                  <a:schemeClr val="dk1"/>
                </a:solidFill>
              </a:rPr>
              <a:t>una</a:t>
            </a:r>
            <a:r>
              <a:rPr lang="en-US" sz="2300" dirty="0">
                <a:solidFill>
                  <a:schemeClr val="dk1"/>
                </a:solidFill>
              </a:rPr>
              <a:t> </a:t>
            </a:r>
            <a:r>
              <a:rPr lang="en-US" sz="2300" dirty="0" err="1">
                <a:solidFill>
                  <a:schemeClr val="dk1"/>
                </a:solidFill>
              </a:rPr>
              <a:t>ventaja</a:t>
            </a:r>
            <a:r>
              <a:rPr lang="en-US" sz="2300" dirty="0">
                <a:solidFill>
                  <a:schemeClr val="dk1"/>
                </a:solidFill>
              </a:rPr>
              <a:t> </a:t>
            </a:r>
            <a:r>
              <a:rPr lang="en-US" sz="2300" dirty="0" err="1">
                <a:solidFill>
                  <a:schemeClr val="dk1"/>
                </a:solidFill>
              </a:rPr>
              <a:t>competitiva</a:t>
            </a:r>
            <a:r>
              <a:rPr lang="en-US" sz="2300" dirty="0">
                <a:solidFill>
                  <a:schemeClr val="dk1"/>
                </a:solidFill>
              </a:rPr>
              <a:t> </a:t>
            </a:r>
            <a:r>
              <a:rPr lang="en-US" sz="2300" dirty="0" err="1">
                <a:solidFill>
                  <a:schemeClr val="dk1"/>
                </a:solidFill>
              </a:rPr>
              <a:t>significativa</a:t>
            </a:r>
            <a:r>
              <a:rPr lang="en-US" sz="2300" dirty="0">
                <a:solidFill>
                  <a:schemeClr val="dk1"/>
                </a:solidFill>
              </a:rPr>
              <a:t> para </a:t>
            </a:r>
            <a:r>
              <a:rPr lang="en-US" sz="2300" dirty="0" err="1">
                <a:solidFill>
                  <a:schemeClr val="dk1"/>
                </a:solidFill>
              </a:rPr>
              <a:t>los</a:t>
            </a:r>
            <a:r>
              <a:rPr lang="en-US" sz="2300" dirty="0">
                <a:solidFill>
                  <a:schemeClr val="dk1"/>
                </a:solidFill>
              </a:rPr>
              <a:t> </a:t>
            </a:r>
            <a:r>
              <a:rPr lang="en-US" sz="2300" dirty="0" err="1">
                <a:solidFill>
                  <a:schemeClr val="dk1"/>
                </a:solidFill>
              </a:rPr>
              <a:t>agricultores</a:t>
            </a:r>
            <a:r>
              <a:rPr lang="en-US" sz="2300" dirty="0">
                <a:solidFill>
                  <a:schemeClr val="dk1"/>
                </a:solidFill>
              </a:rPr>
              <a:t>. La </a:t>
            </a:r>
            <a:r>
              <a:rPr lang="en-US" sz="2300" dirty="0" err="1">
                <a:solidFill>
                  <a:schemeClr val="dk1"/>
                </a:solidFill>
              </a:rPr>
              <a:t>adopción</a:t>
            </a:r>
            <a:r>
              <a:rPr lang="en-US" sz="2300" dirty="0">
                <a:solidFill>
                  <a:schemeClr val="dk1"/>
                </a:solidFill>
              </a:rPr>
              <a:t> de </a:t>
            </a:r>
            <a:r>
              <a:rPr lang="en-US" sz="2300" dirty="0" err="1">
                <a:solidFill>
                  <a:schemeClr val="dk1"/>
                </a:solidFill>
              </a:rPr>
              <a:t>estas</a:t>
            </a:r>
            <a:r>
              <a:rPr lang="en-US" sz="2300" dirty="0">
                <a:solidFill>
                  <a:schemeClr val="dk1"/>
                </a:solidFill>
              </a:rPr>
              <a:t> </a:t>
            </a:r>
            <a:r>
              <a:rPr lang="en-US" sz="2300" dirty="0" err="1">
                <a:solidFill>
                  <a:schemeClr val="dk1"/>
                </a:solidFill>
              </a:rPr>
              <a:t>tecnologías</a:t>
            </a:r>
            <a:r>
              <a:rPr lang="en-US" sz="2300" dirty="0">
                <a:solidFill>
                  <a:schemeClr val="dk1"/>
                </a:solidFill>
              </a:rPr>
              <a:t> ha </a:t>
            </a:r>
            <a:r>
              <a:rPr lang="en-US" sz="2300" dirty="0" err="1">
                <a:solidFill>
                  <a:schemeClr val="dk1"/>
                </a:solidFill>
              </a:rPr>
              <a:t>transformado</a:t>
            </a:r>
            <a:r>
              <a:rPr lang="en-US" sz="2300" dirty="0">
                <a:solidFill>
                  <a:schemeClr val="dk1"/>
                </a:solidFill>
              </a:rPr>
              <a:t> la forma </a:t>
            </a:r>
            <a:r>
              <a:rPr lang="en-US" sz="2300" dirty="0" err="1">
                <a:solidFill>
                  <a:schemeClr val="dk1"/>
                </a:solidFill>
              </a:rPr>
              <a:t>en</a:t>
            </a:r>
            <a:r>
              <a:rPr lang="en-US" sz="2300" dirty="0">
                <a:solidFill>
                  <a:schemeClr val="dk1"/>
                </a:solidFill>
              </a:rPr>
              <a:t> que </a:t>
            </a:r>
            <a:r>
              <a:rPr lang="en-US" sz="2300" dirty="0" err="1">
                <a:solidFill>
                  <a:schemeClr val="dk1"/>
                </a:solidFill>
              </a:rPr>
              <a:t>los</a:t>
            </a:r>
            <a:r>
              <a:rPr lang="en-US" sz="2300" dirty="0">
                <a:solidFill>
                  <a:schemeClr val="dk1"/>
                </a:solidFill>
              </a:rPr>
              <a:t> </a:t>
            </a:r>
            <a:r>
              <a:rPr lang="en-US" sz="2300" dirty="0" err="1">
                <a:solidFill>
                  <a:schemeClr val="dk1"/>
                </a:solidFill>
              </a:rPr>
              <a:t>agricultores</a:t>
            </a:r>
            <a:r>
              <a:rPr lang="en-US" sz="2300" dirty="0">
                <a:solidFill>
                  <a:schemeClr val="dk1"/>
                </a:solidFill>
              </a:rPr>
              <a:t> </a:t>
            </a:r>
            <a:r>
              <a:rPr lang="en-US" sz="2300" dirty="0" err="1">
                <a:solidFill>
                  <a:schemeClr val="dk1"/>
                </a:solidFill>
              </a:rPr>
              <a:t>operan</a:t>
            </a:r>
            <a:r>
              <a:rPr lang="en-US" sz="2300" dirty="0">
                <a:solidFill>
                  <a:schemeClr val="dk1"/>
                </a:solidFill>
              </a:rPr>
              <a:t>, </a:t>
            </a:r>
            <a:r>
              <a:rPr lang="en-US" sz="2300" dirty="0" err="1">
                <a:solidFill>
                  <a:schemeClr val="dk1"/>
                </a:solidFill>
              </a:rPr>
              <a:t>permitiéndoles</a:t>
            </a:r>
            <a:r>
              <a:rPr lang="en-US" sz="2300" dirty="0">
                <a:solidFill>
                  <a:schemeClr val="dk1"/>
                </a:solidFill>
              </a:rPr>
              <a:t> </a:t>
            </a:r>
            <a:r>
              <a:rPr lang="en-US" sz="2300" b="1" dirty="0" err="1">
                <a:solidFill>
                  <a:schemeClr val="dk1"/>
                </a:solidFill>
              </a:rPr>
              <a:t>tomar</a:t>
            </a:r>
            <a:r>
              <a:rPr lang="en-US" sz="2300" b="1" dirty="0">
                <a:solidFill>
                  <a:schemeClr val="dk1"/>
                </a:solidFill>
              </a:rPr>
              <a:t> </a:t>
            </a:r>
            <a:r>
              <a:rPr lang="en-US" sz="2300" b="1" dirty="0" err="1">
                <a:solidFill>
                  <a:schemeClr val="dk1"/>
                </a:solidFill>
              </a:rPr>
              <a:t>decisiones</a:t>
            </a:r>
            <a:r>
              <a:rPr lang="en-US" sz="2300" b="1" dirty="0">
                <a:solidFill>
                  <a:schemeClr val="dk1"/>
                </a:solidFill>
              </a:rPr>
              <a:t> </a:t>
            </a:r>
            <a:r>
              <a:rPr lang="en-US" sz="2300" b="1" dirty="0" err="1">
                <a:solidFill>
                  <a:schemeClr val="dk1"/>
                </a:solidFill>
              </a:rPr>
              <a:t>basadas</a:t>
            </a:r>
            <a:r>
              <a:rPr lang="en-US" sz="2300" b="1" dirty="0">
                <a:solidFill>
                  <a:schemeClr val="dk1"/>
                </a:solidFill>
              </a:rPr>
              <a:t> </a:t>
            </a:r>
            <a:r>
              <a:rPr lang="en-US" sz="2300" b="1" dirty="0" err="1">
                <a:solidFill>
                  <a:schemeClr val="dk1"/>
                </a:solidFill>
              </a:rPr>
              <a:t>en</a:t>
            </a:r>
            <a:r>
              <a:rPr lang="en-US" sz="2300" b="1" dirty="0">
                <a:solidFill>
                  <a:schemeClr val="dk1"/>
                </a:solidFill>
              </a:rPr>
              <a:t> </a:t>
            </a:r>
            <a:r>
              <a:rPr lang="en-US" sz="2300" b="1" dirty="0" err="1">
                <a:solidFill>
                  <a:schemeClr val="dk1"/>
                </a:solidFill>
              </a:rPr>
              <a:t>datos</a:t>
            </a:r>
            <a:r>
              <a:rPr lang="en-US" sz="2300" dirty="0">
                <a:solidFill>
                  <a:schemeClr val="dk1"/>
                </a:solidFill>
              </a:rPr>
              <a:t> </a:t>
            </a:r>
            <a:r>
              <a:rPr lang="en-US" sz="2300" dirty="0" err="1">
                <a:solidFill>
                  <a:schemeClr val="dk1"/>
                </a:solidFill>
              </a:rPr>
              <a:t>en</a:t>
            </a:r>
            <a:r>
              <a:rPr lang="en-US" sz="2300" dirty="0">
                <a:solidFill>
                  <a:schemeClr val="dk1"/>
                </a:solidFill>
              </a:rPr>
              <a:t> </a:t>
            </a:r>
            <a:r>
              <a:rPr lang="en-US" sz="2300" dirty="0" err="1">
                <a:solidFill>
                  <a:schemeClr val="dk1"/>
                </a:solidFill>
              </a:rPr>
              <a:t>lugar</a:t>
            </a:r>
            <a:r>
              <a:rPr lang="en-US" sz="2300" dirty="0">
                <a:solidFill>
                  <a:schemeClr val="dk1"/>
                </a:solidFill>
              </a:rPr>
              <a:t> de </a:t>
            </a:r>
            <a:r>
              <a:rPr lang="en-US" sz="2300" dirty="0" err="1">
                <a:solidFill>
                  <a:schemeClr val="dk1"/>
                </a:solidFill>
              </a:rPr>
              <a:t>depender</a:t>
            </a:r>
            <a:r>
              <a:rPr lang="en-US" sz="2300" dirty="0">
                <a:solidFill>
                  <a:schemeClr val="dk1"/>
                </a:solidFill>
              </a:rPr>
              <a:t> de </a:t>
            </a:r>
            <a:r>
              <a:rPr lang="en-US" sz="2300" dirty="0" err="1">
                <a:solidFill>
                  <a:schemeClr val="dk1"/>
                </a:solidFill>
              </a:rPr>
              <a:t>estimaciones</a:t>
            </a:r>
            <a:r>
              <a:rPr lang="en-US" sz="2300" dirty="0">
                <a:solidFill>
                  <a:schemeClr val="dk1"/>
                </a:solidFill>
              </a:rPr>
              <a:t> o la </a:t>
            </a:r>
            <a:r>
              <a:rPr lang="en-US" sz="2300" dirty="0" err="1">
                <a:solidFill>
                  <a:schemeClr val="dk1"/>
                </a:solidFill>
              </a:rPr>
              <a:t>experiencia</a:t>
            </a:r>
            <a:r>
              <a:rPr lang="en-US" sz="2300" dirty="0">
                <a:solidFill>
                  <a:schemeClr val="dk1"/>
                </a:solidFill>
              </a:rPr>
              <a:t> </a:t>
            </a:r>
            <a:r>
              <a:rPr lang="en-US" sz="2300" dirty="0" err="1">
                <a:solidFill>
                  <a:schemeClr val="dk1"/>
                </a:solidFill>
              </a:rPr>
              <a:t>empírica</a:t>
            </a:r>
            <a:r>
              <a:rPr lang="en-US" sz="2300" dirty="0">
                <a:solidFill>
                  <a:schemeClr val="dk1"/>
                </a:solidFill>
              </a:rPr>
              <a:t>. Esta </a:t>
            </a:r>
            <a:r>
              <a:rPr lang="en-US" sz="2300" dirty="0" err="1">
                <a:solidFill>
                  <a:schemeClr val="dk1"/>
                </a:solidFill>
              </a:rPr>
              <a:t>innovación</a:t>
            </a:r>
            <a:r>
              <a:rPr lang="en-US" sz="2300" dirty="0">
                <a:solidFill>
                  <a:schemeClr val="dk1"/>
                </a:solidFill>
              </a:rPr>
              <a:t> ha </a:t>
            </a:r>
            <a:r>
              <a:rPr lang="en-US" sz="2300" dirty="0" err="1">
                <a:solidFill>
                  <a:schemeClr val="dk1"/>
                </a:solidFill>
              </a:rPr>
              <a:t>mejorado</a:t>
            </a:r>
            <a:r>
              <a:rPr lang="en-US" sz="2300" dirty="0">
                <a:solidFill>
                  <a:schemeClr val="dk1"/>
                </a:solidFill>
              </a:rPr>
              <a:t> tanto la </a:t>
            </a:r>
            <a:r>
              <a:rPr lang="en-US" sz="2300" dirty="0" err="1">
                <a:solidFill>
                  <a:schemeClr val="dk1"/>
                </a:solidFill>
              </a:rPr>
              <a:t>productividad</a:t>
            </a:r>
            <a:r>
              <a:rPr lang="en-US" sz="2300" dirty="0">
                <a:solidFill>
                  <a:schemeClr val="dk1"/>
                </a:solidFill>
              </a:rPr>
              <a:t> </a:t>
            </a:r>
            <a:r>
              <a:rPr lang="en-US" sz="2300" dirty="0" err="1">
                <a:solidFill>
                  <a:schemeClr val="dk1"/>
                </a:solidFill>
              </a:rPr>
              <a:t>como</a:t>
            </a:r>
            <a:r>
              <a:rPr lang="en-US" sz="2300" dirty="0">
                <a:solidFill>
                  <a:schemeClr val="dk1"/>
                </a:solidFill>
              </a:rPr>
              <a:t> la </a:t>
            </a:r>
            <a:r>
              <a:rPr lang="en-US" sz="2300" dirty="0" err="1">
                <a:solidFill>
                  <a:schemeClr val="dk1"/>
                </a:solidFill>
              </a:rPr>
              <a:t>rentabilidad</a:t>
            </a:r>
            <a:r>
              <a:rPr lang="en-US" sz="2300" dirty="0">
                <a:solidFill>
                  <a:schemeClr val="dk1"/>
                </a:solidFill>
              </a:rPr>
              <a:t>, y ha </a:t>
            </a:r>
            <a:r>
              <a:rPr lang="en-US" sz="2300" dirty="0" err="1">
                <a:solidFill>
                  <a:schemeClr val="dk1"/>
                </a:solidFill>
              </a:rPr>
              <a:t>preparado</a:t>
            </a:r>
            <a:r>
              <a:rPr lang="en-US" sz="2300" dirty="0">
                <a:solidFill>
                  <a:schemeClr val="dk1"/>
                </a:solidFill>
              </a:rPr>
              <a:t> </a:t>
            </a:r>
            <a:r>
              <a:rPr lang="en-US" sz="2300" dirty="0" err="1">
                <a:solidFill>
                  <a:schemeClr val="dk1"/>
                </a:solidFill>
              </a:rPr>
              <a:t>el</a:t>
            </a:r>
            <a:r>
              <a:rPr lang="en-US" sz="2300" dirty="0">
                <a:solidFill>
                  <a:schemeClr val="dk1"/>
                </a:solidFill>
              </a:rPr>
              <a:t> </a:t>
            </a:r>
            <a:r>
              <a:rPr lang="en-US" sz="2300" dirty="0" err="1">
                <a:solidFill>
                  <a:schemeClr val="dk1"/>
                </a:solidFill>
              </a:rPr>
              <a:t>camino</a:t>
            </a:r>
            <a:r>
              <a:rPr lang="en-US" sz="2300" dirty="0">
                <a:solidFill>
                  <a:schemeClr val="dk1"/>
                </a:solidFill>
              </a:rPr>
              <a:t> </a:t>
            </a:r>
            <a:r>
              <a:rPr lang="en-US" sz="2300" dirty="0" err="1">
                <a:solidFill>
                  <a:schemeClr val="dk1"/>
                </a:solidFill>
              </a:rPr>
              <a:t>hacia</a:t>
            </a:r>
            <a:r>
              <a:rPr lang="en-US" sz="2300" dirty="0">
                <a:solidFill>
                  <a:schemeClr val="dk1"/>
                </a:solidFill>
              </a:rPr>
              <a:t> </a:t>
            </a:r>
            <a:r>
              <a:rPr lang="en-US" sz="2300" dirty="0" err="1">
                <a:solidFill>
                  <a:schemeClr val="dk1"/>
                </a:solidFill>
              </a:rPr>
              <a:t>una</a:t>
            </a:r>
            <a:r>
              <a:rPr lang="en-US" sz="2300" dirty="0">
                <a:solidFill>
                  <a:schemeClr val="dk1"/>
                </a:solidFill>
              </a:rPr>
              <a:t> </a:t>
            </a:r>
            <a:r>
              <a:rPr lang="en-US" sz="2300" dirty="0" err="1">
                <a:solidFill>
                  <a:schemeClr val="dk1"/>
                </a:solidFill>
              </a:rPr>
              <a:t>agricultura</a:t>
            </a:r>
            <a:r>
              <a:rPr lang="en-US" sz="2300" dirty="0">
                <a:solidFill>
                  <a:schemeClr val="dk1"/>
                </a:solidFill>
              </a:rPr>
              <a:t> </a:t>
            </a:r>
            <a:r>
              <a:rPr lang="en-US" sz="2300" dirty="0" err="1">
                <a:solidFill>
                  <a:schemeClr val="dk1"/>
                </a:solidFill>
              </a:rPr>
              <a:t>más</a:t>
            </a:r>
            <a:r>
              <a:rPr lang="en-US" sz="2300" dirty="0">
                <a:solidFill>
                  <a:schemeClr val="dk1"/>
                </a:solidFill>
              </a:rPr>
              <a:t> </a:t>
            </a:r>
            <a:r>
              <a:rPr lang="en-US" sz="2300" dirty="0" err="1">
                <a:solidFill>
                  <a:schemeClr val="dk1"/>
                </a:solidFill>
              </a:rPr>
              <a:t>sostenible</a:t>
            </a:r>
            <a:r>
              <a:rPr lang="en-US" sz="2300" dirty="0">
                <a:solidFill>
                  <a:schemeClr val="dk1"/>
                </a:solidFill>
              </a:rPr>
              <a:t> y </a:t>
            </a:r>
            <a:r>
              <a:rPr lang="en-US" sz="2300" dirty="0" err="1">
                <a:solidFill>
                  <a:schemeClr val="dk1"/>
                </a:solidFill>
              </a:rPr>
              <a:t>tecnológicamente</a:t>
            </a:r>
            <a:r>
              <a:rPr lang="en-US" sz="2300" dirty="0">
                <a:solidFill>
                  <a:schemeClr val="dk1"/>
                </a:solidFill>
              </a:rPr>
              <a:t> </a:t>
            </a:r>
            <a:r>
              <a:rPr lang="en-US" sz="2300" dirty="0" err="1">
                <a:solidFill>
                  <a:schemeClr val="dk1"/>
                </a:solidFill>
              </a:rPr>
              <a:t>avanzada</a:t>
            </a:r>
            <a:r>
              <a:rPr lang="en-US" sz="2300" dirty="0">
                <a:solidFill>
                  <a:schemeClr val="dk1"/>
                </a:solidFill>
              </a:rPr>
              <a:t>.</a:t>
            </a:r>
            <a:endParaRPr sz="2300" dirty="0">
              <a:solidFill>
                <a:schemeClr val="dk1"/>
              </a:solidFill>
            </a:endParaRPr>
          </a:p>
          <a:p>
            <a:pPr marL="457200" lvl="0" indent="0" algn="l" rtl="0">
              <a:lnSpc>
                <a:spcPct val="115000"/>
              </a:lnSpc>
              <a:spcBef>
                <a:spcPts val="1200"/>
              </a:spcBef>
              <a:spcAft>
                <a:spcPts val="0"/>
              </a:spcAft>
              <a:buNone/>
            </a:pPr>
            <a:endParaRPr sz="2300" b="1" dirty="0">
              <a:solidFill>
                <a:schemeClr val="dk1"/>
              </a:solidFill>
            </a:endParaRPr>
          </a:p>
          <a:p>
            <a:pPr marL="0" lvl="0" indent="0" algn="l" rtl="0">
              <a:lnSpc>
                <a:spcPct val="115000"/>
              </a:lnSpc>
              <a:spcBef>
                <a:spcPts val="1200"/>
              </a:spcBef>
              <a:spcAft>
                <a:spcPts val="0"/>
              </a:spcAft>
              <a:buNone/>
            </a:pPr>
            <a:endParaRPr sz="2300" dirty="0">
              <a:solidFill>
                <a:schemeClr val="dk1"/>
              </a:solidFill>
            </a:endParaRPr>
          </a:p>
          <a:p>
            <a:pPr marL="0" lvl="0" indent="0" algn="l" rtl="0">
              <a:lnSpc>
                <a:spcPct val="115000"/>
              </a:lnSpc>
              <a:spcBef>
                <a:spcPts val="1200"/>
              </a:spcBef>
              <a:spcAft>
                <a:spcPts val="0"/>
              </a:spcAft>
              <a:buNone/>
            </a:pPr>
            <a:endParaRPr sz="2300" dirty="0">
              <a:solidFill>
                <a:schemeClr val="dk1"/>
              </a:solidFill>
            </a:endParaRPr>
          </a:p>
          <a:p>
            <a:pPr marL="0" lvl="0" indent="0" algn="l" rtl="0">
              <a:lnSpc>
                <a:spcPct val="115000"/>
              </a:lnSpc>
              <a:spcBef>
                <a:spcPts val="1200"/>
              </a:spcBef>
              <a:spcAft>
                <a:spcPts val="0"/>
              </a:spcAft>
              <a:buNone/>
            </a:pPr>
            <a:endParaRPr sz="2300" dirty="0">
              <a:solidFill>
                <a:schemeClr val="dk1"/>
              </a:solidFill>
            </a:endParaRPr>
          </a:p>
          <a:p>
            <a:pPr marL="0" lvl="0" indent="0" algn="l" rtl="0">
              <a:lnSpc>
                <a:spcPct val="115000"/>
              </a:lnSpc>
              <a:spcBef>
                <a:spcPts val="1200"/>
              </a:spcBef>
              <a:spcAft>
                <a:spcPts val="0"/>
              </a:spcAft>
              <a:buNone/>
            </a:pPr>
            <a:endParaRPr sz="23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dirty="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dirty="0">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dirty="0">
              <a:solidFill>
                <a:srgbClr val="000000"/>
              </a:solidFill>
              <a:latin typeface="Arial"/>
              <a:ea typeface="Arial"/>
              <a:cs typeface="Arial"/>
              <a:sym typeface="Arial"/>
            </a:endParaRPr>
          </a:p>
        </p:txBody>
      </p:sp>
      <p:pic>
        <p:nvPicPr>
          <p:cNvPr id="392" name="Google Shape;392;g308c30d8e00_0_225"/>
          <p:cNvPicPr preferRelativeResize="0"/>
          <p:nvPr/>
        </p:nvPicPr>
        <p:blipFill>
          <a:blip r:embed="rId4">
            <a:alphaModFix/>
          </a:blip>
          <a:stretch>
            <a:fillRect/>
          </a:stretch>
        </p:blipFill>
        <p:spPr>
          <a:xfrm>
            <a:off x="14398475" y="3538344"/>
            <a:ext cx="3505074" cy="234548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405" name="Google Shape;405;g308c30d8e00_0_24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06" name="Google Shape;406;g308c30d8e00_0_241"/>
          <p:cNvSpPr txBox="1"/>
          <p:nvPr/>
        </p:nvSpPr>
        <p:spPr>
          <a:xfrm>
            <a:off x="2450400" y="3429000"/>
            <a:ext cx="133872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n-US" sz="5800" b="1">
                <a:solidFill>
                  <a:schemeClr val="accent6"/>
                </a:solidFill>
                <a:latin typeface="Raleway"/>
                <a:ea typeface="Raleway"/>
                <a:cs typeface="Raleway"/>
                <a:sym typeface="Raleway"/>
              </a:rPr>
              <a:t>Experiencia del proceso de transformación digital en una empresa del sector servicios  </a:t>
            </a:r>
            <a:endParaRPr sz="5800" b="1" i="0" u="none" strike="noStrike" cap="none">
              <a:solidFill>
                <a:schemeClr val="accent6"/>
              </a:solidFill>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9" name="Google Shape;419;g308c30d8e00_0_25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20" name="Google Shape;420;g308c30d8e00_0_25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Contexto de la Transformación Digital en el Sector Servicios</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421" name="Google Shape;421;g308c30d8e00_0_254"/>
          <p:cNvSpPr txBox="1"/>
          <p:nvPr/>
        </p:nvSpPr>
        <p:spPr>
          <a:xfrm>
            <a:off x="3219000" y="30422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El sector servicios abarca una amplia gama de industrias, desde bancos, seguros, hoteles, hasta telecomunicaciones, entre otros. En este sector, la tecnología digital ha revolucionado la manera en que las empresas interactúan con los clientes, gestionan sus operaciones internas y toman decisiones estratégicas basadas en datos. Tecnologías como la </a:t>
            </a:r>
            <a:r>
              <a:rPr lang="en-US" sz="2300" b="1">
                <a:solidFill>
                  <a:schemeClr val="dk1"/>
                </a:solidFill>
              </a:rPr>
              <a:t>inteligencia artificial (IA)</a:t>
            </a:r>
            <a:r>
              <a:rPr lang="en-US" sz="2300">
                <a:solidFill>
                  <a:schemeClr val="dk1"/>
                </a:solidFill>
              </a:rPr>
              <a:t>, el </a:t>
            </a:r>
            <a:r>
              <a:rPr lang="en-US" sz="2300" b="1">
                <a:solidFill>
                  <a:schemeClr val="dk1"/>
                </a:solidFill>
              </a:rPr>
              <a:t>Big Data</a:t>
            </a:r>
            <a:r>
              <a:rPr lang="en-US" sz="2300">
                <a:solidFill>
                  <a:schemeClr val="dk1"/>
                </a:solidFill>
              </a:rPr>
              <a:t>, la </a:t>
            </a:r>
            <a:r>
              <a:rPr lang="en-US" sz="2300" b="1">
                <a:solidFill>
                  <a:schemeClr val="dk1"/>
                </a:solidFill>
              </a:rPr>
              <a:t>automatización</a:t>
            </a:r>
            <a:r>
              <a:rPr lang="en-US" sz="2300">
                <a:solidFill>
                  <a:schemeClr val="dk1"/>
                </a:solidFill>
              </a:rPr>
              <a:t> y el </a:t>
            </a:r>
            <a:r>
              <a:rPr lang="en-US" sz="2300" b="1">
                <a:solidFill>
                  <a:schemeClr val="dk1"/>
                </a:solidFill>
              </a:rPr>
              <a:t>Internet de las Cosas (IoT)</a:t>
            </a:r>
            <a:r>
              <a:rPr lang="en-US" sz="2300">
                <a:solidFill>
                  <a:schemeClr val="dk1"/>
                </a:solidFill>
              </a:rPr>
              <a:t> han permitido que las empresas ofrezcan servicios personalizados, eficientes y escalables.</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34" name="Google Shape;434;g308c30d8e00_0_27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35" name="Google Shape;435;g308c30d8e00_0_271"/>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Ejemplo Real: Transformación Digital en el Banco BBVA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436" name="Google Shape;436;g308c30d8e00_0_271"/>
          <p:cNvSpPr txBox="1"/>
          <p:nvPr/>
        </p:nvSpPr>
        <p:spPr>
          <a:xfrm>
            <a:off x="3860250" y="3042250"/>
            <a:ext cx="88629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El BBVA, un banco multinacional español, es un ejemplo claro de cómo una empresa del sector servicios ha abrazado la transformación digital para mantenerse competitiva en la era digital. Revisaremos a continuación como ha desarrollado su transformación digital para volverse mas competitivos y eficientes.</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437" name="Google Shape;437;g308c30d8e00_0_271"/>
          <p:cNvPicPr preferRelativeResize="0"/>
          <p:nvPr/>
        </p:nvPicPr>
        <p:blipFill>
          <a:blip r:embed="rId4">
            <a:alphaModFix/>
          </a:blip>
          <a:stretch>
            <a:fillRect/>
          </a:stretch>
        </p:blipFill>
        <p:spPr>
          <a:xfrm>
            <a:off x="14361300" y="3243348"/>
            <a:ext cx="3169525" cy="16640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50" name="Google Shape;450;g308c30d8e00_0_287"/>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51" name="Google Shape;451;g308c30d8e00_0_287"/>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Digitalización de la Banca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452" name="Google Shape;452;g308c30d8e00_0_287"/>
          <p:cNvSpPr txBox="1"/>
          <p:nvPr/>
        </p:nvSpPr>
        <p:spPr>
          <a:xfrm>
            <a:off x="4192150" y="3042250"/>
            <a:ext cx="89865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BBVA apostó por la digitalización de sus operaciones para mejorar la experiencia del cliente. Desarrollaron una plataforma de banca en línea y una aplicación móvil que permiten a los usuarios realizar operaciones bancarias, transferencias, pagos, y gestionar sus cuentas sin necesidad de visitar una sucursal física. Esta iniciativa facilitó una experiencia bancaria mucho más rápida, segura y personalizada.</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453" name="Google Shape;453;g308c30d8e00_0_287"/>
          <p:cNvPicPr preferRelativeResize="0"/>
          <p:nvPr/>
        </p:nvPicPr>
        <p:blipFill>
          <a:blip r:embed="rId4">
            <a:alphaModFix/>
          </a:blip>
          <a:stretch>
            <a:fillRect/>
          </a:stretch>
        </p:blipFill>
        <p:spPr>
          <a:xfrm>
            <a:off x="14330375" y="3394648"/>
            <a:ext cx="3169525" cy="16640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6" name="Google Shape;466;g308c30d8e00_0_30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67" name="Google Shape;467;g308c30d8e00_0_30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Uso del Big Data y la IA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468" name="Google Shape;468;g308c30d8e00_0_304"/>
          <p:cNvSpPr txBox="1"/>
          <p:nvPr/>
        </p:nvSpPr>
        <p:spPr>
          <a:xfrm>
            <a:off x="3895500" y="2890950"/>
            <a:ext cx="8792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2300">
                <a:solidFill>
                  <a:schemeClr val="dk1"/>
                </a:solidFill>
              </a:rPr>
              <a:t>El banco incorporó el análisis de </a:t>
            </a:r>
            <a:r>
              <a:rPr lang="en-US" sz="2300" b="1">
                <a:solidFill>
                  <a:schemeClr val="dk1"/>
                </a:solidFill>
              </a:rPr>
              <a:t>Big Data</a:t>
            </a:r>
            <a:r>
              <a:rPr lang="en-US" sz="2300">
                <a:solidFill>
                  <a:schemeClr val="dk1"/>
                </a:solidFill>
              </a:rPr>
              <a:t> y </a:t>
            </a:r>
            <a:r>
              <a:rPr lang="en-US" sz="2300" b="1">
                <a:solidFill>
                  <a:schemeClr val="dk1"/>
                </a:solidFill>
              </a:rPr>
              <a:t>algoritmos de IA</a:t>
            </a:r>
            <a:r>
              <a:rPr lang="en-US" sz="2300">
                <a:solidFill>
                  <a:schemeClr val="dk1"/>
                </a:solidFill>
              </a:rPr>
              <a:t> para ofrecer servicios financieros personalizados. A través del análisis de los patrones de gasto y comportamiento de sus clientes, BBVA puede hacer recomendaciones personalizadas de productos financieros, ofrecer préstamos pre-aprobados y alertar a los usuarios sobre oportunidades de ahorro o inversión</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469" name="Google Shape;469;g308c30d8e00_0_304"/>
          <p:cNvPicPr preferRelativeResize="0"/>
          <p:nvPr/>
        </p:nvPicPr>
        <p:blipFill>
          <a:blip r:embed="rId4">
            <a:alphaModFix/>
          </a:blip>
          <a:stretch>
            <a:fillRect/>
          </a:stretch>
        </p:blipFill>
        <p:spPr>
          <a:xfrm>
            <a:off x="14345825" y="3243348"/>
            <a:ext cx="3169525" cy="16640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82" name="Google Shape;482;g308c30d8e00_0_32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83" name="Google Shape;483;g308c30d8e00_0_32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Chatbots y Atención al Cliente</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484" name="Google Shape;484;g308c30d8e00_0_320"/>
          <p:cNvSpPr txBox="1"/>
          <p:nvPr/>
        </p:nvSpPr>
        <p:spPr>
          <a:xfrm>
            <a:off x="4649250" y="3042250"/>
            <a:ext cx="7284900" cy="2368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US" sz="2300">
                <a:solidFill>
                  <a:schemeClr val="dk1"/>
                </a:solidFill>
              </a:rPr>
              <a:t>BBVA implementó un sistema de atención al cliente automatizado con </a:t>
            </a:r>
            <a:r>
              <a:rPr lang="en-US" sz="2300" b="1">
                <a:solidFill>
                  <a:schemeClr val="dk1"/>
                </a:solidFill>
              </a:rPr>
              <a:t>chatbots</a:t>
            </a:r>
            <a:r>
              <a:rPr lang="en-US" sz="2300">
                <a:solidFill>
                  <a:schemeClr val="dk1"/>
                </a:solidFill>
              </a:rPr>
              <a:t> basados en inteligencia artificial, lo que permite responder preguntas frecuentes de manera rápida y eficiente. Esto redujo los tiempos de espera y mejoró la satisfacción del cliente.</a:t>
            </a:r>
            <a:endParaRPr sz="2300">
              <a:solidFill>
                <a:schemeClr val="dk1"/>
              </a:solidFill>
            </a:endParaRPr>
          </a:p>
          <a:p>
            <a:pPr marL="457200" lvl="0" indent="0" algn="ctr" rtl="0">
              <a:lnSpc>
                <a:spcPct val="115000"/>
              </a:lnSpc>
              <a:spcBef>
                <a:spcPts val="1200"/>
              </a:spcBef>
              <a:spcAft>
                <a:spcPts val="0"/>
              </a:spcAft>
              <a:buNone/>
            </a:pPr>
            <a:endParaRPr sz="2300" b="1">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marR="0" lvl="0" indent="0" algn="ctr"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ctr"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ctr"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485" name="Google Shape;485;g308c30d8e00_0_320"/>
          <p:cNvPicPr preferRelativeResize="0"/>
          <p:nvPr/>
        </p:nvPicPr>
        <p:blipFill>
          <a:blip r:embed="rId4">
            <a:alphaModFix/>
          </a:blip>
          <a:stretch>
            <a:fillRect/>
          </a:stretch>
        </p:blipFill>
        <p:spPr>
          <a:xfrm>
            <a:off x="14361300" y="3042248"/>
            <a:ext cx="3169525" cy="16640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8" name="Google Shape;498;g308c30d8e00_0_336"/>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499" name="Google Shape;499;g308c30d8e00_0_336"/>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Cultura de Innovación</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00" name="Google Shape;500;g308c30d8e00_0_336"/>
          <p:cNvSpPr txBox="1"/>
          <p:nvPr/>
        </p:nvSpPr>
        <p:spPr>
          <a:xfrm>
            <a:off x="5279950" y="2933950"/>
            <a:ext cx="7300500" cy="2368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US" sz="2300">
                <a:solidFill>
                  <a:schemeClr val="dk1"/>
                </a:solidFill>
              </a:rPr>
              <a:t>BBVA también fomentó una cultura interna de innovación, brindando capacitaciones y promoviendo la colaboración entre departamentos para que sus empleados puedan adaptarse a las nuevas herramientas tecnológicas y formas de trabajo.</a:t>
            </a:r>
            <a:endParaRPr sz="2300">
              <a:solidFill>
                <a:schemeClr val="dk1"/>
              </a:solidFill>
            </a:endParaRPr>
          </a:p>
          <a:p>
            <a:pPr marL="457200" lvl="0" indent="0" algn="ctr" rtl="0">
              <a:lnSpc>
                <a:spcPct val="115000"/>
              </a:lnSpc>
              <a:spcBef>
                <a:spcPts val="1200"/>
              </a:spcBef>
              <a:spcAft>
                <a:spcPts val="0"/>
              </a:spcAft>
              <a:buNone/>
            </a:pPr>
            <a:endParaRPr sz="2300" b="1">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lvl="0" indent="0" algn="ctr" rtl="0">
              <a:lnSpc>
                <a:spcPct val="115000"/>
              </a:lnSpc>
              <a:spcBef>
                <a:spcPts val="1200"/>
              </a:spcBef>
              <a:spcAft>
                <a:spcPts val="0"/>
              </a:spcAft>
              <a:buNone/>
            </a:pPr>
            <a:endParaRPr sz="2300">
              <a:solidFill>
                <a:schemeClr val="dk1"/>
              </a:solidFill>
            </a:endParaRPr>
          </a:p>
          <a:p>
            <a:pPr marL="0" marR="0" lvl="0" indent="0" algn="ctr"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ctr"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ctr"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ctr"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ctr"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501" name="Google Shape;501;g308c30d8e00_0_336"/>
          <p:cNvPicPr preferRelativeResize="0"/>
          <p:nvPr/>
        </p:nvPicPr>
        <p:blipFill>
          <a:blip r:embed="rId4">
            <a:alphaModFix/>
          </a:blip>
          <a:stretch>
            <a:fillRect/>
          </a:stretch>
        </p:blipFill>
        <p:spPr>
          <a:xfrm>
            <a:off x="14361300" y="3042248"/>
            <a:ext cx="3169525" cy="16640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14" name="Google Shape;514;g308c30d8e00_0_35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15" name="Google Shape;515;g308c30d8e00_0_351"/>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Resultados de la Transformación Digital de BBVA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16" name="Google Shape;516;g308c30d8e00_0_351"/>
          <p:cNvSpPr txBox="1"/>
          <p:nvPr/>
        </p:nvSpPr>
        <p:spPr>
          <a:xfrm>
            <a:off x="3358225" y="2098650"/>
            <a:ext cx="10145400" cy="2368800"/>
          </a:xfrm>
          <a:prstGeom prst="rect">
            <a:avLst/>
          </a:prstGeom>
          <a:noFill/>
          <a:ln>
            <a:noFill/>
          </a:ln>
        </p:spPr>
        <p:txBody>
          <a:bodyPr spcFirstLastPara="1" wrap="square" lIns="91425" tIns="91425" rIns="91425" bIns="91425" anchor="t" anchorCtr="0">
            <a:noAutofit/>
          </a:bodyPr>
          <a:lstStyle/>
          <a:p>
            <a:pPr marL="457200" lvl="0" indent="-374650" algn="l" rtl="0">
              <a:lnSpc>
                <a:spcPct val="115000"/>
              </a:lnSpc>
              <a:spcBef>
                <a:spcPts val="1200"/>
              </a:spcBef>
              <a:spcAft>
                <a:spcPts val="0"/>
              </a:spcAft>
              <a:buClr>
                <a:schemeClr val="dk1"/>
              </a:buClr>
              <a:buSzPts val="2300"/>
              <a:buChar char="●"/>
            </a:pPr>
            <a:r>
              <a:rPr lang="en-US" sz="2300">
                <a:solidFill>
                  <a:schemeClr val="dk1"/>
                </a:solidFill>
              </a:rPr>
              <a:t>El banco logró aumentar su base de clientes digitales de manera exponencial. Hoy en día, más del 50% de sus clientes operan exclusivamente a través de canales digitales.</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Reducción de costos operativos al automatizar procesos que antes requerían intervención humana.</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Mejora significativa en la satisfacción del cliente, que ahora puede realizar transacciones de manera más rápida y con menos fricciones.</a:t>
            </a:r>
            <a:br>
              <a:rPr lang="en-US" sz="2300">
                <a:solidFill>
                  <a:schemeClr val="dk1"/>
                </a:solidFill>
              </a:rPr>
            </a:br>
            <a:endParaRPr sz="2300">
              <a:solidFill>
                <a:schemeClr val="dk1"/>
              </a:solidFill>
            </a:endParaRPr>
          </a:p>
          <a:p>
            <a:pPr marL="457200" lvl="0" indent="-374650" algn="l" rtl="0">
              <a:lnSpc>
                <a:spcPct val="115000"/>
              </a:lnSpc>
              <a:spcBef>
                <a:spcPts val="0"/>
              </a:spcBef>
              <a:spcAft>
                <a:spcPts val="0"/>
              </a:spcAft>
              <a:buClr>
                <a:schemeClr val="dk1"/>
              </a:buClr>
              <a:buSzPts val="2300"/>
              <a:buChar char="●"/>
            </a:pPr>
            <a:r>
              <a:rPr lang="en-US" sz="2300">
                <a:solidFill>
                  <a:schemeClr val="dk1"/>
                </a:solidFill>
              </a:rPr>
              <a:t>Incremento en la capacidad del banco para gestionar grandes volúmenes de datos, mejorando la toma de decisiones y las estrategias de marketing.</a:t>
            </a:r>
            <a:endParaRPr sz="2300">
              <a:solidFill>
                <a:schemeClr val="dk1"/>
              </a:solidFill>
            </a:endParaRPr>
          </a:p>
          <a:p>
            <a:pPr marL="457200" lvl="0" indent="0" algn="l" rtl="0">
              <a:lnSpc>
                <a:spcPct val="115000"/>
              </a:lnSpc>
              <a:spcBef>
                <a:spcPts val="1200"/>
              </a:spcBef>
              <a:spcAft>
                <a:spcPts val="0"/>
              </a:spcAft>
              <a:buNone/>
            </a:pPr>
            <a:endParaRPr sz="2300" b="1">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lvl="0" indent="0" algn="l" rtl="0">
              <a:lnSpc>
                <a:spcPct val="115000"/>
              </a:lnSpc>
              <a:spcBef>
                <a:spcPts val="1200"/>
              </a:spcBef>
              <a:spcAft>
                <a:spcPts val="0"/>
              </a:spcAft>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a:solidFill>
                <a:schemeClr val="dk1"/>
              </a:solidFill>
            </a:endParaRPr>
          </a:p>
          <a:p>
            <a:pPr marL="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a:p>
            <a:pPr marL="457200" marR="0" lvl="0" indent="0" algn="l" rtl="0">
              <a:lnSpc>
                <a:spcPct val="115000"/>
              </a:lnSpc>
              <a:spcBef>
                <a:spcPts val="1200"/>
              </a:spcBef>
              <a:spcAft>
                <a:spcPts val="0"/>
              </a:spcAft>
              <a:buClr>
                <a:srgbClr val="000000"/>
              </a:buClr>
              <a:buSzPts val="2300"/>
              <a:buFont typeface="Arial"/>
              <a:buNone/>
            </a:pPr>
            <a:endParaRPr sz="2300" b="0" i="0" u="none" strike="noStrike" cap="none">
              <a:solidFill>
                <a:srgbClr val="000000"/>
              </a:solidFill>
              <a:latin typeface="Arial"/>
              <a:ea typeface="Arial"/>
              <a:cs typeface="Arial"/>
              <a:sym typeface="Arial"/>
            </a:endParaRPr>
          </a:p>
          <a:p>
            <a:pPr marL="0" marR="0" lvl="0" indent="0" algn="l" rtl="0">
              <a:lnSpc>
                <a:spcPct val="115000"/>
              </a:lnSpc>
              <a:spcBef>
                <a:spcPts val="1200"/>
              </a:spcBef>
              <a:spcAft>
                <a:spcPts val="1200"/>
              </a:spcAft>
              <a:buClr>
                <a:srgbClr val="000000"/>
              </a:buClr>
              <a:buSzPts val="2300"/>
              <a:buFont typeface="Arial"/>
              <a:buNone/>
            </a:pPr>
            <a:endParaRPr sz="2300" b="1" i="0" u="none" strike="noStrike" cap="none">
              <a:solidFill>
                <a:srgbClr val="000000"/>
              </a:solidFill>
              <a:latin typeface="Arial"/>
              <a:ea typeface="Arial"/>
              <a:cs typeface="Arial"/>
              <a:sym typeface="Arial"/>
            </a:endParaRPr>
          </a:p>
        </p:txBody>
      </p:sp>
      <p:pic>
        <p:nvPicPr>
          <p:cNvPr id="517" name="Google Shape;517;g308c30d8e00_0_351"/>
          <p:cNvPicPr preferRelativeResize="0"/>
          <p:nvPr/>
        </p:nvPicPr>
        <p:blipFill>
          <a:blip r:embed="rId4">
            <a:alphaModFix/>
          </a:blip>
          <a:stretch>
            <a:fillRect/>
          </a:stretch>
        </p:blipFill>
        <p:spPr>
          <a:xfrm>
            <a:off x="14361300" y="3042248"/>
            <a:ext cx="3169525" cy="16640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30" name="Google Shape;530;g308c30d8e00_0_366"/>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31" name="Google Shape;531;g308c30d8e00_0_366"/>
          <p:cNvSpPr txBox="1"/>
          <p:nvPr/>
        </p:nvSpPr>
        <p:spPr>
          <a:xfrm>
            <a:off x="3337500" y="4372500"/>
            <a:ext cx="133872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n-US" sz="5800" b="1">
                <a:solidFill>
                  <a:schemeClr val="accent6"/>
                </a:solidFill>
                <a:latin typeface="Raleway"/>
                <a:ea typeface="Raleway"/>
                <a:cs typeface="Raleway"/>
                <a:sym typeface="Raleway"/>
              </a:rPr>
              <a:t>Experiencia del proceso de transformación digital en una empresa del sector TIC </a:t>
            </a:r>
            <a:endParaRPr sz="5800" b="1" i="0" u="none" strike="noStrike" cap="none">
              <a:solidFill>
                <a:schemeClr val="accent6"/>
              </a:solidFill>
              <a:latin typeface="Raleway"/>
              <a:ea typeface="Raleway"/>
              <a:cs typeface="Raleway"/>
              <a:sym typeface="Raleway"/>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44" name="Google Shape;544;g308c30d8e00_0_38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45" name="Google Shape;545;g308c30d8e00_0_38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Contexto de la Transformación Digital en el Sector de las Tecnologías</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46" name="Google Shape;546;g308c30d8e00_0_380"/>
          <p:cNvSpPr txBox="1"/>
          <p:nvPr/>
        </p:nvSpPr>
        <p:spPr>
          <a:xfrm>
            <a:off x="3358225" y="20986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El sector TIC ha sido uno de los pioneros en liderar la transformación digital debido a su naturaleza tecnológica. Las empresas de este sector han adoptado herramientas como la </a:t>
            </a:r>
            <a:r>
              <a:rPr lang="en-US" sz="2300" b="1">
                <a:solidFill>
                  <a:schemeClr val="dk1"/>
                </a:solidFill>
              </a:rPr>
              <a:t>nube</a:t>
            </a:r>
            <a:r>
              <a:rPr lang="en-US" sz="2300">
                <a:solidFill>
                  <a:schemeClr val="dk1"/>
                </a:solidFill>
              </a:rPr>
              <a:t>, la </a:t>
            </a:r>
            <a:r>
              <a:rPr lang="en-US" sz="2300" b="1">
                <a:solidFill>
                  <a:schemeClr val="dk1"/>
                </a:solidFill>
              </a:rPr>
              <a:t>inteligencia artificial</a:t>
            </a:r>
            <a:r>
              <a:rPr lang="en-US" sz="2300">
                <a:solidFill>
                  <a:schemeClr val="dk1"/>
                </a:solidFill>
              </a:rPr>
              <a:t> (IA), el </a:t>
            </a:r>
            <a:r>
              <a:rPr lang="en-US" sz="2300" b="1">
                <a:solidFill>
                  <a:schemeClr val="dk1"/>
                </a:solidFill>
              </a:rPr>
              <a:t>big data</a:t>
            </a:r>
            <a:r>
              <a:rPr lang="en-US" sz="2300">
                <a:solidFill>
                  <a:schemeClr val="dk1"/>
                </a:solidFill>
              </a:rPr>
              <a:t> y el </a:t>
            </a:r>
            <a:r>
              <a:rPr lang="en-US" sz="2300" b="1">
                <a:solidFill>
                  <a:schemeClr val="dk1"/>
                </a:solidFill>
              </a:rPr>
              <a:t>Internet de las cosas</a:t>
            </a:r>
            <a:r>
              <a:rPr lang="en-US" sz="2300">
                <a:solidFill>
                  <a:schemeClr val="dk1"/>
                </a:solidFill>
              </a:rPr>
              <a:t> (IoT) para mejorar la eficiencia, automatizar procesos y ofrecer soluciones más ágiles y personalizadas a sus clientes. Este cambio ha permitido a las empresas TIC mantenerse competitivas y responder rápidamente a los cambios en el mercado.</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La transformación digital en este sector no solo ha afectado a las operaciones internas, sino que también ha transformado los modelos de negocio. Las empresas han pasado de vender productos tecnológicos individuales a ofrecer soluciones integrales que incluyen software, hardware y servicios digitales en un ecosistema interconectado.</a:t>
            </a: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9" name="Google Shape;559;g308c30d8e00_0_396"/>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60" name="Google Shape;560;g308c30d8e00_0_396"/>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Ejemplo de Transformación Digital en el Sector de las Tecnologías: Cisco Systems</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61" name="Google Shape;561;g308c30d8e00_0_396"/>
          <p:cNvSpPr txBox="1"/>
          <p:nvPr/>
        </p:nvSpPr>
        <p:spPr>
          <a:xfrm>
            <a:off x="3219000" y="35383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b="1">
                <a:solidFill>
                  <a:schemeClr val="dk1"/>
                </a:solidFill>
              </a:rPr>
              <a:t>Cisco Systems</a:t>
            </a:r>
            <a:r>
              <a:rPr lang="en-US" sz="2300">
                <a:solidFill>
                  <a:schemeClr val="dk1"/>
                </a:solidFill>
              </a:rPr>
              <a:t>, una de las principales empresas del sector TIC, es un ejemplo claro de cómo la transformación digital puede impactar positivamente a una empresa. Cisco, históricamente conocida por su hardware de redes, ha llevado a cabo una transformación digital para evolucionar hacia una empresa basada en </a:t>
            </a:r>
            <a:r>
              <a:rPr lang="en-US" sz="2300" b="1">
                <a:solidFill>
                  <a:schemeClr val="dk1"/>
                </a:solidFill>
              </a:rPr>
              <a:t>software y servicios en la nube</a:t>
            </a:r>
            <a:r>
              <a:rPr lang="en-US" sz="2300">
                <a:solidFill>
                  <a:schemeClr val="dk1"/>
                </a:solidFill>
              </a:rPr>
              <a:t>.</a:t>
            </a: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562" name="Google Shape;562;g308c30d8e00_0_396"/>
          <p:cNvPicPr preferRelativeResize="0"/>
          <p:nvPr/>
        </p:nvPicPr>
        <p:blipFill>
          <a:blip r:embed="rId4">
            <a:alphaModFix/>
          </a:blip>
          <a:stretch>
            <a:fillRect/>
          </a:stretch>
        </p:blipFill>
        <p:spPr>
          <a:xfrm>
            <a:off x="14464625" y="3538349"/>
            <a:ext cx="2661525" cy="14039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75" name="Google Shape;575;g308c30d8e00_0_411"/>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76" name="Google Shape;576;g308c30d8e00_0_411"/>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Cambio de Modelo de Negocio</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77" name="Google Shape;577;g308c30d8e00_0_411"/>
          <p:cNvSpPr txBox="1"/>
          <p:nvPr/>
        </p:nvSpPr>
        <p:spPr>
          <a:xfrm>
            <a:off x="3358225" y="20986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b="1">
                <a:solidFill>
                  <a:schemeClr val="dk1"/>
                </a:solidFill>
              </a:rPr>
              <a:t>Cambio de Modelo de Negocio</a:t>
            </a:r>
            <a:r>
              <a:rPr lang="en-US" sz="2300">
                <a:solidFill>
                  <a:schemeClr val="dk1"/>
                </a:solidFill>
              </a:rPr>
              <a:t>: Cisco pasó de ser un proveedor de hardware a ofrecer soluciones de software como servicio (SaaS). La empresa desarrolló plataformas basadas en la nube para la gestión de redes, lo que permitió a los clientes administrar sus infraestructuras de TI de manera remota y eficiente.</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300" b="1">
                <a:solidFill>
                  <a:schemeClr val="dk1"/>
                </a:solidFill>
              </a:rPr>
              <a:t>Automatización y Análisis de Datos</a:t>
            </a:r>
            <a:r>
              <a:rPr lang="en-US" sz="2300">
                <a:solidFill>
                  <a:schemeClr val="dk1"/>
                </a:solidFill>
              </a:rPr>
              <a:t>: Cisco implementó tecnologías de análisis de datos avanzados para optimizar tanto sus propios procesos internos como los de sus clientes. Por ejemplo, a través de Cisco DNA (Digital Network Architecture), utilizan inteligencia artificial y machine learning para automatizar tareas de redes y analizar el rendimiento de manera predictiva.</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578" name="Google Shape;578;g308c30d8e00_0_411"/>
          <p:cNvPicPr preferRelativeResize="0"/>
          <p:nvPr/>
        </p:nvPicPr>
        <p:blipFill>
          <a:blip r:embed="rId4">
            <a:alphaModFix/>
          </a:blip>
          <a:stretch>
            <a:fillRect/>
          </a:stretch>
        </p:blipFill>
        <p:spPr>
          <a:xfrm>
            <a:off x="14464625" y="3538349"/>
            <a:ext cx="2661525" cy="14039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91" name="Google Shape;591;g308c30d8e00_0_429"/>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592" name="Google Shape;592;g308c30d8e00_0_429"/>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Cambio de Modelo de Negocio</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593" name="Google Shape;593;g308c30d8e00_0_429"/>
          <p:cNvSpPr txBox="1"/>
          <p:nvPr/>
        </p:nvSpPr>
        <p:spPr>
          <a:xfrm>
            <a:off x="3358225" y="3055938"/>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b="1">
                <a:solidFill>
                  <a:schemeClr val="dk1"/>
                </a:solidFill>
              </a:rPr>
              <a:t>Soluciones de Ciberseguridad</a:t>
            </a:r>
            <a:r>
              <a:rPr lang="en-US" sz="2300">
                <a:solidFill>
                  <a:schemeClr val="dk1"/>
                </a:solidFill>
              </a:rPr>
              <a:t>: La transformación digital también permitió a Cisco enfocarse en la ciberseguridad, un área de creciente importancia en la era digital. Sus soluciones de seguridad basadas en la nube ofrecen a las empresas la capacidad de monitorear y proteger sus redes de manera centralizada.</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300" b="1">
                <a:solidFill>
                  <a:schemeClr val="dk1"/>
                </a:solidFill>
              </a:rPr>
              <a:t>Cambio Cultural</a:t>
            </a:r>
            <a:r>
              <a:rPr lang="en-US" sz="2300">
                <a:solidFill>
                  <a:schemeClr val="dk1"/>
                </a:solidFill>
              </a:rPr>
              <a:t>: A nivel interno, Cisco adoptó una cultura organizacional más ágil, promoviendo la innovación y la colaboración entre equipos, lo que facilitó la implementación rápida de nuevas tecnologías y la adaptación al mercado digital.</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594" name="Google Shape;594;g308c30d8e00_0_429"/>
          <p:cNvPicPr preferRelativeResize="0"/>
          <p:nvPr/>
        </p:nvPicPr>
        <p:blipFill>
          <a:blip r:embed="rId4">
            <a:alphaModFix/>
          </a:blip>
          <a:stretch>
            <a:fillRect/>
          </a:stretch>
        </p:blipFill>
        <p:spPr>
          <a:xfrm>
            <a:off x="14464625" y="3538349"/>
            <a:ext cx="2661525" cy="14039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607" name="Google Shape;607;g308c30d8e00_0_44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08" name="Google Shape;608;g308c30d8e00_0_44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Impacto en la Empresa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609" name="Google Shape;609;g308c30d8e00_0_444"/>
          <p:cNvSpPr txBox="1"/>
          <p:nvPr/>
        </p:nvSpPr>
        <p:spPr>
          <a:xfrm>
            <a:off x="3420125" y="33052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Gracias a su transformación digital, Cisco no solo ha mejorado su capacidad para ofrecer soluciones más integrales a sus clientes, sino que también ha logrado un crecimiento significativo en sus ingresos derivados de servicios en la nube y software. El cambio ha permitido a Cisco mantenerse competitiva en un entorno donde la conectividad y la ciberseguridad son esenciales.</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610" name="Google Shape;610;g308c30d8e00_0_444"/>
          <p:cNvPicPr preferRelativeResize="0"/>
          <p:nvPr/>
        </p:nvPicPr>
        <p:blipFill>
          <a:blip r:embed="rId4">
            <a:alphaModFix/>
          </a:blip>
          <a:stretch>
            <a:fillRect/>
          </a:stretch>
        </p:blipFill>
        <p:spPr>
          <a:xfrm>
            <a:off x="14464625" y="3538349"/>
            <a:ext cx="2661525" cy="14039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23" name="Google Shape;623;g308c30d8e00_0_46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24" name="Google Shape;624;g308c30d8e00_0_460"/>
          <p:cNvSpPr txBox="1"/>
          <p:nvPr/>
        </p:nvSpPr>
        <p:spPr>
          <a:xfrm>
            <a:off x="2450400" y="3429000"/>
            <a:ext cx="133872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n-US" sz="5800" b="1">
                <a:solidFill>
                  <a:schemeClr val="accent6"/>
                </a:solidFill>
                <a:latin typeface="Raleway"/>
                <a:ea typeface="Raleway"/>
                <a:cs typeface="Raleway"/>
                <a:sym typeface="Raleway"/>
              </a:rPr>
              <a:t>Experiencia del proceso de transformación digital en una empresa del sector consumo </a:t>
            </a:r>
            <a:endParaRPr sz="5800" b="1" i="0" u="none" strike="noStrike" cap="none">
              <a:solidFill>
                <a:schemeClr val="accent6"/>
              </a:solidFill>
              <a:latin typeface="Raleway"/>
              <a:ea typeface="Raleway"/>
              <a:cs typeface="Raleway"/>
              <a:sym typeface="Raleway"/>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37" name="Google Shape;637;g308c30d8e00_0_47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38" name="Google Shape;638;g308c30d8e00_0_47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Contexto en el Sector de Consumo Masivo</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639" name="Google Shape;639;g308c30d8e00_0_474"/>
          <p:cNvSpPr txBox="1"/>
          <p:nvPr/>
        </p:nvSpPr>
        <p:spPr>
          <a:xfrm>
            <a:off x="3358225" y="209865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Las empresas de este sector (como alimentos, bebidas, productos de higiene y belleza) se enfrentan a retos importantes como la necesidad de mejorar la eficiencia de sus cadenas de suministro, la optimización de sus canales de venta, y la creciente demanda de los consumidores por experiencias más rápidas y personalizadas. En la era digital, estas empresas están buscando aprovechar la tecnología para aumentar su competitividad y responder a la dinámica cambiante del mercado.</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Los consumidores ahora esperan comprar productos a través de plataformas en línea, recibir recomendaciones personalizadas y tener una experiencia fluida entre los canales físicos y digitales. Esto ha impulsado a muchas empresas a adoptar soluciones digitales que les permitan tener una visión 360° de sus operaciones y de sus clientes.</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52" name="Google Shape;652;g308c30d8e00_0_49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53" name="Google Shape;653;g308c30d8e00_0_49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Ejemplo de Transformación Digital: Procter &amp; Gamble (P&amp;G)</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654" name="Google Shape;654;g308c30d8e00_0_490"/>
          <p:cNvSpPr txBox="1"/>
          <p:nvPr/>
        </p:nvSpPr>
        <p:spPr>
          <a:xfrm>
            <a:off x="3296350" y="3429000"/>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Procter &amp; Gamble, uno de los gigantes del sector de consumo masivo, es un ejemplo clave de transformación digital. P&amp;G ha implementado una serie de iniciativas para digitalizar tanto sus procesos de manufactura como sus estrategias de marketing y ventas, las cuales veremos a continuación.</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655" name="Google Shape;655;g308c30d8e00_0_490"/>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8" name="Google Shape;668;g308c30d8e00_0_506"/>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69" name="Google Shape;669;g308c30d8e00_0_506"/>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Optimización de la Cadena de Suministro</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670" name="Google Shape;670;g308c30d8e00_0_506"/>
          <p:cNvSpPr txBox="1"/>
          <p:nvPr/>
        </p:nvSpPr>
        <p:spPr>
          <a:xfrm>
            <a:off x="3420100" y="3243325"/>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P&amp;G utiliza el análisis de datos avanzado para monitorear sus cadenas de suministro en tiempo real, lo que le permite predecir y responder a cambios en la demanda de manera más eficiente. Gracias al uso de sensores y dispositivos IoT, pueden rastrear los niveles de inventario y la ubicación de sus productos a lo largo de toda la cadena, optimizando costos y tiempos de entrega.</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671" name="Google Shape;671;g308c30d8e00_0_506"/>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84" name="Google Shape;684;g308c30d8e00_0_522"/>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85" name="Google Shape;685;g308c30d8e00_0_522"/>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Experiencia del Cliente</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686" name="Google Shape;686;g308c30d8e00_0_522"/>
          <p:cNvSpPr txBox="1"/>
          <p:nvPr/>
        </p:nvSpPr>
        <p:spPr>
          <a:xfrm>
            <a:off x="3389175" y="3243325"/>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La empresa ha aprovechado herramientas de inteligencia artificial y aprendizaje automático para personalizar las experiencias de sus clientes. Por ejemplo, P&amp;G utiliza chatbots y asistentes virtuales en sus sitios web y aplicaciones móviles para ofrecer recomendaciones personalizadas basadas en el historial de compras y las preferencias de los clientes.</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687" name="Google Shape;687;g308c30d8e00_0_522"/>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700" name="Google Shape;700;g308c30d8e00_0_538"/>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01" name="Google Shape;701;g308c30d8e00_0_538"/>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Marketing Digital y Análisis de Datos</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702" name="Google Shape;702;g308c30d8e00_0_538"/>
          <p:cNvSpPr txBox="1"/>
          <p:nvPr/>
        </p:nvSpPr>
        <p:spPr>
          <a:xfrm>
            <a:off x="3420100" y="3243325"/>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A través del análisis de grandes volúmenes de datos, P&amp;G puede segmentar mejor a sus consumidores y dirigir campañas de marketing más efectivas. También han adoptado el uso de plataformas digitales para el lanzamiento de nuevos productos y para interactuar de manera más directa con sus clientes.</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703" name="Google Shape;703;g308c30d8e00_0_538"/>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16" name="Google Shape;716;g308c30d8e00_0_554"/>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17" name="Google Shape;717;g308c30d8e00_0_554"/>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Automatización en Producción</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718" name="Google Shape;718;g308c30d8e00_0_554"/>
          <p:cNvSpPr txBox="1"/>
          <p:nvPr/>
        </p:nvSpPr>
        <p:spPr>
          <a:xfrm>
            <a:off x="3280900" y="3243325"/>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P&amp;G ha implementado tecnologías de automatización en sus plantas de producción, lo que les ha permitido mejorar la calidad de los productos y reducir el tiempo de fabricación. La adopción de procesos industriales más avanzados y flexibles ha sido crucial para mantener su competitividad.</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719" name="Google Shape;719;g308c30d8e00_0_554"/>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32" name="Google Shape;732;g308c30d8e00_0_57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33" name="Google Shape;733;g308c30d8e00_0_57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sz="2700" b="1">
                <a:solidFill>
                  <a:srgbClr val="F46524"/>
                </a:solidFill>
                <a:latin typeface="Raleway"/>
                <a:ea typeface="Raleway"/>
                <a:cs typeface="Raleway"/>
                <a:sym typeface="Raleway"/>
              </a:rPr>
              <a:t>Impacto en la Empresa</a:t>
            </a:r>
            <a:endParaRPr sz="2700" b="1">
              <a:solidFill>
                <a:srgbClr val="F46524"/>
              </a:solidFill>
              <a:latin typeface="Raleway"/>
              <a:ea typeface="Raleway"/>
              <a:cs typeface="Raleway"/>
              <a:sym typeface="Raleway"/>
            </a:endParaRPr>
          </a:p>
          <a:p>
            <a:pPr marL="0" marR="0" lvl="0" indent="0" algn="ctr" rtl="0">
              <a:lnSpc>
                <a:spcPct val="100000"/>
              </a:lnSpc>
              <a:spcBef>
                <a:spcPts val="0"/>
              </a:spcBef>
              <a:spcAft>
                <a:spcPts val="0"/>
              </a:spcAft>
              <a:buClr>
                <a:srgbClr val="000000"/>
              </a:buClr>
              <a:buSzPts val="2700"/>
              <a:buFont typeface="Arial"/>
              <a:buNone/>
            </a:pPr>
            <a:endParaRPr sz="2700" b="1">
              <a:solidFill>
                <a:srgbClr val="F46524"/>
              </a:solidFill>
              <a:latin typeface="Raleway"/>
              <a:ea typeface="Raleway"/>
              <a:cs typeface="Raleway"/>
              <a:sym typeface="Raleway"/>
            </a:endParaRPr>
          </a:p>
        </p:txBody>
      </p:sp>
      <p:sp>
        <p:nvSpPr>
          <p:cNvPr id="734" name="Google Shape;734;g308c30d8e00_0_570"/>
          <p:cNvSpPr txBox="1"/>
          <p:nvPr/>
        </p:nvSpPr>
        <p:spPr>
          <a:xfrm>
            <a:off x="3358225" y="3243325"/>
            <a:ext cx="10145400" cy="2368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300">
                <a:solidFill>
                  <a:schemeClr val="dk1"/>
                </a:solidFill>
              </a:rPr>
              <a:t>La transformación digital en empresas como P&amp;G ha permitido no solo mejorar la eficiencia operativa, sino también ofrecer productos y servicios más alineados con las expectativas de los consumidores modernos. Además, ha ayudado a estas compañías a mantenerse ágiles y adaptarse a un entorno de consumo en constante evolución, lo que es esencial en el competitivo sector de consumo masivo.</a:t>
            </a: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a:solidFill>
                <a:schemeClr val="dk1"/>
              </a:solidFill>
            </a:endParaRPr>
          </a:p>
        </p:txBody>
      </p:sp>
      <p:pic>
        <p:nvPicPr>
          <p:cNvPr id="735" name="Google Shape;735;g308c30d8e00_0_570"/>
          <p:cNvPicPr preferRelativeResize="0"/>
          <p:nvPr/>
        </p:nvPicPr>
        <p:blipFill>
          <a:blip r:embed="rId4">
            <a:alphaModFix/>
          </a:blip>
          <a:stretch>
            <a:fillRect/>
          </a:stretch>
        </p:blipFill>
        <p:spPr>
          <a:xfrm>
            <a:off x="14776100" y="3538350"/>
            <a:ext cx="2371676" cy="177874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23" name="Google Shape;623;g308c30d8e00_0_46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624" name="Google Shape;624;g308c30d8e00_0_460"/>
          <p:cNvSpPr txBox="1"/>
          <p:nvPr/>
        </p:nvSpPr>
        <p:spPr>
          <a:xfrm>
            <a:off x="2450400" y="3429000"/>
            <a:ext cx="13387200" cy="1542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5800"/>
              <a:buFont typeface="Arial"/>
              <a:buNone/>
            </a:pPr>
            <a:r>
              <a:rPr lang="es-ES" sz="5800" b="1">
                <a:solidFill>
                  <a:schemeClr val="accent6"/>
                </a:solidFill>
                <a:latin typeface="Raleway"/>
                <a:ea typeface="Raleway"/>
                <a:cs typeface="Raleway"/>
                <a:sym typeface="Raleway"/>
              </a:rPr>
              <a:t>Casos de aplicación sectorial de la inteligencia artificial en la empresa</a:t>
            </a:r>
            <a:endParaRPr sz="5800" b="1" i="0" u="none" strike="noStrike" cap="none" dirty="0">
              <a:solidFill>
                <a:schemeClr val="accent6"/>
              </a:solidFill>
              <a:latin typeface="Raleway"/>
              <a:ea typeface="Raleway"/>
              <a:cs typeface="Raleway"/>
              <a:sym typeface="Raleway"/>
            </a:endParaRPr>
          </a:p>
        </p:txBody>
      </p:sp>
    </p:spTree>
    <p:extLst>
      <p:ext uri="{BB962C8B-B14F-4D97-AF65-F5344CB8AC3E}">
        <p14:creationId xmlns:p14="http://schemas.microsoft.com/office/powerpoint/2010/main" val="1522131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32" name="Google Shape;732;g308c30d8e00_0_57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33" name="Google Shape;733;g308c30d8e00_0_57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2700" b="1" dirty="0">
                <a:solidFill>
                  <a:srgbClr val="F46524"/>
                </a:solidFill>
                <a:latin typeface="Raleway"/>
                <a:ea typeface="Raleway"/>
                <a:cs typeface="Raleway"/>
                <a:sym typeface="Raleway"/>
              </a:rPr>
              <a:t>La IA ya está transformando sectores clave</a:t>
            </a:r>
            <a:endParaRPr sz="2700" b="1" dirty="0">
              <a:solidFill>
                <a:srgbClr val="F46524"/>
              </a:solidFill>
              <a:latin typeface="Raleway"/>
              <a:ea typeface="Raleway"/>
              <a:cs typeface="Raleway"/>
              <a:sym typeface="Raleway"/>
            </a:endParaRPr>
          </a:p>
        </p:txBody>
      </p:sp>
      <p:sp>
        <p:nvSpPr>
          <p:cNvPr id="734" name="Google Shape;734;g308c30d8e00_0_570"/>
          <p:cNvSpPr txBox="1"/>
          <p:nvPr/>
        </p:nvSpPr>
        <p:spPr>
          <a:xfrm>
            <a:off x="1817282" y="2135356"/>
            <a:ext cx="14225843" cy="553468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La inteligencia artificial no es una tecnología del futuro: ya forma parte de la realidad de miles de empresas en sectores muy diversos.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Sus aplicaciones mejoran la eficiencia, permiten anticiparse a los problemas y optimizan la relación con clientes, proveedores y equipos.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En sectores como la industria, el comercio, la agricultura o los servicios, la IA permite:</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Automatizar procesos complejos.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Predecir comportamientos del mercado.</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Personalizar experiencias de forma escalable.</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Reducir errores y mejorar la calidad de los productos o servicios.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La IA se adapta al tamaño y al contexto de cada organización, y se convierte en un facilitador del cambio.</a:t>
            </a: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dirty="0">
              <a:solidFill>
                <a:schemeClr val="dk1"/>
              </a:solidFill>
            </a:endParaRPr>
          </a:p>
        </p:txBody>
      </p:sp>
    </p:spTree>
    <p:extLst>
      <p:ext uri="{BB962C8B-B14F-4D97-AF65-F5344CB8AC3E}">
        <p14:creationId xmlns:p14="http://schemas.microsoft.com/office/powerpoint/2010/main" val="3462743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32" name="Google Shape;732;g308c30d8e00_0_57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33" name="Google Shape;733;g308c30d8e00_0_57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2700" b="1">
                <a:solidFill>
                  <a:srgbClr val="F46524"/>
                </a:solidFill>
                <a:latin typeface="Raleway"/>
                <a:ea typeface="Raleway"/>
                <a:cs typeface="Raleway"/>
                <a:sym typeface="Raleway"/>
              </a:rPr>
              <a:t>Casos reales al alcance de cualquier empresa</a:t>
            </a:r>
            <a:endParaRPr sz="2700" b="1" dirty="0">
              <a:solidFill>
                <a:srgbClr val="F46524"/>
              </a:solidFill>
              <a:latin typeface="Raleway"/>
              <a:ea typeface="Raleway"/>
              <a:cs typeface="Raleway"/>
              <a:sym typeface="Raleway"/>
            </a:endParaRPr>
          </a:p>
        </p:txBody>
      </p:sp>
      <p:sp>
        <p:nvSpPr>
          <p:cNvPr id="734" name="Google Shape;734;g308c30d8e00_0_570"/>
          <p:cNvSpPr txBox="1"/>
          <p:nvPr/>
        </p:nvSpPr>
        <p:spPr>
          <a:xfrm>
            <a:off x="1556462" y="2121709"/>
            <a:ext cx="14225843" cy="553468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Ya no se trata de una tecnología exclusiva de grandes corporaciones. Muchas herramientas de inteligencia artificial son accesibles, intuitivas y están diseñadas para resolver problemas concretos.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Algunos casos reales por sector:</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Industria: mantenimiento predictivo, control de calidad automatizado, robótica inteligente.</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Agroalimentario: monitoreo de cultivos con sensores, predicción climática, trazabilidad con </a:t>
            </a:r>
            <a:r>
              <a:rPr lang="es-ES" sz="2300" dirty="0" err="1">
                <a:solidFill>
                  <a:schemeClr val="dk1"/>
                </a:solidFill>
              </a:rPr>
              <a:t>blockchain</a:t>
            </a:r>
            <a:r>
              <a:rPr lang="es-ES" sz="2300" dirty="0">
                <a:solidFill>
                  <a:schemeClr val="dk1"/>
                </a:solidFill>
              </a:rPr>
              <a:t>.</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Comercio: gestión inteligente de inventario, recomendaciones de producto, asistentes de venta virtuales.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Servicios profesionales: generación automática de documentos, atención al cliente por IA, análisis de datos contables o legales.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Educación: personalización de contenidos, tutores virtuales, análisis de progreso del alumno.</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Hostelería y turismo: </a:t>
            </a:r>
            <a:r>
              <a:rPr lang="es-ES" sz="2300" dirty="0" err="1">
                <a:solidFill>
                  <a:schemeClr val="dk1"/>
                </a:solidFill>
              </a:rPr>
              <a:t>chatbots</a:t>
            </a:r>
            <a:r>
              <a:rPr lang="es-ES" sz="2300" dirty="0">
                <a:solidFill>
                  <a:schemeClr val="dk1"/>
                </a:solidFill>
              </a:rPr>
              <a:t> para reservas, análisis de valoraciones, optimización de precios dinámicos.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Estos ejemplos demuestran que la IA puede aplicarse de forma práctica, económica y eficaz.</a:t>
            </a: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dirty="0">
              <a:solidFill>
                <a:schemeClr val="dk1"/>
              </a:solidFill>
            </a:endParaRPr>
          </a:p>
        </p:txBody>
      </p:sp>
    </p:spTree>
    <p:extLst>
      <p:ext uri="{BB962C8B-B14F-4D97-AF65-F5344CB8AC3E}">
        <p14:creationId xmlns:p14="http://schemas.microsoft.com/office/powerpoint/2010/main" val="371701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32" name="Google Shape;732;g308c30d8e00_0_57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33" name="Google Shape;733;g308c30d8e00_0_57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2700" b="1" dirty="0">
                <a:solidFill>
                  <a:srgbClr val="F46524"/>
                </a:solidFill>
                <a:latin typeface="Raleway"/>
                <a:ea typeface="Raleway"/>
                <a:cs typeface="Raleway"/>
                <a:sym typeface="Raleway"/>
              </a:rPr>
              <a:t> IA para explicar, comunicar y presentar soluciones</a:t>
            </a:r>
            <a:endParaRPr sz="2700" b="1" dirty="0">
              <a:solidFill>
                <a:srgbClr val="F46524"/>
              </a:solidFill>
              <a:latin typeface="Raleway"/>
              <a:ea typeface="Raleway"/>
              <a:cs typeface="Raleway"/>
              <a:sym typeface="Raleway"/>
            </a:endParaRPr>
          </a:p>
        </p:txBody>
      </p:sp>
      <p:sp>
        <p:nvSpPr>
          <p:cNvPr id="734" name="Google Shape;734;g308c30d8e00_0_570"/>
          <p:cNvSpPr txBox="1"/>
          <p:nvPr/>
        </p:nvSpPr>
        <p:spPr>
          <a:xfrm>
            <a:off x="1556462" y="2121709"/>
            <a:ext cx="14225843" cy="553468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Además de transformar procesos, la IA también permite a las empresas comunicar sus soluciones de forma más visual, rápida y efectiva.</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Esto es clave cuando se quiere captar clientes, presentar un proyecto a socios o difundir una innovación internamente.</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Herramientas destacadas: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b="1" dirty="0" err="1">
                <a:solidFill>
                  <a:schemeClr val="dk1"/>
                </a:solidFill>
              </a:rPr>
              <a:t>Renderforest</a:t>
            </a:r>
            <a:r>
              <a:rPr lang="es-ES" sz="2300" b="1" dirty="0">
                <a:solidFill>
                  <a:schemeClr val="dk1"/>
                </a:solidFill>
              </a:rPr>
              <a:t> / Lumen5 / </a:t>
            </a:r>
            <a:r>
              <a:rPr lang="es-ES" sz="2300" b="1" dirty="0" err="1">
                <a:solidFill>
                  <a:schemeClr val="dk1"/>
                </a:solidFill>
              </a:rPr>
              <a:t>Pictory</a:t>
            </a:r>
            <a:r>
              <a:rPr lang="es-ES" sz="2300" b="1" dirty="0">
                <a:solidFill>
                  <a:schemeClr val="dk1"/>
                </a:solidFill>
              </a:rPr>
              <a:t>: </a:t>
            </a:r>
            <a:r>
              <a:rPr lang="es-ES" sz="2300" dirty="0">
                <a:solidFill>
                  <a:schemeClr val="dk1"/>
                </a:solidFill>
              </a:rPr>
              <a:t>permiten generar vídeos explicativos a partir de un texto o guion.</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b="1" dirty="0" err="1">
                <a:solidFill>
                  <a:schemeClr val="dk1"/>
                </a:solidFill>
              </a:rPr>
              <a:t>NotebookLM</a:t>
            </a:r>
            <a:r>
              <a:rPr lang="es-ES" sz="2300" b="1" dirty="0">
                <a:solidFill>
                  <a:schemeClr val="dk1"/>
                </a:solidFill>
              </a:rPr>
              <a:t>: </a:t>
            </a:r>
            <a:r>
              <a:rPr lang="es-ES" sz="2300" dirty="0">
                <a:solidFill>
                  <a:schemeClr val="dk1"/>
                </a:solidFill>
              </a:rPr>
              <a:t>ayuda a estructurar ideas y redactar guiones o mensajes clave.</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b="1" dirty="0">
                <a:solidFill>
                  <a:schemeClr val="dk1"/>
                </a:solidFill>
              </a:rPr>
              <a:t>Storyboards.AI / </a:t>
            </a:r>
            <a:r>
              <a:rPr lang="es-ES" sz="2300" b="1" dirty="0" err="1">
                <a:solidFill>
                  <a:schemeClr val="dk1"/>
                </a:solidFill>
              </a:rPr>
              <a:t>Boords</a:t>
            </a:r>
            <a:r>
              <a:rPr lang="es-ES" sz="2300" b="1" dirty="0">
                <a:solidFill>
                  <a:schemeClr val="dk1"/>
                </a:solidFill>
              </a:rPr>
              <a:t>: </a:t>
            </a:r>
            <a:r>
              <a:rPr lang="es-ES" sz="2300" dirty="0">
                <a:solidFill>
                  <a:schemeClr val="dk1"/>
                </a:solidFill>
              </a:rPr>
              <a:t>convierten esos guiones en storyboards visuales que sirven como base para anuncios, presentaciones o contenidos formativos.</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Estas plataformas no requieren conocimientos técnicos. Están pensadas para empresas que quieren comunicar mejor, con rapidez y profesionalismo.</a:t>
            </a:r>
            <a:endParaRPr sz="23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2300" dirty="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dirty="0">
              <a:solidFill>
                <a:schemeClr val="dk1"/>
              </a:solidFill>
            </a:endParaRPr>
          </a:p>
        </p:txBody>
      </p:sp>
    </p:spTree>
    <p:extLst>
      <p:ext uri="{BB962C8B-B14F-4D97-AF65-F5344CB8AC3E}">
        <p14:creationId xmlns:p14="http://schemas.microsoft.com/office/powerpoint/2010/main" val="42528144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32" name="Google Shape;732;g308c30d8e00_0_570"/>
          <p:cNvSpPr/>
          <p:nvPr/>
        </p:nvSpPr>
        <p:spPr>
          <a:xfrm rot="-10455654">
            <a:off x="10969606" y="-293781"/>
            <a:ext cx="8456600" cy="3417876"/>
          </a:xfrm>
          <a:custGeom>
            <a:avLst/>
            <a:gdLst/>
            <a:ahLst/>
            <a:cxnLst/>
            <a:rect l="l" t="t" r="r" b="b"/>
            <a:pathLst>
              <a:path w="8456494" h="3417833" extrusionOk="0">
                <a:moveTo>
                  <a:pt x="0" y="0"/>
                </a:moveTo>
                <a:lnTo>
                  <a:pt x="8456495" y="0"/>
                </a:lnTo>
                <a:lnTo>
                  <a:pt x="8456495" y="3417833"/>
                </a:lnTo>
                <a:lnTo>
                  <a:pt x="0" y="3417833"/>
                </a:lnTo>
                <a:lnTo>
                  <a:pt x="0" y="0"/>
                </a:lnTo>
                <a:close/>
              </a:path>
            </a:pathLst>
          </a:custGeom>
          <a:blipFill rotWithShape="1">
            <a:blip r:embed="rId3">
              <a:alphaModFix/>
            </a:blip>
            <a:stretch>
              <a:fillRect/>
            </a:stretch>
          </a:blipFill>
          <a:ln>
            <a:noFill/>
          </a:ln>
        </p:spPr>
        <p:txBody>
          <a:bodyPr/>
          <a:lstStyle/>
          <a:p>
            <a:endParaRPr lang="es-ES"/>
          </a:p>
        </p:txBody>
      </p:sp>
      <p:sp>
        <p:nvSpPr>
          <p:cNvPr id="733" name="Google Shape;733;g308c30d8e00_0_570"/>
          <p:cNvSpPr txBox="1"/>
          <p:nvPr/>
        </p:nvSpPr>
        <p:spPr>
          <a:xfrm>
            <a:off x="3219000" y="821350"/>
            <a:ext cx="10145400" cy="7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ES" sz="2700" b="1" dirty="0">
                <a:solidFill>
                  <a:srgbClr val="F46524"/>
                </a:solidFill>
                <a:latin typeface="Raleway"/>
                <a:ea typeface="Raleway"/>
                <a:cs typeface="Raleway"/>
                <a:sym typeface="Raleway"/>
              </a:rPr>
              <a:t>La IA como ventaja para transformar, crecer y competir</a:t>
            </a:r>
            <a:endParaRPr sz="2700" b="1" dirty="0">
              <a:solidFill>
                <a:srgbClr val="F46524"/>
              </a:solidFill>
              <a:latin typeface="Raleway"/>
              <a:ea typeface="Raleway"/>
              <a:cs typeface="Raleway"/>
              <a:sym typeface="Raleway"/>
            </a:endParaRPr>
          </a:p>
        </p:txBody>
      </p:sp>
      <p:sp>
        <p:nvSpPr>
          <p:cNvPr id="734" name="Google Shape;734;g308c30d8e00_0_570"/>
          <p:cNvSpPr txBox="1"/>
          <p:nvPr/>
        </p:nvSpPr>
        <p:spPr>
          <a:xfrm>
            <a:off x="1556462" y="1933600"/>
            <a:ext cx="14225843" cy="553468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A lo largo del curso hemos visto cómo la inteligencia artificial puede acompañar a la empresa en cada etapa de su transformación digital:</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En el análisis estratégico, ayuda a comprender mejor el entorno y tomar decisiones más claras.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En la relación con el cliente, permite ofrecer experiencias personalizadas y relevantes.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En la gestión tecnológica, facilita la creación y planificación de contenidos digitales.</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En la gestión del cambio, proporciona estructura, visión y eficiencia.</a:t>
            </a:r>
          </a:p>
          <a:p>
            <a:pPr marL="342900" lvl="0" indent="-342900" algn="l" rtl="0">
              <a:lnSpc>
                <a:spcPct val="115000"/>
              </a:lnSpc>
              <a:spcBef>
                <a:spcPts val="1200"/>
              </a:spcBef>
              <a:spcAft>
                <a:spcPts val="0"/>
              </a:spcAft>
              <a:buClr>
                <a:schemeClr val="dk1"/>
              </a:buClr>
              <a:buSzPts val="1100"/>
              <a:buFont typeface="Arial" panose="020B0604020202020204" pitchFamily="34" charset="0"/>
              <a:buChar char="•"/>
            </a:pPr>
            <a:r>
              <a:rPr lang="es-ES" sz="2300" dirty="0">
                <a:solidFill>
                  <a:schemeClr val="dk1"/>
                </a:solidFill>
              </a:rPr>
              <a:t>En los sectores productivos, resuelve problemas reales, mejora procesos y fortalece la comunicación.</a:t>
            </a:r>
          </a:p>
          <a:p>
            <a:pPr marL="0" lvl="0" indent="0" algn="l" rtl="0">
              <a:lnSpc>
                <a:spcPct val="115000"/>
              </a:lnSpc>
              <a:spcBef>
                <a:spcPts val="1200"/>
              </a:spcBef>
              <a:spcAft>
                <a:spcPts val="0"/>
              </a:spcAft>
              <a:buClr>
                <a:schemeClr val="dk1"/>
              </a:buClr>
              <a:buSzPts val="1100"/>
              <a:buFont typeface="Arial"/>
              <a:buNone/>
            </a:pPr>
            <a:r>
              <a:rPr lang="es-ES" sz="2300" b="1" dirty="0">
                <a:solidFill>
                  <a:schemeClr val="dk1"/>
                </a:solidFill>
              </a:rPr>
              <a:t>La conclusión es clara:</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La inteligencia artificial no sustituye el criterio ni la visión del directivo. Lo potencia.</a:t>
            </a:r>
          </a:p>
          <a:p>
            <a:pPr marL="0" lvl="0" indent="0" algn="l" rtl="0">
              <a:lnSpc>
                <a:spcPct val="115000"/>
              </a:lnSpc>
              <a:spcBef>
                <a:spcPts val="1200"/>
              </a:spcBef>
              <a:spcAft>
                <a:spcPts val="0"/>
              </a:spcAft>
              <a:buClr>
                <a:schemeClr val="dk1"/>
              </a:buClr>
              <a:buSzPts val="1100"/>
              <a:buFont typeface="Arial"/>
              <a:buNone/>
            </a:pPr>
            <a:r>
              <a:rPr lang="es-ES" sz="2300" dirty="0">
                <a:solidFill>
                  <a:schemeClr val="dk1"/>
                </a:solidFill>
              </a:rPr>
              <a:t>Permite a las empresas actuar con más agilidad, profesionalizar sus decisiones y abrirse a nuevas oportunidades de innovación. </a:t>
            </a:r>
            <a:r>
              <a:rPr lang="es-ES" sz="2300" b="1" dirty="0">
                <a:solidFill>
                  <a:schemeClr val="dk1"/>
                </a:solidFill>
              </a:rPr>
              <a:t>Adoptar la IA no es solo un cambio tecnológico. Es un cambio estratégico.</a:t>
            </a:r>
            <a:endParaRPr sz="2300" b="1" dirty="0">
              <a:solidFill>
                <a:schemeClr val="dk1"/>
              </a:solidFill>
            </a:endParaRPr>
          </a:p>
          <a:p>
            <a:pPr marL="0" marR="0" lvl="0" indent="0" algn="l" rtl="0">
              <a:lnSpc>
                <a:spcPct val="115000"/>
              </a:lnSpc>
              <a:spcBef>
                <a:spcPts val="1200"/>
              </a:spcBef>
              <a:spcAft>
                <a:spcPts val="1200"/>
              </a:spcAft>
              <a:buClr>
                <a:srgbClr val="000000"/>
              </a:buClr>
              <a:buSzPts val="2300"/>
              <a:buFont typeface="Arial"/>
              <a:buNone/>
            </a:pPr>
            <a:endParaRPr sz="2300" dirty="0">
              <a:solidFill>
                <a:schemeClr val="dk1"/>
              </a:solidFill>
            </a:endParaRPr>
          </a:p>
        </p:txBody>
      </p:sp>
    </p:spTree>
    <p:extLst>
      <p:ext uri="{BB962C8B-B14F-4D97-AF65-F5344CB8AC3E}">
        <p14:creationId xmlns:p14="http://schemas.microsoft.com/office/powerpoint/2010/main" val="403608554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4512</Words>
  <Application>Microsoft Office PowerPoint</Application>
  <PresentationFormat>Personalizado</PresentationFormat>
  <Paragraphs>326</Paragraphs>
  <Slides>47</Slides>
  <Notes>47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47</vt:i4>
      </vt:variant>
    </vt:vector>
  </HeadingPairs>
  <TitlesOfParts>
    <vt:vector size="52" baseType="lpstr">
      <vt:lpstr>Calibri</vt:lpstr>
      <vt:lpstr>Arial</vt:lpstr>
      <vt:lpstr>Montserrat</vt:lpstr>
      <vt:lpstr>Raleway</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Paula Baño Ruiz</dc:creator>
  <cp:lastModifiedBy>María Dolores Clemares García</cp:lastModifiedBy>
  <cp:revision>7</cp:revision>
  <dcterms:created xsi:type="dcterms:W3CDTF">2006-08-16T00:00:00Z</dcterms:created>
  <dcterms:modified xsi:type="dcterms:W3CDTF">2026-01-14T07:45:02Z</dcterms:modified>
</cp:coreProperties>
</file>