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3"/>
  </p:notesMasterIdLst>
  <p:sldIdLst>
    <p:sldId id="256" r:id="rId2"/>
    <p:sldId id="257" r:id="rId3"/>
    <p:sldId id="345" r:id="rId4"/>
    <p:sldId id="347" r:id="rId5"/>
    <p:sldId id="349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339" r:id="rId14"/>
    <p:sldId id="340" r:id="rId15"/>
    <p:sldId id="341" r:id="rId16"/>
    <p:sldId id="342" r:id="rId17"/>
    <p:sldId id="343" r:id="rId18"/>
    <p:sldId id="344" r:id="rId19"/>
    <p:sldId id="381" r:id="rId20"/>
    <p:sldId id="382" r:id="rId21"/>
    <p:sldId id="383" r:id="rId22"/>
    <p:sldId id="384" r:id="rId23"/>
    <p:sldId id="385" r:id="rId24"/>
    <p:sldId id="331" r:id="rId25"/>
    <p:sldId id="350" r:id="rId26"/>
    <p:sldId id="351" r:id="rId27"/>
    <p:sldId id="332" r:id="rId28"/>
    <p:sldId id="333" r:id="rId29"/>
    <p:sldId id="352" r:id="rId30"/>
    <p:sldId id="353" r:id="rId31"/>
    <p:sldId id="357" r:id="rId32"/>
    <p:sldId id="355" r:id="rId33"/>
    <p:sldId id="356" r:id="rId34"/>
    <p:sldId id="358" r:id="rId35"/>
    <p:sldId id="359" r:id="rId36"/>
    <p:sldId id="360" r:id="rId37"/>
    <p:sldId id="361" r:id="rId38"/>
    <p:sldId id="354" r:id="rId39"/>
    <p:sldId id="362" r:id="rId40"/>
    <p:sldId id="363" r:id="rId41"/>
    <p:sldId id="364" r:id="rId42"/>
    <p:sldId id="366" r:id="rId43"/>
    <p:sldId id="365" r:id="rId44"/>
    <p:sldId id="367" r:id="rId45"/>
    <p:sldId id="375" r:id="rId46"/>
    <p:sldId id="369" r:id="rId47"/>
    <p:sldId id="370" r:id="rId48"/>
    <p:sldId id="374" r:id="rId49"/>
    <p:sldId id="373" r:id="rId50"/>
    <p:sldId id="372" r:id="rId51"/>
    <p:sldId id="371" r:id="rId52"/>
    <p:sldId id="376" r:id="rId53"/>
    <p:sldId id="334" r:id="rId54"/>
    <p:sldId id="377" r:id="rId55"/>
    <p:sldId id="378" r:id="rId56"/>
    <p:sldId id="335" r:id="rId57"/>
    <p:sldId id="379" r:id="rId58"/>
    <p:sldId id="336" r:id="rId59"/>
    <p:sldId id="337" r:id="rId60"/>
    <p:sldId id="380" r:id="rId61"/>
    <p:sldId id="338" r:id="rId62"/>
  </p:sldIdLst>
  <p:sldSz cx="18288000" cy="10287000"/>
  <p:notesSz cx="6858000" cy="9144000"/>
  <p:embeddedFontLst>
    <p:embeddedFont>
      <p:font typeface="Lato" panose="020F0502020204030203" pitchFamily="34" charset="0"/>
      <p:regular r:id="rId64"/>
      <p:bold r:id="rId65"/>
      <p:italic r:id="rId66"/>
      <p:boldItalic r:id="rId67"/>
    </p:embeddedFont>
    <p:embeddedFont>
      <p:font typeface="Montserrat" panose="00000500000000000000" pitchFamily="2" charset="0"/>
      <p:regular r:id="rId68"/>
      <p:bold r:id="rId69"/>
      <p:italic r:id="rId70"/>
      <p:boldItalic r:id="rId71"/>
    </p:embeddedFont>
    <p:embeddedFont>
      <p:font typeface="Raleway" pitchFamily="2" charset="0"/>
      <p:regular r:id="rId72"/>
      <p:bold r:id="rId73"/>
      <p:italic r:id="rId74"/>
      <p:boldItalic r:id="rId75"/>
    </p:embeddedFont>
    <p:embeddedFont>
      <p:font typeface="Roboto" panose="02000000000000000000" pitchFamily="2" charset="0"/>
      <p:regular r:id="rId76"/>
      <p:bold r:id="rId77"/>
      <p:italic r:id="rId78"/>
      <p:boldItalic r:id="rId7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1" roundtripDataSignature="AMtx7mjv9DnE16BRRua0OA/cse+c2oG3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97"/>
    <p:restoredTop sz="94745"/>
  </p:normalViewPr>
  <p:slideViewPr>
    <p:cSldViewPr snapToGrid="0">
      <p:cViewPr varScale="1">
        <p:scale>
          <a:sx n="70" d="100"/>
          <a:sy n="70" d="100"/>
        </p:scale>
        <p:origin x="1002" y="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notesMaster" Target="notesMasters/notesMaster1.xml"/><Relationship Id="rId68" Type="http://schemas.openxmlformats.org/officeDocument/2006/relationships/font" Target="fonts/font5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11.fntdata"/><Relationship Id="rId79" Type="http://schemas.openxmlformats.org/officeDocument/2006/relationships/font" Target="fonts/font16.fntdata"/><Relationship Id="rId14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1.fntdata"/><Relationship Id="rId69" Type="http://schemas.openxmlformats.org/officeDocument/2006/relationships/font" Target="fonts/font6.fntdata"/><Relationship Id="rId77" Type="http://schemas.openxmlformats.org/officeDocument/2006/relationships/font" Target="fonts/font1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9.fntdata"/><Relationship Id="rId14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7.fntdata"/><Relationship Id="rId75" Type="http://schemas.openxmlformats.org/officeDocument/2006/relationships/font" Target="fonts/font12.fntdata"/><Relationship Id="rId14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2.fntdata"/><Relationship Id="rId73" Type="http://schemas.openxmlformats.org/officeDocument/2006/relationships/font" Target="fonts/font10.fntdata"/><Relationship Id="rId78" Type="http://schemas.openxmlformats.org/officeDocument/2006/relationships/font" Target="fonts/font15.fntdata"/><Relationship Id="rId14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3.fntdata"/><Relationship Id="rId141" Type="http://customschemas.google.com/relationships/presentationmetadata" Target="metadata"/><Relationship Id="rId7" Type="http://schemas.openxmlformats.org/officeDocument/2006/relationships/slide" Target="slides/slide6.xml"/><Relationship Id="rId71" Type="http://schemas.openxmlformats.org/officeDocument/2006/relationships/font" Target="fonts/font8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0689113c3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0689113c3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92483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0689113c39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30689113c39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031859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0689113c39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30689113c39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171336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0689113c39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30689113c39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7980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0689113c39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30689113c39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1439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0689113c39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0689113c39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43897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823270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30689113c39_0_16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9" name="Google Shape;1229;g30689113c39_0_16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30689113c39_0_15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0" name="Google Shape;1150;g30689113c39_0_1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19755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30689113c39_0_15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0" name="Google Shape;1150;g30689113c39_0_1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58078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30689113c39_0_15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0" name="Google Shape;1150;g30689113c39_0_1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36430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30689113c39_0_15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0" name="Google Shape;1150;g30689113c39_0_1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94092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30689113c39_0_16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9" name="Google Shape;1229;g30689113c39_0_16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775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83363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19:notes"/>
          <p:cNvSpPr txBox="1">
            <a:spLocks noGrp="1"/>
          </p:cNvSpPr>
          <p:nvPr>
            <p:ph type="body" idx="1"/>
          </p:nvPr>
        </p:nvSpPr>
        <p:spPr>
          <a:xfrm>
            <a:off x="674212" y="4689515"/>
            <a:ext cx="5393700" cy="44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83363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20:notes"/>
          <p:cNvSpPr txBox="1">
            <a:spLocks noGrp="1"/>
          </p:cNvSpPr>
          <p:nvPr>
            <p:ph type="body" idx="1"/>
          </p:nvPr>
        </p:nvSpPr>
        <p:spPr>
          <a:xfrm>
            <a:off x="674212" y="4689515"/>
            <a:ext cx="5393700" cy="44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30689113c39_0_16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3" name="Google Shape;1243;g30689113c39_0_16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57613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30689113c39_0_16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8" name="Google Shape;1258;g30689113c39_0_16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8783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874897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109CF-3FFE-0811-BB42-7E94CC5B6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7B39796-AC09-E114-D6D0-21F4B387A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8DBFD94-9FE9-3182-2555-C0BC569C5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166285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B0D51-6D30-5DC3-1F18-8D4818D9F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9E91DA3-5463-9B02-7D13-8851E2276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FEB2090-36CB-907F-D242-62412646F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38557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42DD5-C6DF-D257-2495-355E0A311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378D750-46D6-089B-BCCE-B8B4D64FC9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4F6C7F4-238C-8F7A-29EF-43720F6CB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80841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9605D-AF0C-248A-858B-795B2664D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F667B7A-E76A-B9C1-399E-67B8D41F4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0C91104-ECFE-3153-3DBC-B99BBB4CD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247502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83363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1:notes"/>
          <p:cNvSpPr txBox="1">
            <a:spLocks noGrp="1"/>
          </p:cNvSpPr>
          <p:nvPr>
            <p:ph type="body" idx="1"/>
          </p:nvPr>
        </p:nvSpPr>
        <p:spPr>
          <a:xfrm>
            <a:off x="674212" y="4689515"/>
            <a:ext cx="5393700" cy="44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g30689113c39_0_16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3" name="Google Shape;1273;g30689113c39_0_16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585699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83363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22:notes"/>
          <p:cNvSpPr txBox="1">
            <a:spLocks noGrp="1"/>
          </p:cNvSpPr>
          <p:nvPr>
            <p:ph type="body" idx="1"/>
          </p:nvPr>
        </p:nvSpPr>
        <p:spPr>
          <a:xfrm>
            <a:off x="674212" y="4689515"/>
            <a:ext cx="5393700" cy="44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83363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23:notes"/>
          <p:cNvSpPr txBox="1">
            <a:spLocks noGrp="1"/>
          </p:cNvSpPr>
          <p:nvPr>
            <p:ph type="body" idx="1"/>
          </p:nvPr>
        </p:nvSpPr>
        <p:spPr>
          <a:xfrm>
            <a:off x="674212" y="4689515"/>
            <a:ext cx="5393700" cy="44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g30689113c39_0_17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8" name="Google Shape;1288;g30689113c39_0_17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13491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83363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24:notes"/>
          <p:cNvSpPr txBox="1">
            <a:spLocks noGrp="1"/>
          </p:cNvSpPr>
          <p:nvPr>
            <p:ph type="body" idx="1"/>
          </p:nvPr>
        </p:nvSpPr>
        <p:spPr>
          <a:xfrm>
            <a:off x="674212" y="4689515"/>
            <a:ext cx="5393700" cy="44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g30689113c39_0_17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3" name="Google Shape;1303;g30689113c39_0_17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708765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30689113c39_0_17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8" name="Google Shape;1318;g30689113c39_0_17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465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83363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25:notes"/>
          <p:cNvSpPr txBox="1">
            <a:spLocks noGrp="1"/>
          </p:cNvSpPr>
          <p:nvPr>
            <p:ph type="body" idx="1"/>
          </p:nvPr>
        </p:nvSpPr>
        <p:spPr>
          <a:xfrm>
            <a:off x="674212" y="4689515"/>
            <a:ext cx="5393700" cy="44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g30689113c39_0_17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3" name="Google Shape;1333;g30689113c39_0_17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8840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9"/>
          <p:cNvSpPr/>
          <p:nvPr/>
        </p:nvSpPr>
        <p:spPr>
          <a:xfrm flipH="1">
            <a:off x="300" y="0"/>
            <a:ext cx="8322000" cy="1028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9"/>
          <p:cNvSpPr/>
          <p:nvPr/>
        </p:nvSpPr>
        <p:spPr>
          <a:xfrm rot="5400000">
            <a:off x="3070800" y="5034900"/>
            <a:ext cx="10285800" cy="217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9"/>
          <p:cNvSpPr txBox="1">
            <a:spLocks noGrp="1"/>
          </p:cNvSpPr>
          <p:nvPr>
            <p:ph type="title"/>
          </p:nvPr>
        </p:nvSpPr>
        <p:spPr>
          <a:xfrm>
            <a:off x="531000" y="2782400"/>
            <a:ext cx="7360800" cy="29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8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84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84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84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84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84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84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84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8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29"/>
          <p:cNvSpPr txBox="1">
            <a:spLocks noGrp="1"/>
          </p:cNvSpPr>
          <p:nvPr>
            <p:ph type="subTitle" idx="1"/>
          </p:nvPr>
        </p:nvSpPr>
        <p:spPr>
          <a:xfrm>
            <a:off x="531000" y="6077500"/>
            <a:ext cx="7288200" cy="24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4200"/>
            </a:lvl9pPr>
          </a:lstStyle>
          <a:p>
            <a:endParaRPr/>
          </a:p>
        </p:txBody>
      </p:sp>
      <p:sp>
        <p:nvSpPr>
          <p:cNvPr id="24" name="Google Shape;24;p29"/>
          <p:cNvSpPr txBox="1">
            <a:spLocks noGrp="1"/>
          </p:cNvSpPr>
          <p:nvPr>
            <p:ph type="body" idx="2"/>
          </p:nvPr>
        </p:nvSpPr>
        <p:spPr>
          <a:xfrm>
            <a:off x="8827800" y="2175350"/>
            <a:ext cx="8725200" cy="66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914400" lvl="0" indent="-685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1828800" lvl="1" indent="-6350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2743200" lvl="2" indent="-6350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3657600" lvl="3" indent="-6350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4572000" lvl="4" indent="-6350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5486400" lvl="5" indent="-6350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6400800" lvl="6" indent="-6350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7315200" lvl="7" indent="-6350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8229600" lvl="8" indent="-635000" algn="l">
              <a:lnSpc>
                <a:spcPct val="115000"/>
              </a:lnSpc>
              <a:spcBef>
                <a:spcPts val="3200"/>
              </a:spcBef>
              <a:spcAft>
                <a:spcPts val="3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sldNum" idx="12"/>
          </p:nvPr>
        </p:nvSpPr>
        <p:spPr>
          <a:xfrm>
            <a:off x="17047082" y="9391246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64816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3"/>
          <p:cNvSpPr/>
          <p:nvPr/>
        </p:nvSpPr>
        <p:spPr>
          <a:xfrm rot="10800000" flipH="1">
            <a:off x="0" y="3372000"/>
            <a:ext cx="18288000" cy="6915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3"/>
          <p:cNvSpPr/>
          <p:nvPr/>
        </p:nvSpPr>
        <p:spPr>
          <a:xfrm>
            <a:off x="0" y="3372000"/>
            <a:ext cx="18288000" cy="217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3"/>
          <p:cNvSpPr txBox="1">
            <a:spLocks noGrp="1"/>
          </p:cNvSpPr>
          <p:nvPr>
            <p:ph type="title"/>
          </p:nvPr>
        </p:nvSpPr>
        <p:spPr>
          <a:xfrm>
            <a:off x="943800" y="1803300"/>
            <a:ext cx="16444200" cy="15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3"/>
          <p:cNvSpPr txBox="1">
            <a:spLocks noGrp="1"/>
          </p:cNvSpPr>
          <p:nvPr>
            <p:ph type="body" idx="1"/>
          </p:nvPr>
        </p:nvSpPr>
        <p:spPr>
          <a:xfrm>
            <a:off x="943800" y="3838150"/>
            <a:ext cx="16444200" cy="54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914400" lvl="0" indent="-685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828800" lvl="1" indent="-6350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400"/>
              <a:buChar char="○"/>
              <a:defRPr/>
            </a:lvl2pPr>
            <a:lvl3pPr marL="2743200" lvl="2" indent="-6350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400"/>
              <a:buChar char="■"/>
              <a:defRPr/>
            </a:lvl3pPr>
            <a:lvl4pPr marL="3657600" lvl="3" indent="-6350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400"/>
              <a:buChar char="●"/>
              <a:defRPr/>
            </a:lvl4pPr>
            <a:lvl5pPr marL="4572000" lvl="4" indent="-6350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400"/>
              <a:buChar char="○"/>
              <a:defRPr/>
            </a:lvl5pPr>
            <a:lvl6pPr marL="5486400" lvl="5" indent="-6350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400"/>
              <a:buChar char="■"/>
              <a:defRPr/>
            </a:lvl6pPr>
            <a:lvl7pPr marL="6400800" lvl="6" indent="-6350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400"/>
              <a:buChar char="●"/>
              <a:defRPr/>
            </a:lvl7pPr>
            <a:lvl8pPr marL="7315200" lvl="7" indent="-6350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SzPts val="1400"/>
              <a:buChar char="○"/>
              <a:defRPr/>
            </a:lvl8pPr>
            <a:lvl9pPr marL="8229600" lvl="8" indent="-635000" algn="l">
              <a:lnSpc>
                <a:spcPct val="115000"/>
              </a:lnSpc>
              <a:spcBef>
                <a:spcPts val="3200"/>
              </a:spcBef>
              <a:spcAft>
                <a:spcPts val="32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33"/>
          <p:cNvSpPr txBox="1">
            <a:spLocks noGrp="1"/>
          </p:cNvSpPr>
          <p:nvPr>
            <p:ph type="sldNum" idx="12"/>
          </p:nvPr>
        </p:nvSpPr>
        <p:spPr>
          <a:xfrm>
            <a:off x="17047082" y="9391246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26596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4"/>
          <p:cNvSpPr txBox="1"/>
          <p:nvPr/>
        </p:nvSpPr>
        <p:spPr>
          <a:xfrm rot="10800000" flipH="1">
            <a:off x="6791600" y="1082450"/>
            <a:ext cx="11496600" cy="9204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4"/>
          <p:cNvSpPr/>
          <p:nvPr/>
        </p:nvSpPr>
        <p:spPr>
          <a:xfrm rot="-5400000">
            <a:off x="2297900" y="5576100"/>
            <a:ext cx="9204600" cy="217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4"/>
          <p:cNvSpPr txBox="1">
            <a:spLocks noGrp="1"/>
          </p:cNvSpPr>
          <p:nvPr>
            <p:ph type="title"/>
          </p:nvPr>
        </p:nvSpPr>
        <p:spPr>
          <a:xfrm>
            <a:off x="452156" y="715600"/>
            <a:ext cx="5616000" cy="19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9pPr>
          </a:lstStyle>
          <a:p>
            <a:endParaRPr/>
          </a:p>
        </p:txBody>
      </p:sp>
      <p:sp>
        <p:nvSpPr>
          <p:cNvPr id="47" name="Google Shape;47;p34"/>
          <p:cNvSpPr txBox="1">
            <a:spLocks noGrp="1"/>
          </p:cNvSpPr>
          <p:nvPr>
            <p:ph type="body" idx="1"/>
          </p:nvPr>
        </p:nvSpPr>
        <p:spPr>
          <a:xfrm>
            <a:off x="452150" y="2931600"/>
            <a:ext cx="5616000" cy="6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914400" lvl="0" indent="-609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2400">
                <a:solidFill>
                  <a:schemeClr val="lt1"/>
                </a:solidFill>
              </a:defRPr>
            </a:lvl1pPr>
            <a:lvl2pPr marL="1828800" lvl="1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2400">
                <a:solidFill>
                  <a:schemeClr val="lt1"/>
                </a:solidFill>
              </a:defRPr>
            </a:lvl2pPr>
            <a:lvl3pPr marL="2743200" lvl="2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2400">
                <a:solidFill>
                  <a:schemeClr val="lt1"/>
                </a:solidFill>
              </a:defRPr>
            </a:lvl3pPr>
            <a:lvl4pPr marL="3657600" lvl="3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2400">
                <a:solidFill>
                  <a:schemeClr val="lt1"/>
                </a:solidFill>
              </a:defRPr>
            </a:lvl4pPr>
            <a:lvl5pPr marL="4572000" lvl="4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2400">
                <a:solidFill>
                  <a:schemeClr val="lt1"/>
                </a:solidFill>
              </a:defRPr>
            </a:lvl5pPr>
            <a:lvl6pPr marL="5486400" lvl="5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2400">
                <a:solidFill>
                  <a:schemeClr val="lt1"/>
                </a:solidFill>
              </a:defRPr>
            </a:lvl6pPr>
            <a:lvl7pPr marL="6400800" lvl="6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2400">
                <a:solidFill>
                  <a:schemeClr val="lt1"/>
                </a:solidFill>
              </a:defRPr>
            </a:lvl7pPr>
            <a:lvl8pPr marL="7315200" lvl="7" indent="-609600" algn="l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2400">
                <a:solidFill>
                  <a:schemeClr val="lt1"/>
                </a:solidFill>
              </a:defRPr>
            </a:lvl8pPr>
            <a:lvl9pPr marL="8229600" lvl="8" indent="-609600" algn="l">
              <a:lnSpc>
                <a:spcPct val="115000"/>
              </a:lnSpc>
              <a:spcBef>
                <a:spcPts val="3200"/>
              </a:spcBef>
              <a:spcAft>
                <a:spcPts val="3200"/>
              </a:spcAft>
              <a:buClr>
                <a:schemeClr val="lt1"/>
              </a:buClr>
              <a:buSzPts val="1200"/>
              <a:buChar char="■"/>
              <a:defRPr sz="2400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48" name="Google Shape;48;p34"/>
          <p:cNvSpPr txBox="1">
            <a:spLocks noGrp="1"/>
          </p:cNvSpPr>
          <p:nvPr>
            <p:ph type="sldNum" idx="12"/>
          </p:nvPr>
        </p:nvSpPr>
        <p:spPr>
          <a:xfrm>
            <a:off x="17047082" y="9391246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2912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app.genially.com/teams/67cffd15b7758fb4f5d6854c/spaces/67cffd15b7758fb4f5d68562/templates/all?search=objetivo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"/>
          <p:cNvSpPr txBox="1"/>
          <p:nvPr/>
        </p:nvSpPr>
        <p:spPr>
          <a:xfrm>
            <a:off x="2668434" y="2709600"/>
            <a:ext cx="12527817" cy="777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3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75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Financiado por los fondos NextGenerationEU y forma parte del Plan Nacional de Capacidades Digitales, dentro del Plan de Recuperación, Transformación y Resiliencia del Gobierno de España. 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598173" y="564372"/>
            <a:ext cx="10221164" cy="163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3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94" b="1" i="0" u="none" strike="noStrike" cap="none">
                <a:solidFill>
                  <a:srgbClr val="7DB61B"/>
                </a:solidFill>
                <a:latin typeface="Montserrat"/>
                <a:ea typeface="Montserrat"/>
                <a:cs typeface="Montserrat"/>
                <a:sym typeface="Montserrat"/>
              </a:rPr>
              <a:t>PROGRAMA GENERACIÓN DIGITAL PYMES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 rot="-10458419">
            <a:off x="10968003" y="-290486"/>
            <a:ext cx="8456494" cy="3417833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6" name="Google Shape;96;p1"/>
          <p:cNvSpPr txBox="1"/>
          <p:nvPr/>
        </p:nvSpPr>
        <p:spPr>
          <a:xfrm>
            <a:off x="1556462" y="7581198"/>
            <a:ext cx="15168234" cy="777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3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75" b="1" i="0" u="none" strike="noStrike" cap="none" dirty="0" err="1">
                <a:solidFill>
                  <a:srgbClr val="0060A0"/>
                </a:solidFill>
                <a:latin typeface="Montserrat"/>
                <a:ea typeface="Montserrat"/>
                <a:cs typeface="Montserrat"/>
                <a:sym typeface="Montserrat"/>
              </a:rPr>
              <a:t>Convocatoria</a:t>
            </a:r>
            <a:r>
              <a:rPr lang="en-US" sz="1975" b="1" i="0" u="none" strike="noStrike" cap="none" dirty="0">
                <a:solidFill>
                  <a:srgbClr val="0060A0"/>
                </a:solidFill>
                <a:latin typeface="Montserrat"/>
                <a:ea typeface="Montserrat"/>
                <a:cs typeface="Montserrat"/>
                <a:sym typeface="Montserrat"/>
              </a:rPr>
              <a:t> GENERACIÓN DIGITAL PYMES: PERSONAS DE EQUIPOS DIRECTIVOS Y CUALIFICACIÓN DE PERSONAS EMPLEADAS EN PYMES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9DDC4AF-E338-EE83-19F8-3A76A3FCB3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1C248FD-0280-366F-6A63-0600BF31ED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102" y="2705802"/>
            <a:ext cx="1672439" cy="10890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/>
        </p:nvSpPr>
        <p:spPr>
          <a:xfrm>
            <a:off x="5968484" y="8293702"/>
            <a:ext cx="15574545" cy="1502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9800" tIns="49800" rIns="49800" bIns="49800" anchor="ctr" anchorCtr="0">
            <a:noAutofit/>
          </a:bodyPr>
          <a:lstStyle/>
          <a:p>
            <a:pPr marL="0" marR="0" lvl="0" indent="0" algn="ctr" rtl="0">
              <a:lnSpc>
                <a:spcPct val="14488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 rot="-10458419">
            <a:off x="10968003" y="-290486"/>
            <a:ext cx="8456494" cy="3417833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110" name="Google Shape;110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2900" y="990050"/>
            <a:ext cx="6197276" cy="691472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"/>
          <p:cNvSpPr txBox="1"/>
          <p:nvPr/>
        </p:nvSpPr>
        <p:spPr>
          <a:xfrm>
            <a:off x="9918225" y="2334425"/>
            <a:ext cx="6494700" cy="48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/>
              <a:t>MÓDULO 4: GESTIONANDO EL CAMBIO</a:t>
            </a:r>
            <a:endParaRPr sz="3000">
              <a:solidFill>
                <a:srgbClr val="000000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451AB9F-34EC-1743-1F5C-FF26F3C2A9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279036-6508-19E5-3625-0D8C634B18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2130425"/>
            <a:ext cx="11754293" cy="1470025"/>
          </a:xfrm>
        </p:spPr>
        <p:txBody>
          <a:bodyPr/>
          <a:lstStyle/>
          <a:p>
            <a:r>
              <a:rPr lang="es-ES" dirty="0"/>
              <a:t>Objetivo Sesiones Gestión del cambio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B951B1E-3355-D62D-F8D0-23EE22D97617}"/>
              </a:ext>
            </a:extLst>
          </p:cNvPr>
          <p:cNvSpPr txBox="1"/>
          <p:nvPr/>
        </p:nvSpPr>
        <p:spPr>
          <a:xfrm>
            <a:off x="685798" y="3714993"/>
            <a:ext cx="17716699" cy="172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3200" dirty="0"/>
              <a:t>📆 </a:t>
            </a:r>
            <a:r>
              <a:rPr lang="es-ES" sz="3200" b="1" dirty="0"/>
              <a:t>Duración:</a:t>
            </a:r>
            <a:r>
              <a:rPr lang="es-ES" sz="3200" dirty="0"/>
              <a:t> 5 sesiones (3 sesiones de 3h 20 min y 2 sesiones de 3h)</a:t>
            </a:r>
            <a:br>
              <a:rPr lang="es-ES" sz="3200" dirty="0"/>
            </a:br>
            <a:r>
              <a:rPr lang="es-ES" sz="3200" dirty="0"/>
              <a:t>🎯 </a:t>
            </a:r>
            <a:r>
              <a:rPr lang="es-ES" sz="3200" b="1" dirty="0"/>
              <a:t>Objetivo:</a:t>
            </a:r>
            <a:r>
              <a:rPr lang="es-ES" sz="3200" dirty="0"/>
              <a:t> Capacitar a los participantes en la gestión efectiva del cambio en la transformación digital, brindándoles herramientas prácticas para su aplicación en sus empresas.</a:t>
            </a:r>
          </a:p>
        </p:txBody>
      </p:sp>
      <p:pic>
        <p:nvPicPr>
          <p:cNvPr id="1026" name="Picture 2" descr="Objetivo GIFs - Get the best gif on GIFER">
            <a:extLst>
              <a:ext uri="{FF2B5EF4-FFF2-40B4-BE49-F238E27FC236}">
                <a16:creationId xmlns:a16="http://schemas.microsoft.com/office/drawing/2014/main" id="{8E522B09-5572-9014-F03A-1F245F275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0799" y="5577141"/>
            <a:ext cx="4437116" cy="3327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109;p2">
            <a:extLst>
              <a:ext uri="{FF2B5EF4-FFF2-40B4-BE49-F238E27FC236}">
                <a16:creationId xmlns:a16="http://schemas.microsoft.com/office/drawing/2014/main" id="{54CAC013-E0F2-41CE-BCE0-3E7F6B308FAF}"/>
              </a:ext>
            </a:extLst>
          </p:cNvPr>
          <p:cNvSpPr/>
          <p:nvPr/>
        </p:nvSpPr>
        <p:spPr>
          <a:xfrm rot="-10458419">
            <a:off x="10968003" y="-290486"/>
            <a:ext cx="8456494" cy="3417833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DFC8A38-E5E6-C6BC-8F02-59E7845144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476" y="8559142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6425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3643D-00CE-4621-BB8A-A59878060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89098" y="0"/>
            <a:ext cx="7772400" cy="1470025"/>
          </a:xfrm>
        </p:spPr>
        <p:txBody>
          <a:bodyPr/>
          <a:lstStyle/>
          <a:p>
            <a:r>
              <a:rPr lang="es-ES" dirty="0"/>
              <a:t>Qué veremos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3AAB9C3-0F99-9C5C-3006-755F9C8B8D6A}"/>
              </a:ext>
            </a:extLst>
          </p:cNvPr>
          <p:cNvSpPr txBox="1"/>
          <p:nvPr/>
        </p:nvSpPr>
        <p:spPr>
          <a:xfrm>
            <a:off x="412013" y="1888891"/>
            <a:ext cx="10130169" cy="3254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000" b="1" dirty="0"/>
              <a:t>📍 Sesión 1: Plan de Transformación Digital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000" dirty="0"/>
              <a:t>📅 </a:t>
            </a:r>
            <a:r>
              <a:rPr lang="es-ES" sz="2000" b="1" dirty="0"/>
              <a:t>Fecha:</a:t>
            </a:r>
            <a:r>
              <a:rPr lang="es-ES" sz="2000" dirty="0"/>
              <a:t> </a:t>
            </a:r>
            <a:r>
              <a:rPr lang="es-ES" sz="2000" b="1" dirty="0"/>
              <a:t>Viernes 14 de marzo</a:t>
            </a:r>
            <a:br>
              <a:rPr lang="es-ES" sz="2000" dirty="0"/>
            </a:br>
            <a:r>
              <a:rPr lang="es-ES" sz="2000" dirty="0"/>
              <a:t>⏳ </a:t>
            </a:r>
            <a:r>
              <a:rPr lang="es-ES" sz="2000" b="1" dirty="0"/>
              <a:t>Duración:</a:t>
            </a:r>
            <a:r>
              <a:rPr lang="es-ES" sz="2000" dirty="0"/>
              <a:t> 3h 20min</a:t>
            </a:r>
            <a:br>
              <a:rPr lang="es-ES" sz="2000" dirty="0"/>
            </a:br>
            <a:r>
              <a:rPr lang="es-ES" sz="2000" dirty="0"/>
              <a:t>🎯 </a:t>
            </a:r>
            <a:r>
              <a:rPr lang="es-ES" sz="2000" b="1" dirty="0"/>
              <a:t>Resumen:</a:t>
            </a:r>
            <a:endParaRPr lang="es-ES" sz="2000" dirty="0"/>
          </a:p>
          <a:p>
            <a:pPr marL="342900" indent="-34290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Introducción a la gestión del cambio en la transformación digital.</a:t>
            </a:r>
          </a:p>
          <a:p>
            <a:pPr marL="342900" indent="-34290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Planificación estratégica y definición de objetivos SMART y </a:t>
            </a:r>
            <a:r>
              <a:rPr lang="es-ES" sz="2000" dirty="0" err="1"/>
              <a:t>KPIs</a:t>
            </a:r>
            <a:r>
              <a:rPr lang="es-ES" sz="2000" dirty="0"/>
              <a:t>.</a:t>
            </a:r>
          </a:p>
          <a:p>
            <a:pPr marL="342900" indent="-34290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Estrategias para minimizar la resistencia al cambio.</a:t>
            </a:r>
          </a:p>
          <a:p>
            <a:pPr marL="342900" indent="-34290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Caso práctico: Creación de un plan de transformación digital para una empresa.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47DA1C6-1BCE-9708-264C-130846F95B54}"/>
              </a:ext>
            </a:extLst>
          </p:cNvPr>
          <p:cNvSpPr txBox="1"/>
          <p:nvPr/>
        </p:nvSpPr>
        <p:spPr>
          <a:xfrm>
            <a:off x="9053625" y="1224107"/>
            <a:ext cx="9388548" cy="1616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s-ES" sz="2200" b="1" dirty="0"/>
              <a:t>📌 Plan de Formación - Módulo 4: Gestión del Cambio</a:t>
            </a:r>
          </a:p>
          <a:p>
            <a:pPr>
              <a:lnSpc>
                <a:spcPct val="114000"/>
              </a:lnSpc>
            </a:pPr>
            <a:r>
              <a:rPr lang="es-ES" sz="2200" dirty="0"/>
              <a:t>📆 </a:t>
            </a:r>
            <a:r>
              <a:rPr lang="es-ES" sz="2200" b="1" dirty="0"/>
              <a:t>Fechas:</a:t>
            </a:r>
            <a:r>
              <a:rPr lang="es-ES" sz="2200" dirty="0"/>
              <a:t> 5 viernes consecutivos, desde el </a:t>
            </a:r>
            <a:r>
              <a:rPr lang="es-ES" sz="2200" b="1" dirty="0"/>
              <a:t>14 de marzo</a:t>
            </a:r>
            <a:br>
              <a:rPr lang="es-ES" sz="2200" dirty="0"/>
            </a:br>
            <a:r>
              <a:rPr lang="es-ES" sz="2200" dirty="0"/>
              <a:t>📍 </a:t>
            </a:r>
            <a:r>
              <a:rPr lang="es-ES" sz="2200" b="1" dirty="0"/>
              <a:t>Duración total:</a:t>
            </a:r>
            <a:r>
              <a:rPr lang="es-ES" sz="2200" dirty="0"/>
              <a:t> 16 horas</a:t>
            </a:r>
            <a:br>
              <a:rPr lang="es-ES" sz="2200" dirty="0"/>
            </a:br>
            <a:r>
              <a:rPr lang="es-ES" sz="2200" dirty="0"/>
              <a:t>📍 </a:t>
            </a:r>
            <a:r>
              <a:rPr lang="es-ES" sz="2200" b="1" dirty="0"/>
              <a:t>Formato:</a:t>
            </a:r>
            <a:r>
              <a:rPr lang="es-ES" sz="2200" dirty="0"/>
              <a:t> Presencial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1DB772C-BA54-DCF0-97E5-951746E34A6A}"/>
              </a:ext>
            </a:extLst>
          </p:cNvPr>
          <p:cNvSpPr txBox="1"/>
          <p:nvPr/>
        </p:nvSpPr>
        <p:spPr>
          <a:xfrm>
            <a:off x="712381" y="5222653"/>
            <a:ext cx="10207256" cy="3254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000" b="1" dirty="0"/>
              <a:t>📍 Sesión 2: Personas y Organización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000" dirty="0"/>
              <a:t>📅 </a:t>
            </a:r>
            <a:r>
              <a:rPr lang="es-ES" sz="2000" b="1" dirty="0"/>
              <a:t>Fecha:</a:t>
            </a:r>
            <a:r>
              <a:rPr lang="es-ES" sz="2000" dirty="0"/>
              <a:t> </a:t>
            </a:r>
            <a:r>
              <a:rPr lang="es-ES" sz="2000" b="1" dirty="0"/>
              <a:t>Viernes 21 de marzo</a:t>
            </a:r>
            <a:br>
              <a:rPr lang="es-ES" sz="2000" dirty="0"/>
            </a:br>
            <a:r>
              <a:rPr lang="es-ES" sz="2000" dirty="0"/>
              <a:t>⏳ </a:t>
            </a:r>
            <a:r>
              <a:rPr lang="es-ES" sz="2000" b="1" dirty="0"/>
              <a:t>Duración:</a:t>
            </a:r>
            <a:r>
              <a:rPr lang="es-ES" sz="2000" dirty="0"/>
              <a:t> 3h 20min</a:t>
            </a:r>
            <a:br>
              <a:rPr lang="es-ES" sz="2000" dirty="0"/>
            </a:br>
            <a:r>
              <a:rPr lang="es-ES" sz="2000" dirty="0"/>
              <a:t>🎯 </a:t>
            </a:r>
            <a:r>
              <a:rPr lang="es-ES" sz="2000" b="1" dirty="0"/>
              <a:t>Resumen:</a:t>
            </a:r>
            <a:endParaRPr lang="es-ES" sz="2000" dirty="0"/>
          </a:p>
          <a:p>
            <a:pPr marL="342900" indent="-34290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Impacto de la digitalización en la estructura organizativa.</a:t>
            </a:r>
          </a:p>
          <a:p>
            <a:pPr marL="342900" indent="-34290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Nuevos perfiles profesionales y competencias digitales.</a:t>
            </a:r>
          </a:p>
          <a:p>
            <a:pPr marL="342900" indent="-34290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Trabajo remoto, colaboración y seguridad digital.</a:t>
            </a:r>
          </a:p>
          <a:p>
            <a:pPr marL="342900" indent="-34290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Caso práctico: Diseño de un organigrama digital y roles clave en la transformación.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F1C7820-CBF7-AE38-0635-167C4C0E31BF}"/>
              </a:ext>
            </a:extLst>
          </p:cNvPr>
          <p:cNvSpPr txBox="1"/>
          <p:nvPr/>
        </p:nvSpPr>
        <p:spPr>
          <a:xfrm>
            <a:off x="10909000" y="3491610"/>
            <a:ext cx="8187070" cy="3605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000" b="1" dirty="0"/>
              <a:t>📍 Sesión 3: Transformación Cultural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000" dirty="0"/>
              <a:t>📅 </a:t>
            </a:r>
            <a:r>
              <a:rPr lang="es-ES" sz="2000" b="1" dirty="0"/>
              <a:t>Fecha:</a:t>
            </a:r>
            <a:r>
              <a:rPr lang="es-ES" sz="2000" dirty="0"/>
              <a:t> </a:t>
            </a:r>
            <a:r>
              <a:rPr lang="es-ES" sz="2000" b="1" dirty="0"/>
              <a:t>Viernes 28 de marzo</a:t>
            </a:r>
            <a:br>
              <a:rPr lang="es-ES" sz="2000" dirty="0"/>
            </a:br>
            <a:r>
              <a:rPr lang="es-ES" sz="2000" dirty="0"/>
              <a:t>⏳ </a:t>
            </a:r>
            <a:r>
              <a:rPr lang="es-ES" sz="2000" b="1" dirty="0"/>
              <a:t>Duración:</a:t>
            </a:r>
            <a:r>
              <a:rPr lang="es-ES" sz="2000" dirty="0"/>
              <a:t> 3h 20min</a:t>
            </a:r>
            <a:br>
              <a:rPr lang="es-ES" sz="2000" dirty="0"/>
            </a:br>
            <a:r>
              <a:rPr lang="es-ES" sz="2000" dirty="0"/>
              <a:t>🎯 </a:t>
            </a:r>
            <a:r>
              <a:rPr lang="es-ES" sz="2000" b="1" dirty="0"/>
              <a:t>Resumen:</a:t>
            </a:r>
            <a:endParaRPr lang="es-ES" sz="2000" dirty="0"/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Cultura organizacional en la transformación digital.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Estrategias para gestionar la resistencia al cambio.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Comunicación efectiva y </a:t>
            </a:r>
            <a:r>
              <a:rPr lang="es-ES" sz="2000" dirty="0" err="1"/>
              <a:t>storytelling</a:t>
            </a:r>
            <a:r>
              <a:rPr lang="es-ES" sz="2000" dirty="0"/>
              <a:t> del cambio.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b="1" dirty="0"/>
              <a:t>Actividad individual en </a:t>
            </a:r>
            <a:r>
              <a:rPr lang="es-ES" sz="2000" b="1" dirty="0" err="1"/>
              <a:t>Genially</a:t>
            </a:r>
            <a:r>
              <a:rPr lang="es-ES" sz="2000" dirty="0"/>
              <a:t>: Creación de una infografía interactiva sobre el proceso de cambio.</a:t>
            </a:r>
          </a:p>
        </p:txBody>
      </p:sp>
      <p:sp>
        <p:nvSpPr>
          <p:cNvPr id="12" name="Google Shape;109;p2">
            <a:extLst>
              <a:ext uri="{FF2B5EF4-FFF2-40B4-BE49-F238E27FC236}">
                <a16:creationId xmlns:a16="http://schemas.microsoft.com/office/drawing/2014/main" id="{A02E4515-ED05-227D-ECD2-20FEE5EDD071}"/>
              </a:ext>
            </a:extLst>
          </p:cNvPr>
          <p:cNvSpPr/>
          <p:nvPr/>
        </p:nvSpPr>
        <p:spPr>
          <a:xfrm rot="-10458419">
            <a:off x="10968003" y="-290486"/>
            <a:ext cx="8456494" cy="3417833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FEE95C5-7CEC-880F-3E91-EA6AFB1740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355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15A29B9-FEC1-E66F-9CB6-47F0CAE9B049}"/>
              </a:ext>
            </a:extLst>
          </p:cNvPr>
          <p:cNvSpPr txBox="1">
            <a:spLocks/>
          </p:cNvSpPr>
          <p:nvPr/>
        </p:nvSpPr>
        <p:spPr>
          <a:xfrm>
            <a:off x="-489098" y="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/>
              <a:t>Qué veremos</a:t>
            </a:r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CAD5F71-AE52-57CC-B80C-8264007746CD}"/>
              </a:ext>
            </a:extLst>
          </p:cNvPr>
          <p:cNvSpPr txBox="1"/>
          <p:nvPr/>
        </p:nvSpPr>
        <p:spPr>
          <a:xfrm>
            <a:off x="8883504" y="1202842"/>
            <a:ext cx="9388548" cy="1616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s-ES" sz="2200" b="1" dirty="0"/>
              <a:t>📌 Plan de Formación - Módulo 4: Gestión del Cambio</a:t>
            </a:r>
          </a:p>
          <a:p>
            <a:pPr>
              <a:lnSpc>
                <a:spcPct val="114000"/>
              </a:lnSpc>
            </a:pPr>
            <a:r>
              <a:rPr lang="es-ES" sz="2200" dirty="0"/>
              <a:t>📆 </a:t>
            </a:r>
            <a:r>
              <a:rPr lang="es-ES" sz="2200" b="1" dirty="0"/>
              <a:t>Fechas:</a:t>
            </a:r>
            <a:r>
              <a:rPr lang="es-ES" sz="2200" dirty="0"/>
              <a:t> 5 viernes consecutivos, desde el </a:t>
            </a:r>
            <a:r>
              <a:rPr lang="es-ES" sz="2200" b="1" dirty="0"/>
              <a:t>14 de marzo</a:t>
            </a:r>
            <a:br>
              <a:rPr lang="es-ES" sz="2200" dirty="0"/>
            </a:br>
            <a:r>
              <a:rPr lang="es-ES" sz="2200" dirty="0"/>
              <a:t>📍 </a:t>
            </a:r>
            <a:r>
              <a:rPr lang="es-ES" sz="2200" b="1" dirty="0"/>
              <a:t>Duración total:</a:t>
            </a:r>
            <a:r>
              <a:rPr lang="es-ES" sz="2200" dirty="0"/>
              <a:t> 16 horas</a:t>
            </a:r>
            <a:br>
              <a:rPr lang="es-ES" sz="2200" dirty="0"/>
            </a:br>
            <a:r>
              <a:rPr lang="es-ES" sz="2200" dirty="0"/>
              <a:t>📍 </a:t>
            </a:r>
            <a:r>
              <a:rPr lang="es-ES" sz="2200" b="1" dirty="0"/>
              <a:t>Formato:</a:t>
            </a:r>
            <a:r>
              <a:rPr lang="es-ES" sz="2200" dirty="0"/>
              <a:t> Presencial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1898A7C-3896-71DD-E625-E740D923AC11}"/>
              </a:ext>
            </a:extLst>
          </p:cNvPr>
          <p:cNvSpPr txBox="1"/>
          <p:nvPr/>
        </p:nvSpPr>
        <p:spPr>
          <a:xfrm>
            <a:off x="1026043" y="2084028"/>
            <a:ext cx="15714921" cy="3254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000" b="1" dirty="0"/>
              <a:t>📍 Sesión 4: Metodologías de Innovación / Agile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000" dirty="0"/>
              <a:t>📅 </a:t>
            </a:r>
            <a:r>
              <a:rPr lang="es-ES" sz="2000" b="1" dirty="0"/>
              <a:t>Fecha:</a:t>
            </a:r>
            <a:r>
              <a:rPr lang="es-ES" sz="2000" dirty="0"/>
              <a:t> </a:t>
            </a:r>
            <a:r>
              <a:rPr lang="es-ES" sz="2000" b="1" dirty="0"/>
              <a:t>Viernes 4 de abril</a:t>
            </a:r>
            <a:br>
              <a:rPr lang="es-ES" sz="2000" dirty="0"/>
            </a:br>
            <a:r>
              <a:rPr lang="es-ES" sz="2000" dirty="0"/>
              <a:t>⏳ </a:t>
            </a:r>
            <a:r>
              <a:rPr lang="es-ES" sz="2000" b="1" dirty="0"/>
              <a:t>Duración:</a:t>
            </a:r>
            <a:r>
              <a:rPr lang="es-ES" sz="2000" dirty="0"/>
              <a:t> 3h</a:t>
            </a:r>
            <a:br>
              <a:rPr lang="es-ES" sz="2000" dirty="0"/>
            </a:br>
            <a:r>
              <a:rPr lang="es-ES" sz="2000" dirty="0"/>
              <a:t>🎯 </a:t>
            </a:r>
            <a:r>
              <a:rPr lang="es-ES" sz="2000" b="1" dirty="0"/>
              <a:t>Resumen:</a:t>
            </a:r>
            <a:endParaRPr lang="es-ES" sz="2000" dirty="0"/>
          </a:p>
          <a:p>
            <a:pPr marL="342900" indent="-34290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Metodologías ágiles (Scrum, Kanban, </a:t>
            </a:r>
            <a:r>
              <a:rPr lang="es-ES" sz="2000" dirty="0" err="1"/>
              <a:t>OKRs</a:t>
            </a:r>
            <a:r>
              <a:rPr lang="es-ES" sz="2000" dirty="0"/>
              <a:t>).</a:t>
            </a:r>
          </a:p>
          <a:p>
            <a:pPr marL="342900" indent="-34290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Cómo integrar la agilidad en la gestión del cambio.</a:t>
            </a:r>
          </a:p>
          <a:p>
            <a:pPr marL="342900" indent="-34290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Caso práctico: Diseño de un tablero Kanban digital para un proyecto de transformación.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endParaRPr lang="es-ES" sz="20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A2A8B74-A42A-A27E-3722-453C433C0FF7}"/>
              </a:ext>
            </a:extLst>
          </p:cNvPr>
          <p:cNvSpPr txBox="1"/>
          <p:nvPr/>
        </p:nvSpPr>
        <p:spPr>
          <a:xfrm>
            <a:off x="3558208" y="5470426"/>
            <a:ext cx="12317819" cy="3254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000" b="1" dirty="0"/>
              <a:t>📍 Sesión 5: Herramientas Digitales de Trabajo Colaborativo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000" dirty="0"/>
              <a:t>📅 </a:t>
            </a:r>
            <a:r>
              <a:rPr lang="es-ES" sz="2000" b="1" dirty="0"/>
              <a:t>Fecha:</a:t>
            </a:r>
            <a:r>
              <a:rPr lang="es-ES" sz="2000" dirty="0"/>
              <a:t> </a:t>
            </a:r>
            <a:r>
              <a:rPr lang="es-ES" sz="2000" b="1" dirty="0"/>
              <a:t>Viernes 11 de abril</a:t>
            </a:r>
            <a:br>
              <a:rPr lang="es-ES" sz="2000" dirty="0"/>
            </a:br>
            <a:r>
              <a:rPr lang="es-ES" sz="2000" dirty="0"/>
              <a:t>⏳ </a:t>
            </a:r>
            <a:r>
              <a:rPr lang="es-ES" sz="2000" b="1" dirty="0"/>
              <a:t>Duración:</a:t>
            </a:r>
            <a:r>
              <a:rPr lang="es-ES" sz="2000" dirty="0"/>
              <a:t> 3h</a:t>
            </a:r>
            <a:br>
              <a:rPr lang="es-ES" sz="2000" dirty="0"/>
            </a:br>
            <a:r>
              <a:rPr lang="es-ES" sz="2000" dirty="0"/>
              <a:t>🎯 </a:t>
            </a:r>
            <a:r>
              <a:rPr lang="es-ES" sz="2000" b="1" dirty="0"/>
              <a:t>Resumen:</a:t>
            </a:r>
            <a:endParaRPr lang="es-ES" sz="2000" dirty="0"/>
          </a:p>
          <a:p>
            <a:pPr marL="342900" indent="-34290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Plataformas digitales para comunicación y gestión de proyectos (</a:t>
            </a:r>
            <a:r>
              <a:rPr lang="es-ES" sz="2000" dirty="0" err="1"/>
              <a:t>Slack</a:t>
            </a:r>
            <a:r>
              <a:rPr lang="es-ES" sz="2000" dirty="0"/>
              <a:t>, Trello, Microsoft </a:t>
            </a:r>
            <a:r>
              <a:rPr lang="es-ES" sz="2000" dirty="0" err="1"/>
              <a:t>Teams</a:t>
            </a:r>
            <a:r>
              <a:rPr lang="es-ES" sz="2000" dirty="0"/>
              <a:t>).</a:t>
            </a:r>
          </a:p>
          <a:p>
            <a:pPr marL="342900" indent="-34290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Automatización y productividad con </a:t>
            </a:r>
            <a:r>
              <a:rPr lang="es-ES" sz="2000" dirty="0" err="1"/>
              <a:t>chatbots</a:t>
            </a:r>
            <a:r>
              <a:rPr lang="es-ES" sz="2000" dirty="0"/>
              <a:t> y CRM.</a:t>
            </a:r>
          </a:p>
          <a:p>
            <a:pPr marL="342900" indent="-34290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Creatividad digital: Uso de </a:t>
            </a:r>
            <a:r>
              <a:rPr lang="es-ES" sz="2000" dirty="0" err="1"/>
              <a:t>Canva</a:t>
            </a:r>
            <a:r>
              <a:rPr lang="es-ES" sz="2000" dirty="0"/>
              <a:t> y </a:t>
            </a:r>
            <a:r>
              <a:rPr lang="es-ES" sz="2000" dirty="0" err="1"/>
              <a:t>Genially</a:t>
            </a:r>
            <a:r>
              <a:rPr lang="es-ES" sz="2000" dirty="0"/>
              <a:t>.</a:t>
            </a:r>
          </a:p>
          <a:p>
            <a:pPr marL="342900" indent="-34290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/>
              <a:t>Caso práctico: Implementación de herramientas digitales en un entorno de trabajo.</a:t>
            </a:r>
          </a:p>
        </p:txBody>
      </p:sp>
      <p:sp>
        <p:nvSpPr>
          <p:cNvPr id="9" name="Google Shape;109;p2">
            <a:extLst>
              <a:ext uri="{FF2B5EF4-FFF2-40B4-BE49-F238E27FC236}">
                <a16:creationId xmlns:a16="http://schemas.microsoft.com/office/drawing/2014/main" id="{18F8160A-8A05-3E53-BC03-ECE9F70C646D}"/>
              </a:ext>
            </a:extLst>
          </p:cNvPr>
          <p:cNvSpPr/>
          <p:nvPr/>
        </p:nvSpPr>
        <p:spPr>
          <a:xfrm rot="-10458419">
            <a:off x="10968003" y="-290486"/>
            <a:ext cx="8456494" cy="3417833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63FD1B1-ED39-0FD8-8D98-FF253246B0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195" y="8725035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6214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/>
          <p:nvPr/>
        </p:nvSpPr>
        <p:spPr>
          <a:xfrm rot="-10458419">
            <a:off x="10968003" y="-290486"/>
            <a:ext cx="8456494" cy="3417833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5" name="Google Shape;125;p3"/>
          <p:cNvSpPr txBox="1"/>
          <p:nvPr/>
        </p:nvSpPr>
        <p:spPr>
          <a:xfrm>
            <a:off x="4694225" y="1025725"/>
            <a:ext cx="63216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F46524"/>
                </a:solidFill>
                <a:latin typeface="Raleway"/>
                <a:ea typeface="Raleway"/>
                <a:cs typeface="Raleway"/>
                <a:sym typeface="Raleway"/>
              </a:rPr>
              <a:t>GESTIONANDO EL CAMBIO</a:t>
            </a:r>
            <a:endParaRPr sz="2700" b="1" dirty="0">
              <a:solidFill>
                <a:srgbClr val="F4652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2771500" y="3186600"/>
            <a:ext cx="10222500" cy="39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300" b="1" dirty="0" err="1">
                <a:solidFill>
                  <a:srgbClr val="000000"/>
                </a:solidFill>
              </a:rPr>
              <a:t>Gestionar</a:t>
            </a:r>
            <a:r>
              <a:rPr lang="en-US" sz="2300" b="1" dirty="0">
                <a:solidFill>
                  <a:srgbClr val="000000"/>
                </a:solidFill>
              </a:rPr>
              <a:t> </a:t>
            </a:r>
            <a:r>
              <a:rPr lang="en-US" sz="2300" b="1" dirty="0" err="1">
                <a:solidFill>
                  <a:srgbClr val="000000"/>
                </a:solidFill>
              </a:rPr>
              <a:t>el</a:t>
            </a:r>
            <a:r>
              <a:rPr lang="en-US" sz="2300" b="1" dirty="0">
                <a:solidFill>
                  <a:srgbClr val="000000"/>
                </a:solidFill>
              </a:rPr>
              <a:t> </a:t>
            </a:r>
            <a:r>
              <a:rPr lang="en-US" sz="2300" b="1" dirty="0" err="1">
                <a:solidFill>
                  <a:srgbClr val="000000"/>
                </a:solidFill>
              </a:rPr>
              <a:t>cambio</a:t>
            </a:r>
            <a:r>
              <a:rPr lang="en-US" sz="2300" b="1" dirty="0">
                <a:solidFill>
                  <a:srgbClr val="000000"/>
                </a:solidFill>
              </a:rPr>
              <a:t> </a:t>
            </a:r>
            <a:r>
              <a:rPr lang="en-US" sz="2300" b="1" dirty="0" err="1">
                <a:solidFill>
                  <a:srgbClr val="000000"/>
                </a:solidFill>
              </a:rPr>
              <a:t>en</a:t>
            </a:r>
            <a:r>
              <a:rPr lang="en-US" sz="2300" b="1" dirty="0">
                <a:solidFill>
                  <a:srgbClr val="000000"/>
                </a:solidFill>
              </a:rPr>
              <a:t> la </a:t>
            </a:r>
            <a:r>
              <a:rPr lang="en-US" sz="2300" b="1" dirty="0" err="1">
                <a:solidFill>
                  <a:srgbClr val="000000"/>
                </a:solidFill>
              </a:rPr>
              <a:t>transformación</a:t>
            </a:r>
            <a:r>
              <a:rPr lang="en-US" sz="2300" b="1" dirty="0">
                <a:solidFill>
                  <a:srgbClr val="000000"/>
                </a:solidFill>
              </a:rPr>
              <a:t> </a:t>
            </a:r>
            <a:r>
              <a:rPr lang="en-US" sz="2300" b="1" dirty="0" err="1">
                <a:solidFill>
                  <a:srgbClr val="000000"/>
                </a:solidFill>
              </a:rPr>
              <a:t>tecnológica</a:t>
            </a:r>
            <a:r>
              <a:rPr lang="en-US" sz="2300" dirty="0">
                <a:solidFill>
                  <a:srgbClr val="000000"/>
                </a:solidFill>
              </a:rPr>
              <a:t> es un </a:t>
            </a:r>
            <a:r>
              <a:rPr lang="en-US" sz="2300" dirty="0" err="1">
                <a:solidFill>
                  <a:srgbClr val="000000"/>
                </a:solidFill>
              </a:rPr>
              <a:t>proceso</a:t>
            </a:r>
            <a:r>
              <a:rPr lang="en-US" sz="2300" dirty="0">
                <a:solidFill>
                  <a:srgbClr val="000000"/>
                </a:solidFill>
              </a:rPr>
              <a:t> fundamental para que las </a:t>
            </a:r>
            <a:r>
              <a:rPr lang="en-US" sz="2300" dirty="0" err="1">
                <a:solidFill>
                  <a:srgbClr val="000000"/>
                </a:solidFill>
              </a:rPr>
              <a:t>empresas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puedan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adaptarse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exitosamente</a:t>
            </a:r>
            <a:r>
              <a:rPr lang="en-US" sz="2300" dirty="0">
                <a:solidFill>
                  <a:srgbClr val="000000"/>
                </a:solidFill>
              </a:rPr>
              <a:t> a </a:t>
            </a:r>
            <a:r>
              <a:rPr lang="en-US" sz="2300" dirty="0" err="1">
                <a:solidFill>
                  <a:srgbClr val="000000"/>
                </a:solidFill>
              </a:rPr>
              <a:t>nuevas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tecnologías</a:t>
            </a:r>
            <a:r>
              <a:rPr lang="en-US" sz="2300" dirty="0">
                <a:solidFill>
                  <a:srgbClr val="000000"/>
                </a:solidFill>
              </a:rPr>
              <a:t> y </a:t>
            </a:r>
            <a:r>
              <a:rPr lang="en-US" sz="2300" dirty="0" err="1">
                <a:solidFill>
                  <a:srgbClr val="000000"/>
                </a:solidFill>
              </a:rPr>
              <a:t>metodologías</a:t>
            </a:r>
            <a:r>
              <a:rPr lang="en-US" sz="2300" dirty="0">
                <a:solidFill>
                  <a:srgbClr val="000000"/>
                </a:solidFill>
              </a:rPr>
              <a:t>. El </a:t>
            </a:r>
            <a:r>
              <a:rPr lang="en-US" sz="2300" dirty="0" err="1">
                <a:solidFill>
                  <a:srgbClr val="000000"/>
                </a:solidFill>
              </a:rPr>
              <a:t>cambio</a:t>
            </a:r>
            <a:r>
              <a:rPr lang="en-US" sz="2300" dirty="0">
                <a:solidFill>
                  <a:srgbClr val="000000"/>
                </a:solidFill>
              </a:rPr>
              <a:t> no solo </a:t>
            </a:r>
            <a:r>
              <a:rPr lang="en-US" sz="2300" dirty="0" err="1">
                <a:solidFill>
                  <a:srgbClr val="000000"/>
                </a:solidFill>
              </a:rPr>
              <a:t>implica</a:t>
            </a:r>
            <a:r>
              <a:rPr lang="en-US" sz="2300" dirty="0">
                <a:solidFill>
                  <a:srgbClr val="000000"/>
                </a:solidFill>
              </a:rPr>
              <a:t> la </a:t>
            </a:r>
            <a:r>
              <a:rPr lang="en-US" sz="2300" dirty="0" err="1">
                <a:solidFill>
                  <a:srgbClr val="000000"/>
                </a:solidFill>
              </a:rPr>
              <a:t>adopción</a:t>
            </a:r>
            <a:r>
              <a:rPr lang="en-US" sz="2300" dirty="0">
                <a:solidFill>
                  <a:srgbClr val="000000"/>
                </a:solidFill>
              </a:rPr>
              <a:t> de </a:t>
            </a:r>
            <a:r>
              <a:rPr lang="en-US" sz="2300" dirty="0" err="1">
                <a:solidFill>
                  <a:srgbClr val="000000"/>
                </a:solidFill>
              </a:rPr>
              <a:t>nuevas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herramientas</a:t>
            </a:r>
            <a:r>
              <a:rPr lang="en-US" sz="2300" dirty="0">
                <a:solidFill>
                  <a:srgbClr val="000000"/>
                </a:solidFill>
              </a:rPr>
              <a:t>, </a:t>
            </a:r>
            <a:r>
              <a:rPr lang="en-US" sz="2300" dirty="0" err="1">
                <a:solidFill>
                  <a:srgbClr val="000000"/>
                </a:solidFill>
              </a:rPr>
              <a:t>sino</a:t>
            </a:r>
            <a:r>
              <a:rPr lang="en-US" sz="2300" dirty="0">
                <a:solidFill>
                  <a:srgbClr val="000000"/>
                </a:solidFill>
              </a:rPr>
              <a:t> también la </a:t>
            </a:r>
            <a:r>
              <a:rPr lang="en-US" sz="2300" dirty="0" err="1">
                <a:solidFill>
                  <a:srgbClr val="000000"/>
                </a:solidFill>
              </a:rPr>
              <a:t>transformación</a:t>
            </a:r>
            <a:r>
              <a:rPr lang="en-US" sz="2300" dirty="0">
                <a:solidFill>
                  <a:srgbClr val="000000"/>
                </a:solidFill>
              </a:rPr>
              <a:t> de </a:t>
            </a:r>
            <a:r>
              <a:rPr lang="en-US" sz="2300" dirty="0" err="1">
                <a:solidFill>
                  <a:srgbClr val="000000"/>
                </a:solidFill>
              </a:rPr>
              <a:t>procesos</a:t>
            </a:r>
            <a:r>
              <a:rPr lang="en-US" sz="2300" dirty="0">
                <a:solidFill>
                  <a:srgbClr val="000000"/>
                </a:solidFill>
              </a:rPr>
              <a:t>, </a:t>
            </a:r>
            <a:r>
              <a:rPr lang="en-US" sz="2300" dirty="0" err="1">
                <a:solidFill>
                  <a:srgbClr val="000000"/>
                </a:solidFill>
              </a:rPr>
              <a:t>cultura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organizativa</a:t>
            </a:r>
            <a:r>
              <a:rPr lang="en-US" sz="2300" dirty="0">
                <a:solidFill>
                  <a:srgbClr val="000000"/>
                </a:solidFill>
              </a:rPr>
              <a:t>, </a:t>
            </a:r>
            <a:r>
              <a:rPr lang="en-US" sz="2300" dirty="0" err="1">
                <a:solidFill>
                  <a:srgbClr val="000000"/>
                </a:solidFill>
              </a:rPr>
              <a:t>estructura</a:t>
            </a:r>
            <a:r>
              <a:rPr lang="en-US" sz="2300" dirty="0">
                <a:solidFill>
                  <a:srgbClr val="000000"/>
                </a:solidFill>
              </a:rPr>
              <a:t> y </a:t>
            </a:r>
            <a:r>
              <a:rPr lang="en-US" sz="2300" dirty="0" err="1">
                <a:solidFill>
                  <a:srgbClr val="000000"/>
                </a:solidFill>
              </a:rPr>
              <a:t>formas</a:t>
            </a:r>
            <a:r>
              <a:rPr lang="en-US" sz="2300" dirty="0">
                <a:solidFill>
                  <a:srgbClr val="000000"/>
                </a:solidFill>
              </a:rPr>
              <a:t> de </a:t>
            </a:r>
            <a:r>
              <a:rPr lang="en-US" sz="2300" dirty="0" err="1">
                <a:solidFill>
                  <a:srgbClr val="000000"/>
                </a:solidFill>
              </a:rPr>
              <a:t>trabajo</a:t>
            </a:r>
            <a:r>
              <a:rPr lang="en-US" sz="2300" dirty="0">
                <a:solidFill>
                  <a:srgbClr val="000000"/>
                </a:solidFill>
              </a:rPr>
              <a:t>. </a:t>
            </a:r>
            <a:r>
              <a:rPr lang="en-US" sz="2300" dirty="0" err="1">
                <a:solidFill>
                  <a:srgbClr val="000000"/>
                </a:solidFill>
              </a:rPr>
              <a:t>Gestionar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el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cambio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adecuadamente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asegura</a:t>
            </a:r>
            <a:r>
              <a:rPr lang="en-US" sz="2300" dirty="0">
                <a:solidFill>
                  <a:srgbClr val="000000"/>
                </a:solidFill>
              </a:rPr>
              <a:t> que </a:t>
            </a:r>
            <a:r>
              <a:rPr lang="en-US" sz="2300" dirty="0" err="1">
                <a:solidFill>
                  <a:srgbClr val="000000"/>
                </a:solidFill>
              </a:rPr>
              <a:t>los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empleados</a:t>
            </a:r>
            <a:r>
              <a:rPr lang="en-US" sz="2300" dirty="0">
                <a:solidFill>
                  <a:srgbClr val="000000"/>
                </a:solidFill>
              </a:rPr>
              <a:t> y las partes </a:t>
            </a:r>
            <a:r>
              <a:rPr lang="en-US" sz="2300" dirty="0" err="1">
                <a:solidFill>
                  <a:srgbClr val="000000"/>
                </a:solidFill>
              </a:rPr>
              <a:t>interesadas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estén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alineados</a:t>
            </a:r>
            <a:r>
              <a:rPr lang="en-US" sz="2300" dirty="0">
                <a:solidFill>
                  <a:srgbClr val="000000"/>
                </a:solidFill>
              </a:rPr>
              <a:t> con </a:t>
            </a:r>
            <a:r>
              <a:rPr lang="en-US" sz="2300" dirty="0" err="1">
                <a:solidFill>
                  <a:srgbClr val="000000"/>
                </a:solidFill>
              </a:rPr>
              <a:t>los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objetivos</a:t>
            </a:r>
            <a:r>
              <a:rPr lang="en-US" sz="2300" dirty="0">
                <a:solidFill>
                  <a:srgbClr val="000000"/>
                </a:solidFill>
              </a:rPr>
              <a:t> y que la </a:t>
            </a:r>
            <a:r>
              <a:rPr lang="en-US" sz="2300" dirty="0" err="1">
                <a:solidFill>
                  <a:srgbClr val="000000"/>
                </a:solidFill>
              </a:rPr>
              <a:t>organización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pueda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mantener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su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competitividad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en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el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entorno</a:t>
            </a:r>
            <a:r>
              <a:rPr lang="en-US" sz="2300" dirty="0">
                <a:solidFill>
                  <a:srgbClr val="000000"/>
                </a:solidFill>
              </a:rPr>
              <a:t> digital.</a:t>
            </a:r>
            <a:endParaRPr sz="230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10ABF8F-6658-4067-671C-DC5B87D0A4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0689113c39_0_6"/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40" name="Google Shape;140;g30689113c39_0_6"/>
          <p:cNvSpPr txBox="1"/>
          <p:nvPr/>
        </p:nvSpPr>
        <p:spPr>
          <a:xfrm>
            <a:off x="3885300" y="539500"/>
            <a:ext cx="89541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F46524"/>
                </a:solidFill>
                <a:latin typeface="Raleway"/>
                <a:ea typeface="Raleway"/>
                <a:cs typeface="Raleway"/>
                <a:sym typeface="Raleway"/>
              </a:rPr>
              <a:t>Características de la Gestión del Cambio en la Transformación Tecnológica</a:t>
            </a:r>
            <a:endParaRPr sz="2700" b="1">
              <a:solidFill>
                <a:srgbClr val="F4652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1" name="Google Shape;141;g30689113c39_0_6"/>
          <p:cNvSpPr txBox="1"/>
          <p:nvPr/>
        </p:nvSpPr>
        <p:spPr>
          <a:xfrm>
            <a:off x="2302125" y="1799000"/>
            <a:ext cx="11805900" cy="67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rgbClr val="000000"/>
                </a:solidFill>
              </a:rPr>
              <a:t>Visión </a:t>
            </a:r>
            <a:r>
              <a:rPr lang="en-US" sz="2300" b="1" dirty="0" err="1">
                <a:solidFill>
                  <a:srgbClr val="000000"/>
                </a:solidFill>
              </a:rPr>
              <a:t>Estratégica</a:t>
            </a:r>
            <a:r>
              <a:rPr lang="en-US" sz="2300" b="1" dirty="0">
                <a:solidFill>
                  <a:srgbClr val="000000"/>
                </a:solidFill>
              </a:rPr>
              <a:t> Clara</a:t>
            </a:r>
            <a:endParaRPr sz="2300" b="1" dirty="0">
              <a:solidFill>
                <a:srgbClr val="000000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lang="en-US" sz="2300" dirty="0">
                <a:solidFill>
                  <a:srgbClr val="000000"/>
                </a:solidFill>
              </a:rPr>
              <a:t>Es </a:t>
            </a:r>
            <a:r>
              <a:rPr lang="en-US" sz="2300" dirty="0" err="1">
                <a:solidFill>
                  <a:srgbClr val="000000"/>
                </a:solidFill>
              </a:rPr>
              <a:t>esencial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definir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claramente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b="1" dirty="0" err="1">
                <a:solidFill>
                  <a:srgbClr val="000000"/>
                </a:solidFill>
              </a:rPr>
              <a:t>qué</a:t>
            </a:r>
            <a:r>
              <a:rPr lang="en-US" sz="2300" b="1" dirty="0">
                <a:solidFill>
                  <a:srgbClr val="000000"/>
                </a:solidFill>
              </a:rPr>
              <a:t> se </a:t>
            </a:r>
            <a:r>
              <a:rPr lang="en-US" sz="2300" b="1" dirty="0" err="1">
                <a:solidFill>
                  <a:srgbClr val="000000"/>
                </a:solidFill>
              </a:rPr>
              <a:t>quiere</a:t>
            </a:r>
            <a:r>
              <a:rPr lang="en-US" sz="2300" b="1" dirty="0">
                <a:solidFill>
                  <a:srgbClr val="000000"/>
                </a:solidFill>
              </a:rPr>
              <a:t> </a:t>
            </a:r>
            <a:r>
              <a:rPr lang="en-US" sz="2300" b="1" dirty="0" err="1">
                <a:solidFill>
                  <a:srgbClr val="000000"/>
                </a:solidFill>
              </a:rPr>
              <a:t>lograr</a:t>
            </a:r>
            <a:r>
              <a:rPr lang="en-US" sz="2300" dirty="0">
                <a:solidFill>
                  <a:srgbClr val="000000"/>
                </a:solidFill>
              </a:rPr>
              <a:t> con la </a:t>
            </a:r>
            <a:r>
              <a:rPr lang="en-US" sz="2300" dirty="0" err="1">
                <a:solidFill>
                  <a:srgbClr val="000000"/>
                </a:solidFill>
              </a:rPr>
              <a:t>transformación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tecnológica</a:t>
            </a:r>
            <a:r>
              <a:rPr lang="en-US" sz="2300" dirty="0">
                <a:solidFill>
                  <a:srgbClr val="000000"/>
                </a:solidFill>
              </a:rPr>
              <a:t>, </a:t>
            </a:r>
            <a:r>
              <a:rPr lang="en-US" sz="2300" dirty="0" err="1">
                <a:solidFill>
                  <a:srgbClr val="000000"/>
                </a:solidFill>
              </a:rPr>
              <a:t>cómo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impactará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en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el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negocio</a:t>
            </a:r>
            <a:r>
              <a:rPr lang="en-US" sz="2300" dirty="0">
                <a:solidFill>
                  <a:srgbClr val="000000"/>
                </a:solidFill>
              </a:rPr>
              <a:t> y </a:t>
            </a:r>
            <a:r>
              <a:rPr lang="en-US" sz="2300" dirty="0" err="1">
                <a:solidFill>
                  <a:srgbClr val="000000"/>
                </a:solidFill>
              </a:rPr>
              <a:t>cuáles</a:t>
            </a:r>
            <a:r>
              <a:rPr lang="en-US" sz="2300" dirty="0">
                <a:solidFill>
                  <a:srgbClr val="000000"/>
                </a:solidFill>
              </a:rPr>
              <a:t> son </a:t>
            </a:r>
            <a:r>
              <a:rPr lang="en-US" sz="2300" dirty="0" err="1">
                <a:solidFill>
                  <a:srgbClr val="000000"/>
                </a:solidFill>
              </a:rPr>
              <a:t>los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beneficios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esperados</a:t>
            </a:r>
            <a:r>
              <a:rPr lang="en-US" sz="2300" dirty="0">
                <a:solidFill>
                  <a:srgbClr val="000000"/>
                </a:solidFill>
              </a:rPr>
              <a:t>. Todos </a:t>
            </a:r>
            <a:r>
              <a:rPr lang="en-US" sz="2300" dirty="0" err="1">
                <a:solidFill>
                  <a:srgbClr val="000000"/>
                </a:solidFill>
              </a:rPr>
              <a:t>en</a:t>
            </a:r>
            <a:r>
              <a:rPr lang="en-US" sz="2300" dirty="0">
                <a:solidFill>
                  <a:srgbClr val="000000"/>
                </a:solidFill>
              </a:rPr>
              <a:t> la </a:t>
            </a:r>
            <a:r>
              <a:rPr lang="en-US" sz="2300" dirty="0" err="1">
                <a:solidFill>
                  <a:srgbClr val="000000"/>
                </a:solidFill>
              </a:rPr>
              <a:t>organización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deben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entender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el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propósito</a:t>
            </a:r>
            <a:r>
              <a:rPr lang="en-US" sz="2300" dirty="0">
                <a:solidFill>
                  <a:srgbClr val="000000"/>
                </a:solidFill>
              </a:rPr>
              <a:t> y </a:t>
            </a:r>
            <a:r>
              <a:rPr lang="en-US" sz="2300" dirty="0" err="1">
                <a:solidFill>
                  <a:srgbClr val="000000"/>
                </a:solidFill>
              </a:rPr>
              <a:t>el</a:t>
            </a:r>
            <a:r>
              <a:rPr lang="en-US" sz="2300" dirty="0">
                <a:solidFill>
                  <a:srgbClr val="000000"/>
                </a:solidFill>
              </a:rPr>
              <a:t> valor del </a:t>
            </a:r>
            <a:r>
              <a:rPr lang="en-US" sz="2300" dirty="0" err="1">
                <a:solidFill>
                  <a:srgbClr val="000000"/>
                </a:solidFill>
              </a:rPr>
              <a:t>cambio</a:t>
            </a:r>
            <a:r>
              <a:rPr lang="en-US" sz="2300" dirty="0">
                <a:solidFill>
                  <a:srgbClr val="000000"/>
                </a:solidFill>
              </a:rPr>
              <a:t>.</a:t>
            </a:r>
            <a:endParaRPr sz="23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 dirty="0" err="1">
                <a:solidFill>
                  <a:srgbClr val="000000"/>
                </a:solidFill>
              </a:rPr>
              <a:t>Liderazgo</a:t>
            </a:r>
            <a:r>
              <a:rPr lang="en-US" sz="2300" b="1" dirty="0">
                <a:solidFill>
                  <a:srgbClr val="000000"/>
                </a:solidFill>
              </a:rPr>
              <a:t> </a:t>
            </a:r>
            <a:r>
              <a:rPr lang="en-US" sz="2300" b="1" dirty="0" err="1">
                <a:solidFill>
                  <a:srgbClr val="000000"/>
                </a:solidFill>
              </a:rPr>
              <a:t>Activo</a:t>
            </a:r>
            <a:r>
              <a:rPr lang="en-US" sz="2300" b="1" dirty="0">
                <a:solidFill>
                  <a:srgbClr val="000000"/>
                </a:solidFill>
              </a:rPr>
              <a:t> y </a:t>
            </a:r>
            <a:r>
              <a:rPr lang="en-US" sz="2300" b="1" dirty="0" err="1">
                <a:solidFill>
                  <a:srgbClr val="000000"/>
                </a:solidFill>
              </a:rPr>
              <a:t>Comprometido</a:t>
            </a:r>
            <a:endParaRPr sz="2300" b="1" dirty="0">
              <a:solidFill>
                <a:srgbClr val="000000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lang="en-US" sz="2300" dirty="0">
                <a:solidFill>
                  <a:srgbClr val="000000"/>
                </a:solidFill>
              </a:rPr>
              <a:t>Los </a:t>
            </a:r>
            <a:r>
              <a:rPr lang="en-US" sz="2300" dirty="0" err="1">
                <a:solidFill>
                  <a:srgbClr val="000000"/>
                </a:solidFill>
              </a:rPr>
              <a:t>líderes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deben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actuar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como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b="1" dirty="0" err="1">
                <a:solidFill>
                  <a:srgbClr val="000000"/>
                </a:solidFill>
              </a:rPr>
              <a:t>agentes</a:t>
            </a:r>
            <a:r>
              <a:rPr lang="en-US" sz="2300" b="1" dirty="0">
                <a:solidFill>
                  <a:srgbClr val="000000"/>
                </a:solidFill>
              </a:rPr>
              <a:t> de </a:t>
            </a:r>
            <a:r>
              <a:rPr lang="en-US" sz="2300" b="1" dirty="0" err="1">
                <a:solidFill>
                  <a:srgbClr val="000000"/>
                </a:solidFill>
              </a:rPr>
              <a:t>cambio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que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guían</a:t>
            </a:r>
            <a:r>
              <a:rPr lang="en-US" sz="2300" dirty="0">
                <a:solidFill>
                  <a:srgbClr val="000000"/>
                </a:solidFill>
              </a:rPr>
              <a:t>, </a:t>
            </a:r>
            <a:r>
              <a:rPr lang="en-US" sz="2300" dirty="0" err="1">
                <a:solidFill>
                  <a:srgbClr val="000000"/>
                </a:solidFill>
              </a:rPr>
              <a:t>inspiran</a:t>
            </a:r>
            <a:r>
              <a:rPr lang="en-US" sz="2300" dirty="0">
                <a:solidFill>
                  <a:srgbClr val="000000"/>
                </a:solidFill>
              </a:rPr>
              <a:t> y </a:t>
            </a:r>
            <a:r>
              <a:rPr lang="en-US" sz="2300" dirty="0" err="1">
                <a:solidFill>
                  <a:srgbClr val="000000"/>
                </a:solidFill>
              </a:rPr>
              <a:t>apoyan</a:t>
            </a:r>
            <a:r>
              <a:rPr lang="en-US" sz="2300" dirty="0">
                <a:solidFill>
                  <a:srgbClr val="000000"/>
                </a:solidFill>
              </a:rPr>
              <a:t> a </a:t>
            </a:r>
            <a:r>
              <a:rPr lang="en-US" sz="2300" dirty="0" err="1">
                <a:solidFill>
                  <a:srgbClr val="000000"/>
                </a:solidFill>
              </a:rPr>
              <a:t>los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empleados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en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el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proceso</a:t>
            </a:r>
            <a:r>
              <a:rPr lang="en-US" sz="2300" dirty="0">
                <a:solidFill>
                  <a:srgbClr val="000000"/>
                </a:solidFill>
              </a:rPr>
              <a:t>. Deben </a:t>
            </a:r>
            <a:r>
              <a:rPr lang="en-US" sz="2300" dirty="0" err="1">
                <a:solidFill>
                  <a:srgbClr val="000000"/>
                </a:solidFill>
              </a:rPr>
              <a:t>estar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visiblemente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comprometidos</a:t>
            </a:r>
            <a:r>
              <a:rPr lang="en-US" sz="2300" dirty="0">
                <a:solidFill>
                  <a:srgbClr val="000000"/>
                </a:solidFill>
              </a:rPr>
              <a:t> con </a:t>
            </a:r>
            <a:r>
              <a:rPr lang="en-US" sz="2300" dirty="0" err="1">
                <a:solidFill>
                  <a:srgbClr val="000000"/>
                </a:solidFill>
              </a:rPr>
              <a:t>el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cambio</a:t>
            </a:r>
            <a:r>
              <a:rPr lang="en-US" sz="2300" dirty="0">
                <a:solidFill>
                  <a:srgbClr val="000000"/>
                </a:solidFill>
              </a:rPr>
              <a:t> para </a:t>
            </a:r>
            <a:r>
              <a:rPr lang="en-US" sz="2300" dirty="0" err="1">
                <a:solidFill>
                  <a:srgbClr val="000000"/>
                </a:solidFill>
              </a:rPr>
              <a:t>influir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positivamente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en</a:t>
            </a:r>
            <a:r>
              <a:rPr lang="en-US" sz="2300" dirty="0">
                <a:solidFill>
                  <a:srgbClr val="000000"/>
                </a:solidFill>
              </a:rPr>
              <a:t> la </a:t>
            </a:r>
            <a:r>
              <a:rPr lang="en-US" sz="2300" dirty="0" err="1">
                <a:solidFill>
                  <a:srgbClr val="000000"/>
                </a:solidFill>
              </a:rPr>
              <a:t>adopción</a:t>
            </a:r>
            <a:r>
              <a:rPr lang="en-US" sz="2300" dirty="0">
                <a:solidFill>
                  <a:srgbClr val="000000"/>
                </a:solidFill>
              </a:rPr>
              <a:t> de </a:t>
            </a:r>
            <a:r>
              <a:rPr lang="en-US" sz="2300" dirty="0" err="1">
                <a:solidFill>
                  <a:srgbClr val="000000"/>
                </a:solidFill>
              </a:rPr>
              <a:t>nuevas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tecnologías</a:t>
            </a:r>
            <a:r>
              <a:rPr lang="en-US" sz="2300" dirty="0">
                <a:solidFill>
                  <a:srgbClr val="000000"/>
                </a:solidFill>
              </a:rPr>
              <a:t>.</a:t>
            </a:r>
            <a:endParaRPr sz="23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 dirty="0" err="1">
                <a:solidFill>
                  <a:srgbClr val="000000"/>
                </a:solidFill>
              </a:rPr>
              <a:t>Comunicación</a:t>
            </a:r>
            <a:r>
              <a:rPr lang="en-US" sz="2300" b="1" dirty="0">
                <a:solidFill>
                  <a:srgbClr val="000000"/>
                </a:solidFill>
              </a:rPr>
              <a:t> </a:t>
            </a:r>
            <a:r>
              <a:rPr lang="en-US" sz="2300" b="1" dirty="0" err="1">
                <a:solidFill>
                  <a:srgbClr val="000000"/>
                </a:solidFill>
              </a:rPr>
              <a:t>Transparente</a:t>
            </a:r>
            <a:endParaRPr sz="2300" b="1" dirty="0">
              <a:solidFill>
                <a:srgbClr val="000000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lang="en-US" sz="2300" dirty="0">
                <a:solidFill>
                  <a:srgbClr val="000000"/>
                </a:solidFill>
              </a:rPr>
              <a:t>La </a:t>
            </a:r>
            <a:r>
              <a:rPr lang="en-US" sz="2300" b="1" dirty="0" err="1">
                <a:solidFill>
                  <a:srgbClr val="000000"/>
                </a:solidFill>
              </a:rPr>
              <a:t>comunicación</a:t>
            </a:r>
            <a:r>
              <a:rPr lang="en-US" sz="2300" b="1" dirty="0">
                <a:solidFill>
                  <a:srgbClr val="000000"/>
                </a:solidFill>
              </a:rPr>
              <a:t> es clave</a:t>
            </a:r>
            <a:r>
              <a:rPr lang="en-US" sz="2300" dirty="0">
                <a:solidFill>
                  <a:srgbClr val="000000"/>
                </a:solidFill>
              </a:rPr>
              <a:t> para </a:t>
            </a:r>
            <a:r>
              <a:rPr lang="en-US" sz="2300" dirty="0" err="1">
                <a:solidFill>
                  <a:srgbClr val="000000"/>
                </a:solidFill>
              </a:rPr>
              <a:t>gestionar</a:t>
            </a:r>
            <a:r>
              <a:rPr lang="en-US" sz="2300" dirty="0">
                <a:solidFill>
                  <a:srgbClr val="000000"/>
                </a:solidFill>
              </a:rPr>
              <a:t> las </a:t>
            </a:r>
            <a:r>
              <a:rPr lang="en-US" sz="2300" dirty="0" err="1">
                <a:solidFill>
                  <a:srgbClr val="000000"/>
                </a:solidFill>
              </a:rPr>
              <a:t>expectativas</a:t>
            </a:r>
            <a:r>
              <a:rPr lang="en-US" sz="2300" dirty="0">
                <a:solidFill>
                  <a:srgbClr val="000000"/>
                </a:solidFill>
              </a:rPr>
              <a:t>, </a:t>
            </a:r>
            <a:r>
              <a:rPr lang="en-US" sz="2300" dirty="0" err="1">
                <a:solidFill>
                  <a:srgbClr val="000000"/>
                </a:solidFill>
              </a:rPr>
              <a:t>reducir</a:t>
            </a:r>
            <a:r>
              <a:rPr lang="en-US" sz="2300" dirty="0">
                <a:solidFill>
                  <a:srgbClr val="000000"/>
                </a:solidFill>
              </a:rPr>
              <a:t> la </a:t>
            </a:r>
            <a:r>
              <a:rPr lang="en-US" sz="2300" dirty="0" err="1">
                <a:solidFill>
                  <a:srgbClr val="000000"/>
                </a:solidFill>
              </a:rPr>
              <a:t>incertidumbre</a:t>
            </a:r>
            <a:r>
              <a:rPr lang="en-US" sz="2300" dirty="0">
                <a:solidFill>
                  <a:srgbClr val="000000"/>
                </a:solidFill>
              </a:rPr>
              <a:t> y </a:t>
            </a:r>
            <a:r>
              <a:rPr lang="en-US" sz="2300" dirty="0" err="1">
                <a:solidFill>
                  <a:srgbClr val="000000"/>
                </a:solidFill>
              </a:rPr>
              <a:t>fomentar</a:t>
            </a:r>
            <a:r>
              <a:rPr lang="en-US" sz="2300" dirty="0">
                <a:solidFill>
                  <a:srgbClr val="000000"/>
                </a:solidFill>
              </a:rPr>
              <a:t> la </a:t>
            </a:r>
            <a:r>
              <a:rPr lang="en-US" sz="2300" dirty="0" err="1">
                <a:solidFill>
                  <a:srgbClr val="000000"/>
                </a:solidFill>
              </a:rPr>
              <a:t>participación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activa</a:t>
            </a:r>
            <a:r>
              <a:rPr lang="en-US" sz="2300" dirty="0">
                <a:solidFill>
                  <a:srgbClr val="000000"/>
                </a:solidFill>
              </a:rPr>
              <a:t>. Los </a:t>
            </a:r>
            <a:r>
              <a:rPr lang="en-US" sz="2300" dirty="0" err="1">
                <a:solidFill>
                  <a:srgbClr val="000000"/>
                </a:solidFill>
              </a:rPr>
              <a:t>empleados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necesitan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información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clara</a:t>
            </a:r>
            <a:r>
              <a:rPr lang="en-US" sz="2300" dirty="0">
                <a:solidFill>
                  <a:srgbClr val="000000"/>
                </a:solidFill>
              </a:rPr>
              <a:t> y </a:t>
            </a:r>
            <a:r>
              <a:rPr lang="en-US" sz="2300" dirty="0" err="1">
                <a:solidFill>
                  <a:srgbClr val="000000"/>
                </a:solidFill>
              </a:rPr>
              <a:t>constante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sobre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los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cambios</a:t>
            </a:r>
            <a:r>
              <a:rPr lang="en-US" sz="2300" dirty="0">
                <a:solidFill>
                  <a:srgbClr val="000000"/>
                </a:solidFill>
              </a:rPr>
              <a:t>, sus </a:t>
            </a:r>
            <a:r>
              <a:rPr lang="en-US" sz="2300" dirty="0" err="1">
                <a:solidFill>
                  <a:srgbClr val="000000"/>
                </a:solidFill>
              </a:rPr>
              <a:t>razones</a:t>
            </a:r>
            <a:r>
              <a:rPr lang="en-US" sz="2300" dirty="0">
                <a:solidFill>
                  <a:srgbClr val="000000"/>
                </a:solidFill>
              </a:rPr>
              <a:t>, </a:t>
            </a:r>
            <a:r>
              <a:rPr lang="en-US" sz="2300" dirty="0" err="1">
                <a:solidFill>
                  <a:srgbClr val="000000"/>
                </a:solidFill>
              </a:rPr>
              <a:t>cómo</a:t>
            </a:r>
            <a:r>
              <a:rPr lang="en-US" sz="2300" dirty="0">
                <a:solidFill>
                  <a:srgbClr val="000000"/>
                </a:solidFill>
              </a:rPr>
              <a:t> les </a:t>
            </a:r>
            <a:r>
              <a:rPr lang="en-US" sz="2300" dirty="0" err="1">
                <a:solidFill>
                  <a:srgbClr val="000000"/>
                </a:solidFill>
              </a:rPr>
              <a:t>afectará</a:t>
            </a:r>
            <a:r>
              <a:rPr lang="en-US" sz="2300" dirty="0">
                <a:solidFill>
                  <a:srgbClr val="000000"/>
                </a:solidFill>
              </a:rPr>
              <a:t> y </a:t>
            </a:r>
            <a:r>
              <a:rPr lang="en-US" sz="2300" dirty="0" err="1">
                <a:solidFill>
                  <a:srgbClr val="000000"/>
                </a:solidFill>
              </a:rPr>
              <a:t>cómo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pueden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contribuir</a:t>
            </a:r>
            <a:r>
              <a:rPr lang="en-US" sz="2300" dirty="0">
                <a:solidFill>
                  <a:srgbClr val="000000"/>
                </a:solidFill>
              </a:rPr>
              <a:t>.</a:t>
            </a:r>
            <a:endParaRPr sz="2300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</p:txBody>
      </p:sp>
      <p:pic>
        <p:nvPicPr>
          <p:cNvPr id="142" name="Google Shape;142;g30689113c39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60425" y="3690754"/>
            <a:ext cx="3875176" cy="2195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8F10BBA-30A3-204E-4F0A-9573CB7415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6890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g30689113c39_0_18"/>
          <p:cNvGrpSpPr/>
          <p:nvPr/>
        </p:nvGrpSpPr>
        <p:grpSpPr>
          <a:xfrm>
            <a:off x="1356728" y="8545495"/>
            <a:ext cx="15574467" cy="1502997"/>
            <a:chOff x="0" y="-47625"/>
            <a:chExt cx="2269338" cy="219000"/>
          </a:xfrm>
        </p:grpSpPr>
        <p:sp>
          <p:nvSpPr>
            <p:cNvPr id="148" name="Google Shape;148;g30689113c39_0_18"/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9" name="Google Shape;149;g30689113c39_0_18"/>
            <p:cNvSpPr txBox="1"/>
            <p:nvPr/>
          </p:nvSpPr>
          <p:spPr>
            <a:xfrm>
              <a:off x="0" y="-47625"/>
              <a:ext cx="22692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g30689113c39_0_18"/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6" name="Google Shape;156;g30689113c39_0_18"/>
          <p:cNvSpPr txBox="1"/>
          <p:nvPr/>
        </p:nvSpPr>
        <p:spPr>
          <a:xfrm>
            <a:off x="3219000" y="483150"/>
            <a:ext cx="92634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F46524"/>
                </a:solidFill>
                <a:latin typeface="Raleway"/>
                <a:ea typeface="Raleway"/>
                <a:cs typeface="Raleway"/>
                <a:sym typeface="Raleway"/>
              </a:rPr>
              <a:t>Características de la Gestión del Cambio en la Transformación Tecnológica (2)</a:t>
            </a:r>
            <a:endParaRPr sz="2700" b="1">
              <a:solidFill>
                <a:srgbClr val="F4652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7" name="Google Shape;157;g30689113c39_0_18"/>
          <p:cNvSpPr txBox="1"/>
          <p:nvPr/>
        </p:nvSpPr>
        <p:spPr>
          <a:xfrm>
            <a:off x="2436750" y="1920925"/>
            <a:ext cx="13414500" cy="6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000000"/>
                </a:solidFill>
              </a:rPr>
              <a:t>Cultura Organizativa Abierta al Cambio</a:t>
            </a:r>
            <a:endParaRPr sz="2300" b="1">
              <a:solidFill>
                <a:srgbClr val="000000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lang="en-US" sz="2300">
                <a:solidFill>
                  <a:srgbClr val="000000"/>
                </a:solidFill>
              </a:rPr>
              <a:t>Una organización debe fomentar una cultura que </a:t>
            </a:r>
            <a:r>
              <a:rPr lang="en-US" sz="2300" b="1">
                <a:solidFill>
                  <a:srgbClr val="000000"/>
                </a:solidFill>
              </a:rPr>
              <a:t>valore la innovación y la adaptación</a:t>
            </a:r>
            <a:r>
              <a:rPr lang="en-US" sz="2300">
                <a:solidFill>
                  <a:srgbClr val="000000"/>
                </a:solidFill>
              </a:rPr>
              <a:t>. Esto incluye una mentalidad flexible y un entorno en el que los empleados sientan que pueden aprender y mejorar continuamente.</a:t>
            </a:r>
            <a:endParaRPr sz="23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000000"/>
                </a:solidFill>
              </a:rPr>
              <a:t>Gestión de la Resistencia</a:t>
            </a:r>
            <a:endParaRPr sz="2300" b="1">
              <a:solidFill>
                <a:srgbClr val="000000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lang="en-US" sz="2300">
                <a:solidFill>
                  <a:srgbClr val="000000"/>
                </a:solidFill>
              </a:rPr>
              <a:t>La </a:t>
            </a:r>
            <a:r>
              <a:rPr lang="en-US" sz="2300" b="1">
                <a:solidFill>
                  <a:srgbClr val="000000"/>
                </a:solidFill>
              </a:rPr>
              <a:t>resistencia al cambio</a:t>
            </a:r>
            <a:r>
              <a:rPr lang="en-US" sz="2300">
                <a:solidFill>
                  <a:srgbClr val="000000"/>
                </a:solidFill>
              </a:rPr>
              <a:t> es natural, pero debe ser gestionada de manera proactiva. Esto implica entender las preocupaciones de los empleados y abordarlas a través de la capacitación, la comunicación y el apoyo.</a:t>
            </a:r>
            <a:endParaRPr sz="23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000000"/>
                </a:solidFill>
              </a:rPr>
              <a:t>Capacitación y Desarrollo de Habilidades</a:t>
            </a:r>
            <a:endParaRPr sz="2300" b="1">
              <a:solidFill>
                <a:srgbClr val="000000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lang="en-US" sz="2300">
                <a:solidFill>
                  <a:srgbClr val="000000"/>
                </a:solidFill>
              </a:rPr>
              <a:t>Para que la transformación tecnológica tenga éxito, los empleados deben </a:t>
            </a:r>
            <a:r>
              <a:rPr lang="en-US" sz="2300" b="1">
                <a:solidFill>
                  <a:srgbClr val="000000"/>
                </a:solidFill>
              </a:rPr>
              <a:t>adquirir nuevas habilidades</a:t>
            </a:r>
            <a:r>
              <a:rPr lang="en-US" sz="2300">
                <a:solidFill>
                  <a:srgbClr val="000000"/>
                </a:solidFill>
              </a:rPr>
              <a:t> y competencias. Programas de formación y desarrollo continuo son fundamentales para asegurar una transición fluida.</a:t>
            </a:r>
            <a:endParaRPr sz="230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300" b="1">
              <a:solidFill>
                <a:srgbClr val="000000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D97855B-5C82-A819-F4DD-C64B1BCC9B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2967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g30689113c39_0_30"/>
          <p:cNvGrpSpPr/>
          <p:nvPr/>
        </p:nvGrpSpPr>
        <p:grpSpPr>
          <a:xfrm>
            <a:off x="1356728" y="8545495"/>
            <a:ext cx="15574467" cy="1502997"/>
            <a:chOff x="0" y="-47625"/>
            <a:chExt cx="2269338" cy="219000"/>
          </a:xfrm>
        </p:grpSpPr>
        <p:sp>
          <p:nvSpPr>
            <p:cNvPr id="163" name="Google Shape;163;g30689113c39_0_30"/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4" name="Google Shape;164;g30689113c39_0_30"/>
            <p:cNvSpPr txBox="1"/>
            <p:nvPr/>
          </p:nvSpPr>
          <p:spPr>
            <a:xfrm>
              <a:off x="0" y="-47625"/>
              <a:ext cx="22692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g30689113c39_0_30"/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1" name="Google Shape;171;g30689113c39_0_30"/>
          <p:cNvSpPr txBox="1"/>
          <p:nvPr/>
        </p:nvSpPr>
        <p:spPr>
          <a:xfrm>
            <a:off x="3405750" y="670850"/>
            <a:ext cx="92946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F46524"/>
                </a:solidFill>
                <a:latin typeface="Raleway"/>
                <a:ea typeface="Raleway"/>
                <a:cs typeface="Raleway"/>
                <a:sym typeface="Raleway"/>
              </a:rPr>
              <a:t>Características de la Gestión del Cambio en la Transformación Tecnológica (3)</a:t>
            </a:r>
            <a:endParaRPr sz="2700" b="1">
              <a:solidFill>
                <a:srgbClr val="F4652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2" name="Google Shape;172;g30689113c39_0_30"/>
          <p:cNvSpPr txBox="1"/>
          <p:nvPr/>
        </p:nvSpPr>
        <p:spPr>
          <a:xfrm>
            <a:off x="2348550" y="2076750"/>
            <a:ext cx="12238800" cy="6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 dirty="0" err="1">
                <a:solidFill>
                  <a:srgbClr val="000000"/>
                </a:solidFill>
              </a:rPr>
              <a:t>Medición</a:t>
            </a:r>
            <a:r>
              <a:rPr lang="en-US" sz="2300" b="1" dirty="0">
                <a:solidFill>
                  <a:srgbClr val="000000"/>
                </a:solidFill>
              </a:rPr>
              <a:t> del Impacto y </a:t>
            </a:r>
            <a:r>
              <a:rPr lang="en-US" sz="2300" b="1" dirty="0" err="1">
                <a:solidFill>
                  <a:srgbClr val="000000"/>
                </a:solidFill>
              </a:rPr>
              <a:t>Ajustes</a:t>
            </a:r>
            <a:endParaRPr sz="2300" b="1" dirty="0">
              <a:solidFill>
                <a:srgbClr val="000000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lang="en-US" sz="2300" dirty="0">
                <a:solidFill>
                  <a:srgbClr val="000000"/>
                </a:solidFill>
              </a:rPr>
              <a:t>Es </a:t>
            </a:r>
            <a:r>
              <a:rPr lang="en-US" sz="2300" dirty="0" err="1">
                <a:solidFill>
                  <a:srgbClr val="000000"/>
                </a:solidFill>
              </a:rPr>
              <a:t>importante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definir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b="1" dirty="0" err="1">
                <a:solidFill>
                  <a:srgbClr val="000000"/>
                </a:solidFill>
              </a:rPr>
              <a:t>métricas</a:t>
            </a:r>
            <a:r>
              <a:rPr lang="en-US" sz="2300" b="1" dirty="0">
                <a:solidFill>
                  <a:srgbClr val="000000"/>
                </a:solidFill>
              </a:rPr>
              <a:t> </a:t>
            </a:r>
            <a:r>
              <a:rPr lang="en-US" sz="2300" b="1" dirty="0" err="1">
                <a:solidFill>
                  <a:srgbClr val="000000"/>
                </a:solidFill>
              </a:rPr>
              <a:t>claras</a:t>
            </a:r>
            <a:r>
              <a:rPr lang="en-US" sz="2300" dirty="0">
                <a:solidFill>
                  <a:srgbClr val="000000"/>
                </a:solidFill>
              </a:rPr>
              <a:t> para </a:t>
            </a:r>
            <a:r>
              <a:rPr lang="en-US" sz="2300" dirty="0" err="1">
                <a:solidFill>
                  <a:srgbClr val="000000"/>
                </a:solidFill>
              </a:rPr>
              <a:t>medir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el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progreso</a:t>
            </a:r>
            <a:r>
              <a:rPr lang="en-US" sz="2300" dirty="0">
                <a:solidFill>
                  <a:srgbClr val="000000"/>
                </a:solidFill>
              </a:rPr>
              <a:t> del </a:t>
            </a:r>
            <a:r>
              <a:rPr lang="en-US" sz="2300" dirty="0" err="1">
                <a:solidFill>
                  <a:srgbClr val="000000"/>
                </a:solidFill>
              </a:rPr>
              <a:t>cambio</a:t>
            </a:r>
            <a:r>
              <a:rPr lang="en-US" sz="2300" dirty="0">
                <a:solidFill>
                  <a:srgbClr val="000000"/>
                </a:solidFill>
              </a:rPr>
              <a:t> y </a:t>
            </a:r>
            <a:r>
              <a:rPr lang="en-US" sz="2300" dirty="0" err="1">
                <a:solidFill>
                  <a:srgbClr val="000000"/>
                </a:solidFill>
              </a:rPr>
              <a:t>el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impacto</a:t>
            </a:r>
            <a:r>
              <a:rPr lang="en-US" sz="2300" dirty="0">
                <a:solidFill>
                  <a:srgbClr val="000000"/>
                </a:solidFill>
              </a:rPr>
              <a:t> de la </a:t>
            </a:r>
            <a:r>
              <a:rPr lang="en-US" sz="2300" dirty="0" err="1">
                <a:solidFill>
                  <a:srgbClr val="000000"/>
                </a:solidFill>
              </a:rPr>
              <a:t>tecnología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adoptada</a:t>
            </a:r>
            <a:r>
              <a:rPr lang="en-US" sz="2300" dirty="0">
                <a:solidFill>
                  <a:srgbClr val="000000"/>
                </a:solidFill>
              </a:rPr>
              <a:t>. Esto </a:t>
            </a:r>
            <a:r>
              <a:rPr lang="en-US" sz="2300" dirty="0" err="1">
                <a:solidFill>
                  <a:srgbClr val="000000"/>
                </a:solidFill>
              </a:rPr>
              <a:t>ayuda</a:t>
            </a:r>
            <a:r>
              <a:rPr lang="en-US" sz="2300" dirty="0">
                <a:solidFill>
                  <a:srgbClr val="000000"/>
                </a:solidFill>
              </a:rPr>
              <a:t> a </a:t>
            </a:r>
            <a:r>
              <a:rPr lang="en-US" sz="2300" dirty="0" err="1">
                <a:solidFill>
                  <a:srgbClr val="000000"/>
                </a:solidFill>
              </a:rPr>
              <a:t>hacer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ajustes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en</a:t>
            </a:r>
            <a:r>
              <a:rPr lang="en-US" sz="2300" dirty="0">
                <a:solidFill>
                  <a:srgbClr val="000000"/>
                </a:solidFill>
              </a:rPr>
              <a:t> la </a:t>
            </a:r>
            <a:r>
              <a:rPr lang="en-US" sz="2300" dirty="0" err="1">
                <a:solidFill>
                  <a:srgbClr val="000000"/>
                </a:solidFill>
              </a:rPr>
              <a:t>estrategia</a:t>
            </a:r>
            <a:r>
              <a:rPr lang="en-US" sz="2300" dirty="0">
                <a:solidFill>
                  <a:srgbClr val="000000"/>
                </a:solidFill>
              </a:rPr>
              <a:t> a </a:t>
            </a:r>
            <a:r>
              <a:rPr lang="en-US" sz="2300" dirty="0" err="1">
                <a:solidFill>
                  <a:srgbClr val="000000"/>
                </a:solidFill>
              </a:rPr>
              <a:t>medida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que</a:t>
            </a:r>
            <a:r>
              <a:rPr lang="en-US" sz="2300" dirty="0">
                <a:solidFill>
                  <a:srgbClr val="000000"/>
                </a:solidFill>
              </a:rPr>
              <a:t> se </a:t>
            </a:r>
            <a:r>
              <a:rPr lang="en-US" sz="2300" dirty="0" err="1">
                <a:solidFill>
                  <a:srgbClr val="000000"/>
                </a:solidFill>
              </a:rPr>
              <a:t>desarrollan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nuevas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necesidades</a:t>
            </a:r>
            <a:r>
              <a:rPr lang="en-US" sz="2300" dirty="0">
                <a:solidFill>
                  <a:srgbClr val="000000"/>
                </a:solidFill>
              </a:rPr>
              <a:t> o </a:t>
            </a:r>
            <a:r>
              <a:rPr lang="en-US" sz="2300" dirty="0" err="1">
                <a:solidFill>
                  <a:srgbClr val="000000"/>
                </a:solidFill>
              </a:rPr>
              <a:t>desafíos</a:t>
            </a:r>
            <a:r>
              <a:rPr lang="en-US" sz="2300" dirty="0">
                <a:solidFill>
                  <a:srgbClr val="000000"/>
                </a:solidFill>
              </a:rPr>
              <a:t>.</a:t>
            </a:r>
            <a:endParaRPr sz="23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 dirty="0" err="1">
                <a:solidFill>
                  <a:srgbClr val="000000"/>
                </a:solidFill>
              </a:rPr>
              <a:t>Participación</a:t>
            </a:r>
            <a:r>
              <a:rPr lang="en-US" sz="2300" b="1" dirty="0">
                <a:solidFill>
                  <a:srgbClr val="000000"/>
                </a:solidFill>
              </a:rPr>
              <a:t> Activa de </a:t>
            </a:r>
            <a:r>
              <a:rPr lang="en-US" sz="2300" b="1" dirty="0" err="1">
                <a:solidFill>
                  <a:srgbClr val="000000"/>
                </a:solidFill>
              </a:rPr>
              <a:t>los</a:t>
            </a:r>
            <a:r>
              <a:rPr lang="en-US" sz="2300" b="1" dirty="0">
                <a:solidFill>
                  <a:srgbClr val="000000"/>
                </a:solidFill>
              </a:rPr>
              <a:t> </a:t>
            </a:r>
            <a:r>
              <a:rPr lang="en-US" sz="2300" b="1" dirty="0" err="1">
                <a:solidFill>
                  <a:srgbClr val="000000"/>
                </a:solidFill>
              </a:rPr>
              <a:t>Empleados</a:t>
            </a:r>
            <a:endParaRPr sz="2300" b="1" dirty="0">
              <a:solidFill>
                <a:srgbClr val="000000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lang="en-US" sz="2300" dirty="0" err="1">
                <a:solidFill>
                  <a:srgbClr val="000000"/>
                </a:solidFill>
              </a:rPr>
              <a:t>Involucrar</a:t>
            </a:r>
            <a:r>
              <a:rPr lang="en-US" sz="2300" dirty="0">
                <a:solidFill>
                  <a:srgbClr val="000000"/>
                </a:solidFill>
              </a:rPr>
              <a:t> a </a:t>
            </a:r>
            <a:r>
              <a:rPr lang="en-US" sz="2300" dirty="0" err="1">
                <a:solidFill>
                  <a:srgbClr val="000000"/>
                </a:solidFill>
              </a:rPr>
              <a:t>los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empleados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en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el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proceso</a:t>
            </a:r>
            <a:r>
              <a:rPr lang="en-US" sz="2300" dirty="0">
                <a:solidFill>
                  <a:srgbClr val="000000"/>
                </a:solidFill>
              </a:rPr>
              <a:t> de </a:t>
            </a:r>
            <a:r>
              <a:rPr lang="en-US" sz="2300" dirty="0" err="1">
                <a:solidFill>
                  <a:srgbClr val="000000"/>
                </a:solidFill>
              </a:rPr>
              <a:t>cambio</a:t>
            </a:r>
            <a:r>
              <a:rPr lang="en-US" sz="2300" dirty="0">
                <a:solidFill>
                  <a:srgbClr val="000000"/>
                </a:solidFill>
              </a:rPr>
              <a:t> es crucial. Esto </a:t>
            </a:r>
            <a:r>
              <a:rPr lang="en-US" sz="2300" dirty="0" err="1">
                <a:solidFill>
                  <a:srgbClr val="000000"/>
                </a:solidFill>
              </a:rPr>
              <a:t>puede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lograrse</a:t>
            </a:r>
            <a:r>
              <a:rPr lang="en-US" sz="2300" dirty="0">
                <a:solidFill>
                  <a:srgbClr val="000000"/>
                </a:solidFill>
              </a:rPr>
              <a:t> a </a:t>
            </a:r>
            <a:r>
              <a:rPr lang="en-US" sz="2300" dirty="0" err="1">
                <a:solidFill>
                  <a:srgbClr val="000000"/>
                </a:solidFill>
              </a:rPr>
              <a:t>través</a:t>
            </a:r>
            <a:r>
              <a:rPr lang="en-US" sz="2300" dirty="0">
                <a:solidFill>
                  <a:srgbClr val="000000"/>
                </a:solidFill>
              </a:rPr>
              <a:t> de </a:t>
            </a:r>
            <a:r>
              <a:rPr lang="en-US" sz="2300" dirty="0" err="1">
                <a:solidFill>
                  <a:srgbClr val="000000"/>
                </a:solidFill>
              </a:rPr>
              <a:t>encuestas</a:t>
            </a:r>
            <a:r>
              <a:rPr lang="en-US" sz="2300" dirty="0">
                <a:solidFill>
                  <a:srgbClr val="000000"/>
                </a:solidFill>
              </a:rPr>
              <a:t>, </a:t>
            </a:r>
            <a:r>
              <a:rPr lang="en-US" sz="2300" dirty="0" err="1">
                <a:solidFill>
                  <a:srgbClr val="000000"/>
                </a:solidFill>
              </a:rPr>
              <a:t>grupos</a:t>
            </a:r>
            <a:r>
              <a:rPr lang="en-US" sz="2300" dirty="0">
                <a:solidFill>
                  <a:srgbClr val="000000"/>
                </a:solidFill>
              </a:rPr>
              <a:t> de </a:t>
            </a:r>
            <a:r>
              <a:rPr lang="en-US" sz="2300" dirty="0" err="1">
                <a:solidFill>
                  <a:srgbClr val="000000"/>
                </a:solidFill>
              </a:rPr>
              <a:t>trabajo</a:t>
            </a:r>
            <a:r>
              <a:rPr lang="en-US" sz="2300" dirty="0">
                <a:solidFill>
                  <a:srgbClr val="000000"/>
                </a:solidFill>
              </a:rPr>
              <a:t> o </a:t>
            </a:r>
            <a:r>
              <a:rPr lang="en-US" sz="2300" dirty="0" err="1">
                <a:solidFill>
                  <a:srgbClr val="000000"/>
                </a:solidFill>
              </a:rPr>
              <a:t>comités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que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permitan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una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retroalimentación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activa</a:t>
            </a:r>
            <a:r>
              <a:rPr lang="en-US" sz="2300" dirty="0">
                <a:solidFill>
                  <a:srgbClr val="000000"/>
                </a:solidFill>
              </a:rPr>
              <a:t> y </a:t>
            </a:r>
            <a:r>
              <a:rPr lang="en-US" sz="2300" dirty="0" err="1">
                <a:solidFill>
                  <a:srgbClr val="000000"/>
                </a:solidFill>
              </a:rPr>
              <a:t>que</a:t>
            </a:r>
            <a:r>
              <a:rPr lang="en-US" sz="2300" dirty="0">
                <a:solidFill>
                  <a:srgbClr val="000000"/>
                </a:solidFill>
              </a:rPr>
              <a:t> les </a:t>
            </a:r>
            <a:r>
              <a:rPr lang="en-US" sz="2300" dirty="0" err="1">
                <a:solidFill>
                  <a:srgbClr val="000000"/>
                </a:solidFill>
              </a:rPr>
              <a:t>hagan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sentir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parte</a:t>
            </a:r>
            <a:r>
              <a:rPr lang="en-US" sz="2300" dirty="0">
                <a:solidFill>
                  <a:srgbClr val="000000"/>
                </a:solidFill>
              </a:rPr>
              <a:t> del </a:t>
            </a:r>
            <a:r>
              <a:rPr lang="en-US" sz="2300" dirty="0" err="1">
                <a:solidFill>
                  <a:srgbClr val="000000"/>
                </a:solidFill>
              </a:rPr>
              <a:t>proceso</a:t>
            </a:r>
            <a:r>
              <a:rPr lang="en-US" sz="2300" dirty="0">
                <a:solidFill>
                  <a:srgbClr val="000000"/>
                </a:solidFill>
              </a:rPr>
              <a:t> de </a:t>
            </a:r>
            <a:r>
              <a:rPr lang="en-US" sz="2300" dirty="0" err="1">
                <a:solidFill>
                  <a:srgbClr val="000000"/>
                </a:solidFill>
              </a:rPr>
              <a:t>transformación</a:t>
            </a:r>
            <a:r>
              <a:rPr lang="en-US" sz="2300" dirty="0">
                <a:solidFill>
                  <a:srgbClr val="000000"/>
                </a:solidFill>
              </a:rPr>
              <a:t>.</a:t>
            </a:r>
            <a:endParaRPr sz="23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 dirty="0" err="1">
                <a:solidFill>
                  <a:srgbClr val="000000"/>
                </a:solidFill>
              </a:rPr>
              <a:t>Adaptación</a:t>
            </a:r>
            <a:r>
              <a:rPr lang="en-US" sz="2300" b="1" dirty="0">
                <a:solidFill>
                  <a:srgbClr val="000000"/>
                </a:solidFill>
              </a:rPr>
              <a:t> Incremental</a:t>
            </a:r>
            <a:endParaRPr sz="2300" b="1" dirty="0">
              <a:solidFill>
                <a:srgbClr val="000000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lang="en-US" sz="2300" dirty="0">
                <a:solidFill>
                  <a:srgbClr val="000000"/>
                </a:solidFill>
              </a:rPr>
              <a:t>En </a:t>
            </a:r>
            <a:r>
              <a:rPr lang="en-US" sz="2300" dirty="0" err="1">
                <a:solidFill>
                  <a:srgbClr val="000000"/>
                </a:solidFill>
              </a:rPr>
              <a:t>lugar</a:t>
            </a:r>
            <a:r>
              <a:rPr lang="en-US" sz="2300" dirty="0">
                <a:solidFill>
                  <a:srgbClr val="000000"/>
                </a:solidFill>
              </a:rPr>
              <a:t> de </a:t>
            </a:r>
            <a:r>
              <a:rPr lang="en-US" sz="2300" dirty="0" err="1">
                <a:solidFill>
                  <a:srgbClr val="000000"/>
                </a:solidFill>
              </a:rPr>
              <a:t>implementar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cambios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drásticos</a:t>
            </a:r>
            <a:r>
              <a:rPr lang="en-US" sz="2300" dirty="0">
                <a:solidFill>
                  <a:srgbClr val="000000"/>
                </a:solidFill>
              </a:rPr>
              <a:t> de </a:t>
            </a:r>
            <a:r>
              <a:rPr lang="en-US" sz="2300" dirty="0" err="1">
                <a:solidFill>
                  <a:srgbClr val="000000"/>
                </a:solidFill>
              </a:rPr>
              <a:t>una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vez</a:t>
            </a:r>
            <a:r>
              <a:rPr lang="en-US" sz="2300" dirty="0">
                <a:solidFill>
                  <a:srgbClr val="000000"/>
                </a:solidFill>
              </a:rPr>
              <a:t>, </a:t>
            </a:r>
            <a:r>
              <a:rPr lang="en-US" sz="2300" dirty="0" err="1">
                <a:solidFill>
                  <a:srgbClr val="000000"/>
                </a:solidFill>
              </a:rPr>
              <a:t>muchas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organizaciones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optan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por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una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b="1" dirty="0" err="1">
                <a:solidFill>
                  <a:srgbClr val="000000"/>
                </a:solidFill>
              </a:rPr>
              <a:t>implementación</a:t>
            </a:r>
            <a:r>
              <a:rPr lang="en-US" sz="2300" b="1" dirty="0">
                <a:solidFill>
                  <a:srgbClr val="000000"/>
                </a:solidFill>
              </a:rPr>
              <a:t> gradual</a:t>
            </a:r>
            <a:r>
              <a:rPr lang="en-US" sz="2300" dirty="0">
                <a:solidFill>
                  <a:srgbClr val="000000"/>
                </a:solidFill>
              </a:rPr>
              <a:t>. Esto </a:t>
            </a:r>
            <a:r>
              <a:rPr lang="en-US" sz="2300" dirty="0" err="1">
                <a:solidFill>
                  <a:srgbClr val="000000"/>
                </a:solidFill>
              </a:rPr>
              <a:t>permite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ajustar</a:t>
            </a:r>
            <a:r>
              <a:rPr lang="en-US" sz="2300" dirty="0">
                <a:solidFill>
                  <a:srgbClr val="000000"/>
                </a:solidFill>
              </a:rPr>
              <a:t> las </a:t>
            </a:r>
            <a:r>
              <a:rPr lang="en-US" sz="2300" dirty="0" err="1">
                <a:solidFill>
                  <a:srgbClr val="000000"/>
                </a:solidFill>
              </a:rPr>
              <a:t>estrategias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sobre</a:t>
            </a:r>
            <a:r>
              <a:rPr lang="en-US" sz="2300" dirty="0">
                <a:solidFill>
                  <a:srgbClr val="000000"/>
                </a:solidFill>
              </a:rPr>
              <a:t> la </a:t>
            </a:r>
            <a:r>
              <a:rPr lang="en-US" sz="2300" dirty="0" err="1">
                <a:solidFill>
                  <a:srgbClr val="000000"/>
                </a:solidFill>
              </a:rPr>
              <a:t>marcha</a:t>
            </a:r>
            <a:r>
              <a:rPr lang="en-US" sz="2300" dirty="0">
                <a:solidFill>
                  <a:srgbClr val="000000"/>
                </a:solidFill>
              </a:rPr>
              <a:t> y </a:t>
            </a:r>
            <a:r>
              <a:rPr lang="en-US" sz="2300" dirty="0" err="1">
                <a:solidFill>
                  <a:srgbClr val="000000"/>
                </a:solidFill>
              </a:rPr>
              <a:t>facilita</a:t>
            </a:r>
            <a:r>
              <a:rPr lang="en-US" sz="2300" dirty="0">
                <a:solidFill>
                  <a:srgbClr val="000000"/>
                </a:solidFill>
              </a:rPr>
              <a:t> la </a:t>
            </a:r>
            <a:r>
              <a:rPr lang="en-US" sz="2300" dirty="0" err="1">
                <a:solidFill>
                  <a:srgbClr val="000000"/>
                </a:solidFill>
              </a:rPr>
              <a:t>adopción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por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parte</a:t>
            </a:r>
            <a:r>
              <a:rPr lang="en-US" sz="2300" dirty="0">
                <a:solidFill>
                  <a:srgbClr val="000000"/>
                </a:solidFill>
              </a:rPr>
              <a:t> de </a:t>
            </a:r>
            <a:r>
              <a:rPr lang="en-US" sz="2300" dirty="0" err="1">
                <a:solidFill>
                  <a:srgbClr val="000000"/>
                </a:solidFill>
              </a:rPr>
              <a:t>los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empleados</a:t>
            </a:r>
            <a:r>
              <a:rPr lang="en-US" sz="2300" dirty="0">
                <a:solidFill>
                  <a:srgbClr val="000000"/>
                </a:solidFill>
              </a:rPr>
              <a:t>.</a:t>
            </a:r>
            <a:endParaRPr sz="2300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</p:txBody>
      </p:sp>
      <p:pic>
        <p:nvPicPr>
          <p:cNvPr id="173" name="Google Shape;173;g30689113c39_0_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87350" y="3860904"/>
            <a:ext cx="3395850" cy="1910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52022E99-49A5-6292-C2C1-D52A5B4846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1239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g30689113c39_0_42"/>
          <p:cNvGrpSpPr/>
          <p:nvPr/>
        </p:nvGrpSpPr>
        <p:grpSpPr>
          <a:xfrm>
            <a:off x="1356728" y="8545495"/>
            <a:ext cx="15574467" cy="1502997"/>
            <a:chOff x="0" y="-47625"/>
            <a:chExt cx="2269338" cy="219000"/>
          </a:xfrm>
        </p:grpSpPr>
        <p:sp>
          <p:nvSpPr>
            <p:cNvPr id="179" name="Google Shape;179;g30689113c39_0_42"/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80" name="Google Shape;180;g30689113c39_0_42"/>
            <p:cNvSpPr txBox="1"/>
            <p:nvPr/>
          </p:nvSpPr>
          <p:spPr>
            <a:xfrm>
              <a:off x="0" y="-47625"/>
              <a:ext cx="22692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" name="Google Shape;186;g30689113c39_0_42"/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7" name="Google Shape;187;g30689113c39_0_42"/>
          <p:cNvSpPr txBox="1"/>
          <p:nvPr/>
        </p:nvSpPr>
        <p:spPr>
          <a:xfrm>
            <a:off x="2552650" y="783450"/>
            <a:ext cx="111045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F46524"/>
                </a:solidFill>
                <a:latin typeface="Raleway"/>
                <a:ea typeface="Raleway"/>
                <a:cs typeface="Raleway"/>
                <a:sym typeface="Raleway"/>
              </a:rPr>
              <a:t>Ejemplo de Gestión del Cambio en la Transformación Tecnológica</a:t>
            </a:r>
            <a:endParaRPr sz="2700" b="1">
              <a:solidFill>
                <a:srgbClr val="F4652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8" name="Google Shape;188;g30689113c39_0_42"/>
          <p:cNvSpPr txBox="1"/>
          <p:nvPr/>
        </p:nvSpPr>
        <p:spPr>
          <a:xfrm>
            <a:off x="2552650" y="1886025"/>
            <a:ext cx="13182600" cy="6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0000"/>
                </a:solidFill>
              </a:rPr>
              <a:t>Una </a:t>
            </a:r>
            <a:r>
              <a:rPr lang="en-US" sz="2200" dirty="0" err="1">
                <a:solidFill>
                  <a:srgbClr val="000000"/>
                </a:solidFill>
              </a:rPr>
              <a:t>empresa</a:t>
            </a:r>
            <a:r>
              <a:rPr lang="en-US" sz="2200" dirty="0">
                <a:solidFill>
                  <a:srgbClr val="000000"/>
                </a:solidFill>
              </a:rPr>
              <a:t> de </a:t>
            </a:r>
            <a:r>
              <a:rPr lang="en-US" sz="2200" dirty="0" err="1">
                <a:solidFill>
                  <a:srgbClr val="000000"/>
                </a:solidFill>
              </a:rPr>
              <a:t>manufactura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tradicional</a:t>
            </a:r>
            <a:r>
              <a:rPr lang="en-US" sz="2200" dirty="0">
                <a:solidFill>
                  <a:srgbClr val="000000"/>
                </a:solidFill>
              </a:rPr>
              <a:t> decide </a:t>
            </a:r>
            <a:r>
              <a:rPr lang="en-US" sz="2200" dirty="0" err="1">
                <a:solidFill>
                  <a:srgbClr val="000000"/>
                </a:solidFill>
              </a:rPr>
              <a:t>implementar</a:t>
            </a:r>
            <a:r>
              <a:rPr lang="en-US" sz="2200" dirty="0">
                <a:solidFill>
                  <a:srgbClr val="000000"/>
                </a:solidFill>
              </a:rPr>
              <a:t> un </a:t>
            </a:r>
            <a:r>
              <a:rPr lang="en-US" sz="2200" dirty="0" err="1">
                <a:solidFill>
                  <a:srgbClr val="000000"/>
                </a:solidFill>
              </a:rPr>
              <a:t>sistema</a:t>
            </a:r>
            <a:r>
              <a:rPr lang="en-US" sz="2200" dirty="0">
                <a:solidFill>
                  <a:srgbClr val="000000"/>
                </a:solidFill>
              </a:rPr>
              <a:t> de </a:t>
            </a:r>
            <a:r>
              <a:rPr lang="en-US" sz="2200" dirty="0" err="1">
                <a:solidFill>
                  <a:srgbClr val="000000"/>
                </a:solidFill>
              </a:rPr>
              <a:t>gestión</a:t>
            </a:r>
            <a:r>
              <a:rPr lang="en-US" sz="2200" dirty="0">
                <a:solidFill>
                  <a:srgbClr val="000000"/>
                </a:solidFill>
              </a:rPr>
              <a:t> integral </a:t>
            </a:r>
            <a:r>
              <a:rPr lang="en-US" sz="2200" dirty="0" err="1">
                <a:solidFill>
                  <a:srgbClr val="000000"/>
                </a:solidFill>
              </a:rPr>
              <a:t>basado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en</a:t>
            </a:r>
            <a:r>
              <a:rPr lang="en-US" sz="2200" dirty="0">
                <a:solidFill>
                  <a:srgbClr val="000000"/>
                </a:solidFill>
              </a:rPr>
              <a:t> IoT (Internet of Things) y </a:t>
            </a:r>
            <a:r>
              <a:rPr lang="en-US" sz="2200" dirty="0" err="1">
                <a:solidFill>
                  <a:srgbClr val="000000"/>
                </a:solidFill>
              </a:rPr>
              <a:t>automatización</a:t>
            </a:r>
            <a:r>
              <a:rPr lang="en-US" sz="2200" dirty="0">
                <a:solidFill>
                  <a:srgbClr val="000000"/>
                </a:solidFill>
              </a:rPr>
              <a:t> para </a:t>
            </a:r>
            <a:r>
              <a:rPr lang="en-US" sz="2200" dirty="0" err="1">
                <a:solidFill>
                  <a:srgbClr val="000000"/>
                </a:solidFill>
              </a:rPr>
              <a:t>optimizar</a:t>
            </a:r>
            <a:r>
              <a:rPr lang="en-US" sz="2200" dirty="0">
                <a:solidFill>
                  <a:srgbClr val="000000"/>
                </a:solidFill>
              </a:rPr>
              <a:t> la </a:t>
            </a:r>
            <a:r>
              <a:rPr lang="en-US" sz="2200" dirty="0" err="1">
                <a:solidFill>
                  <a:srgbClr val="000000"/>
                </a:solidFill>
              </a:rPr>
              <a:t>producción</a:t>
            </a:r>
            <a:r>
              <a:rPr lang="en-US" sz="2200" dirty="0">
                <a:solidFill>
                  <a:srgbClr val="000000"/>
                </a:solidFill>
              </a:rPr>
              <a:t> y </a:t>
            </a:r>
            <a:r>
              <a:rPr lang="en-US" sz="2200" dirty="0" err="1">
                <a:solidFill>
                  <a:srgbClr val="000000"/>
                </a:solidFill>
              </a:rPr>
              <a:t>mejorar</a:t>
            </a:r>
            <a:r>
              <a:rPr lang="en-US" sz="2200" dirty="0">
                <a:solidFill>
                  <a:srgbClr val="000000"/>
                </a:solidFill>
              </a:rPr>
              <a:t> la </a:t>
            </a:r>
            <a:r>
              <a:rPr lang="en-US" sz="2200" dirty="0" err="1">
                <a:solidFill>
                  <a:srgbClr val="000000"/>
                </a:solidFill>
              </a:rPr>
              <a:t>eficiencia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operativa</a:t>
            </a:r>
            <a:r>
              <a:rPr lang="en-US" sz="2200" dirty="0">
                <a:solidFill>
                  <a:srgbClr val="000000"/>
                </a:solidFill>
              </a:rPr>
              <a:t>. Este </a:t>
            </a:r>
            <a:r>
              <a:rPr lang="en-US" sz="2200" dirty="0" err="1">
                <a:solidFill>
                  <a:srgbClr val="000000"/>
                </a:solidFill>
              </a:rPr>
              <a:t>sistema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digitaliza</a:t>
            </a:r>
            <a:r>
              <a:rPr lang="en-US" sz="2200" dirty="0">
                <a:solidFill>
                  <a:srgbClr val="000000"/>
                </a:solidFill>
              </a:rPr>
              <a:t> gran </a:t>
            </a:r>
            <a:r>
              <a:rPr lang="en-US" sz="2200" dirty="0" err="1">
                <a:solidFill>
                  <a:srgbClr val="000000"/>
                </a:solidFill>
              </a:rPr>
              <a:t>parte</a:t>
            </a:r>
            <a:r>
              <a:rPr lang="en-US" sz="2200" dirty="0">
                <a:solidFill>
                  <a:srgbClr val="000000"/>
                </a:solidFill>
              </a:rPr>
              <a:t> del </a:t>
            </a:r>
            <a:r>
              <a:rPr lang="en-US" sz="2200" dirty="0" err="1">
                <a:solidFill>
                  <a:srgbClr val="000000"/>
                </a:solidFill>
              </a:rPr>
              <a:t>proceso</a:t>
            </a:r>
            <a:r>
              <a:rPr lang="en-US" sz="2200" dirty="0">
                <a:solidFill>
                  <a:srgbClr val="000000"/>
                </a:solidFill>
              </a:rPr>
              <a:t> de </a:t>
            </a:r>
            <a:r>
              <a:rPr lang="en-US" sz="2200" dirty="0" err="1">
                <a:solidFill>
                  <a:srgbClr val="000000"/>
                </a:solidFill>
              </a:rPr>
              <a:t>fabricación</a:t>
            </a:r>
            <a:r>
              <a:rPr lang="en-US" sz="2200" dirty="0">
                <a:solidFill>
                  <a:srgbClr val="000000"/>
                </a:solidFill>
              </a:rPr>
              <a:t>, </a:t>
            </a:r>
            <a:r>
              <a:rPr lang="en-US" sz="2200" dirty="0" err="1">
                <a:solidFill>
                  <a:srgbClr val="000000"/>
                </a:solidFill>
              </a:rPr>
              <a:t>integrando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maquinaria</a:t>
            </a:r>
            <a:r>
              <a:rPr lang="en-US" sz="2200" dirty="0">
                <a:solidFill>
                  <a:srgbClr val="000000"/>
                </a:solidFill>
              </a:rPr>
              <a:t>, </a:t>
            </a:r>
            <a:r>
              <a:rPr lang="en-US" sz="2200" dirty="0" err="1">
                <a:solidFill>
                  <a:srgbClr val="000000"/>
                </a:solidFill>
              </a:rPr>
              <a:t>inventario</a:t>
            </a:r>
            <a:r>
              <a:rPr lang="en-US" sz="2200" dirty="0">
                <a:solidFill>
                  <a:srgbClr val="000000"/>
                </a:solidFill>
              </a:rPr>
              <a:t> y </a:t>
            </a:r>
            <a:r>
              <a:rPr lang="en-US" sz="2200" dirty="0" err="1">
                <a:solidFill>
                  <a:srgbClr val="000000"/>
                </a:solidFill>
              </a:rPr>
              <a:t>análisis</a:t>
            </a:r>
            <a:r>
              <a:rPr lang="en-US" sz="2200" dirty="0">
                <a:solidFill>
                  <a:srgbClr val="000000"/>
                </a:solidFill>
              </a:rPr>
              <a:t> de </a:t>
            </a:r>
            <a:r>
              <a:rPr lang="en-US" sz="2200" dirty="0" err="1">
                <a:solidFill>
                  <a:srgbClr val="000000"/>
                </a:solidFill>
              </a:rPr>
              <a:t>datos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en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tiempo</a:t>
            </a:r>
            <a:r>
              <a:rPr lang="en-US" sz="2200" dirty="0">
                <a:solidFill>
                  <a:srgbClr val="000000"/>
                </a:solidFill>
              </a:rPr>
              <a:t> real.</a:t>
            </a:r>
            <a:endParaRPr sz="22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 err="1">
                <a:solidFill>
                  <a:srgbClr val="000000"/>
                </a:solidFill>
              </a:rPr>
              <a:t>Gestión</a:t>
            </a:r>
            <a:r>
              <a:rPr lang="en-US" sz="2200" b="1" dirty="0">
                <a:solidFill>
                  <a:srgbClr val="000000"/>
                </a:solidFill>
              </a:rPr>
              <a:t> del Cambio:</a:t>
            </a:r>
            <a:endParaRPr sz="2200" b="1" dirty="0">
              <a:solidFill>
                <a:srgbClr val="000000"/>
              </a:solidFill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AutoNum type="arabicPeriod"/>
            </a:pPr>
            <a:r>
              <a:rPr lang="en-US" sz="2200" b="1" dirty="0">
                <a:solidFill>
                  <a:srgbClr val="000000"/>
                </a:solidFill>
              </a:rPr>
              <a:t>Visión </a:t>
            </a:r>
            <a:r>
              <a:rPr lang="en-US" sz="2200" b="1" dirty="0" err="1">
                <a:solidFill>
                  <a:srgbClr val="000000"/>
                </a:solidFill>
              </a:rPr>
              <a:t>Estratégica</a:t>
            </a:r>
            <a:r>
              <a:rPr lang="en-US" sz="2200" dirty="0">
                <a:solidFill>
                  <a:srgbClr val="000000"/>
                </a:solidFill>
              </a:rPr>
              <a:t>: La </a:t>
            </a:r>
            <a:r>
              <a:rPr lang="en-US" sz="2200" dirty="0" err="1">
                <a:solidFill>
                  <a:srgbClr val="000000"/>
                </a:solidFill>
              </a:rPr>
              <a:t>alta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dirección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comunica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que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el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objetivo</a:t>
            </a:r>
            <a:r>
              <a:rPr lang="en-US" sz="2200" dirty="0">
                <a:solidFill>
                  <a:srgbClr val="000000"/>
                </a:solidFill>
              </a:rPr>
              <a:t> es </a:t>
            </a:r>
            <a:r>
              <a:rPr lang="en-US" sz="2200" b="1" dirty="0" err="1">
                <a:solidFill>
                  <a:srgbClr val="000000"/>
                </a:solidFill>
              </a:rPr>
              <a:t>optimizar</a:t>
            </a:r>
            <a:r>
              <a:rPr lang="en-US" sz="2200" b="1" dirty="0">
                <a:solidFill>
                  <a:srgbClr val="000000"/>
                </a:solidFill>
              </a:rPr>
              <a:t> la </a:t>
            </a:r>
            <a:r>
              <a:rPr lang="en-US" sz="2200" b="1" dirty="0" err="1">
                <a:solidFill>
                  <a:srgbClr val="000000"/>
                </a:solidFill>
              </a:rPr>
              <a:t>producción</a:t>
            </a:r>
            <a:r>
              <a:rPr lang="en-US" sz="2200" b="1" dirty="0">
                <a:solidFill>
                  <a:srgbClr val="000000"/>
                </a:solidFill>
              </a:rPr>
              <a:t> </a:t>
            </a:r>
            <a:r>
              <a:rPr lang="en-US" sz="2200" b="1" dirty="0" err="1">
                <a:solidFill>
                  <a:srgbClr val="000000"/>
                </a:solidFill>
              </a:rPr>
              <a:t>en</a:t>
            </a:r>
            <a:r>
              <a:rPr lang="en-US" sz="2200" b="1" dirty="0">
                <a:solidFill>
                  <a:srgbClr val="000000"/>
                </a:solidFill>
              </a:rPr>
              <a:t> un 20%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en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los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próximos</a:t>
            </a:r>
            <a:r>
              <a:rPr lang="en-US" sz="2200" dirty="0">
                <a:solidFill>
                  <a:srgbClr val="000000"/>
                </a:solidFill>
              </a:rPr>
              <a:t> dos </a:t>
            </a:r>
            <a:r>
              <a:rPr lang="en-US" sz="2200" dirty="0" err="1">
                <a:solidFill>
                  <a:srgbClr val="000000"/>
                </a:solidFill>
              </a:rPr>
              <a:t>años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mediante</a:t>
            </a:r>
            <a:r>
              <a:rPr lang="en-US" sz="2200" dirty="0">
                <a:solidFill>
                  <a:srgbClr val="000000"/>
                </a:solidFill>
              </a:rPr>
              <a:t> la </a:t>
            </a:r>
            <a:r>
              <a:rPr lang="en-US" sz="2200" dirty="0" err="1">
                <a:solidFill>
                  <a:srgbClr val="000000"/>
                </a:solidFill>
              </a:rPr>
              <a:t>automatización</a:t>
            </a:r>
            <a:r>
              <a:rPr lang="en-US" sz="2200" dirty="0">
                <a:solidFill>
                  <a:srgbClr val="000000"/>
                </a:solidFill>
              </a:rPr>
              <a:t> y la </a:t>
            </a:r>
            <a:r>
              <a:rPr lang="en-US" sz="2200" dirty="0" err="1">
                <a:solidFill>
                  <a:srgbClr val="000000"/>
                </a:solidFill>
              </a:rPr>
              <a:t>digitalización</a:t>
            </a:r>
            <a:r>
              <a:rPr lang="en-US" sz="2200" dirty="0">
                <a:solidFill>
                  <a:srgbClr val="000000"/>
                </a:solidFill>
              </a:rPr>
              <a:t>. Se </a:t>
            </a:r>
            <a:r>
              <a:rPr lang="en-US" sz="2200" dirty="0" err="1">
                <a:solidFill>
                  <a:srgbClr val="000000"/>
                </a:solidFill>
              </a:rPr>
              <a:t>enfatiza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que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este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cambio</a:t>
            </a:r>
            <a:r>
              <a:rPr lang="en-US" sz="2200" dirty="0">
                <a:solidFill>
                  <a:srgbClr val="000000"/>
                </a:solidFill>
              </a:rPr>
              <a:t> es </a:t>
            </a:r>
            <a:r>
              <a:rPr lang="en-US" sz="2200" dirty="0" err="1">
                <a:solidFill>
                  <a:srgbClr val="000000"/>
                </a:solidFill>
              </a:rPr>
              <a:t>necesario</a:t>
            </a:r>
            <a:r>
              <a:rPr lang="en-US" sz="2200" dirty="0">
                <a:solidFill>
                  <a:srgbClr val="000000"/>
                </a:solidFill>
              </a:rPr>
              <a:t> para </a:t>
            </a:r>
            <a:r>
              <a:rPr lang="en-US" sz="2200" dirty="0" err="1">
                <a:solidFill>
                  <a:srgbClr val="000000"/>
                </a:solidFill>
              </a:rPr>
              <a:t>mantener</a:t>
            </a:r>
            <a:r>
              <a:rPr lang="en-US" sz="2200" dirty="0">
                <a:solidFill>
                  <a:srgbClr val="000000"/>
                </a:solidFill>
              </a:rPr>
              <a:t> la </a:t>
            </a:r>
            <a:r>
              <a:rPr lang="en-US" sz="2200" dirty="0" err="1">
                <a:solidFill>
                  <a:srgbClr val="000000"/>
                </a:solidFill>
              </a:rPr>
              <a:t>competitividad</a:t>
            </a:r>
            <a:r>
              <a:rPr lang="en-US" sz="2200" dirty="0">
                <a:solidFill>
                  <a:srgbClr val="000000"/>
                </a:solidFill>
              </a:rPr>
              <a:t> global y </a:t>
            </a:r>
            <a:r>
              <a:rPr lang="en-US" sz="2200" dirty="0" err="1">
                <a:solidFill>
                  <a:srgbClr val="000000"/>
                </a:solidFill>
              </a:rPr>
              <a:t>mejorar</a:t>
            </a:r>
            <a:r>
              <a:rPr lang="en-US" sz="2200" dirty="0">
                <a:solidFill>
                  <a:srgbClr val="000000"/>
                </a:solidFill>
              </a:rPr>
              <a:t> la </a:t>
            </a:r>
            <a:r>
              <a:rPr lang="en-US" sz="2200" dirty="0" err="1">
                <a:solidFill>
                  <a:srgbClr val="000000"/>
                </a:solidFill>
              </a:rPr>
              <a:t>calidad</a:t>
            </a:r>
            <a:r>
              <a:rPr lang="en-US" sz="2200" dirty="0">
                <a:solidFill>
                  <a:srgbClr val="000000"/>
                </a:solidFill>
              </a:rPr>
              <a:t> del </a:t>
            </a:r>
            <a:r>
              <a:rPr lang="en-US" sz="2200" dirty="0" err="1">
                <a:solidFill>
                  <a:srgbClr val="000000"/>
                </a:solidFill>
              </a:rPr>
              <a:t>producto</a:t>
            </a:r>
            <a:r>
              <a:rPr lang="en-US" sz="2200" dirty="0">
                <a:solidFill>
                  <a:srgbClr val="000000"/>
                </a:solidFill>
              </a:rPr>
              <a:t>.</a:t>
            </a:r>
            <a:endParaRPr sz="2200" dirty="0">
              <a:solidFill>
                <a:srgbClr val="000000"/>
              </a:solidFill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AutoNum type="arabicPeriod"/>
            </a:pPr>
            <a:r>
              <a:rPr lang="en-US" sz="2200" b="1" dirty="0" err="1">
                <a:solidFill>
                  <a:srgbClr val="000000"/>
                </a:solidFill>
              </a:rPr>
              <a:t>Liderazgo</a:t>
            </a:r>
            <a:r>
              <a:rPr lang="en-US" sz="2200" b="1" dirty="0">
                <a:solidFill>
                  <a:srgbClr val="000000"/>
                </a:solidFill>
              </a:rPr>
              <a:t> </a:t>
            </a:r>
            <a:r>
              <a:rPr lang="en-US" sz="2200" b="1" dirty="0" err="1">
                <a:solidFill>
                  <a:srgbClr val="000000"/>
                </a:solidFill>
              </a:rPr>
              <a:t>Activo</a:t>
            </a:r>
            <a:r>
              <a:rPr lang="en-US" sz="2200" dirty="0">
                <a:solidFill>
                  <a:srgbClr val="000000"/>
                </a:solidFill>
              </a:rPr>
              <a:t>: El CEO y </a:t>
            </a:r>
            <a:r>
              <a:rPr lang="en-US" sz="2200" dirty="0" err="1">
                <a:solidFill>
                  <a:srgbClr val="000000"/>
                </a:solidFill>
              </a:rPr>
              <a:t>el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equipo</a:t>
            </a:r>
            <a:r>
              <a:rPr lang="en-US" sz="2200" dirty="0">
                <a:solidFill>
                  <a:srgbClr val="000000"/>
                </a:solidFill>
              </a:rPr>
              <a:t> de </a:t>
            </a:r>
            <a:r>
              <a:rPr lang="en-US" sz="2200" dirty="0" err="1">
                <a:solidFill>
                  <a:srgbClr val="000000"/>
                </a:solidFill>
              </a:rPr>
              <a:t>liderazgo</a:t>
            </a:r>
            <a:r>
              <a:rPr lang="en-US" sz="2200" dirty="0">
                <a:solidFill>
                  <a:srgbClr val="000000"/>
                </a:solidFill>
              </a:rPr>
              <a:t> son </a:t>
            </a:r>
            <a:r>
              <a:rPr lang="en-US" sz="2200" dirty="0" err="1">
                <a:solidFill>
                  <a:srgbClr val="000000"/>
                </a:solidFill>
              </a:rPr>
              <a:t>los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primeros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en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participar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en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talleres</a:t>
            </a:r>
            <a:r>
              <a:rPr lang="en-US" sz="2200" dirty="0">
                <a:solidFill>
                  <a:srgbClr val="000000"/>
                </a:solidFill>
              </a:rPr>
              <a:t> y </a:t>
            </a:r>
            <a:r>
              <a:rPr lang="en-US" sz="2200" dirty="0" err="1">
                <a:solidFill>
                  <a:srgbClr val="000000"/>
                </a:solidFill>
              </a:rPr>
              <a:t>capacitaciones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sobre</a:t>
            </a:r>
            <a:r>
              <a:rPr lang="en-US" sz="2200" dirty="0">
                <a:solidFill>
                  <a:srgbClr val="000000"/>
                </a:solidFill>
              </a:rPr>
              <a:t> las </a:t>
            </a:r>
            <a:r>
              <a:rPr lang="en-US" sz="2200" dirty="0" err="1">
                <a:solidFill>
                  <a:srgbClr val="000000"/>
                </a:solidFill>
              </a:rPr>
              <a:t>nuevas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tecnologías</a:t>
            </a:r>
            <a:r>
              <a:rPr lang="en-US" sz="2200" dirty="0">
                <a:solidFill>
                  <a:srgbClr val="000000"/>
                </a:solidFill>
              </a:rPr>
              <a:t>, y </a:t>
            </a:r>
            <a:r>
              <a:rPr lang="en-US" sz="2200" dirty="0" err="1">
                <a:solidFill>
                  <a:srgbClr val="000000"/>
                </a:solidFill>
              </a:rPr>
              <a:t>establecen</a:t>
            </a:r>
            <a:r>
              <a:rPr lang="en-US" sz="2200" dirty="0">
                <a:solidFill>
                  <a:srgbClr val="000000"/>
                </a:solidFill>
              </a:rPr>
              <a:t> canales de </a:t>
            </a:r>
            <a:r>
              <a:rPr lang="en-US" sz="2200" dirty="0" err="1">
                <a:solidFill>
                  <a:srgbClr val="000000"/>
                </a:solidFill>
              </a:rPr>
              <a:t>comunicación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abiertos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donde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los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empleados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pueden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plantear</a:t>
            </a:r>
            <a:r>
              <a:rPr lang="en-US" sz="2200" dirty="0">
                <a:solidFill>
                  <a:srgbClr val="000000"/>
                </a:solidFill>
              </a:rPr>
              <a:t> sus </a:t>
            </a:r>
            <a:r>
              <a:rPr lang="en-US" sz="2200" dirty="0" err="1">
                <a:solidFill>
                  <a:srgbClr val="000000"/>
                </a:solidFill>
              </a:rPr>
              <a:t>preocupaciones</a:t>
            </a:r>
            <a:r>
              <a:rPr lang="en-US" sz="2200" dirty="0">
                <a:solidFill>
                  <a:srgbClr val="000000"/>
                </a:solidFill>
              </a:rPr>
              <a:t>.</a:t>
            </a:r>
            <a:endParaRPr sz="2200" dirty="0">
              <a:solidFill>
                <a:srgbClr val="000000"/>
              </a:solidFill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AutoNum type="arabicPeriod"/>
            </a:pPr>
            <a:r>
              <a:rPr lang="en-US" sz="2200" b="1" dirty="0" err="1">
                <a:solidFill>
                  <a:srgbClr val="000000"/>
                </a:solidFill>
              </a:rPr>
              <a:t>Comunicación</a:t>
            </a:r>
            <a:r>
              <a:rPr lang="en-US" sz="2200" dirty="0">
                <a:solidFill>
                  <a:srgbClr val="000000"/>
                </a:solidFill>
              </a:rPr>
              <a:t>: Se </a:t>
            </a:r>
            <a:r>
              <a:rPr lang="en-US" sz="2200" dirty="0" err="1">
                <a:solidFill>
                  <a:srgbClr val="000000"/>
                </a:solidFill>
              </a:rPr>
              <a:t>lanza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una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campaña</a:t>
            </a:r>
            <a:r>
              <a:rPr lang="en-US" sz="2200" dirty="0">
                <a:solidFill>
                  <a:srgbClr val="000000"/>
                </a:solidFill>
              </a:rPr>
              <a:t> interna </a:t>
            </a:r>
            <a:r>
              <a:rPr lang="en-US" sz="2200" dirty="0" err="1">
                <a:solidFill>
                  <a:srgbClr val="000000"/>
                </a:solidFill>
              </a:rPr>
              <a:t>que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explica</a:t>
            </a:r>
            <a:r>
              <a:rPr lang="en-US" sz="2200" dirty="0">
                <a:solidFill>
                  <a:srgbClr val="000000"/>
                </a:solidFill>
              </a:rPr>
              <a:t> la </a:t>
            </a:r>
            <a:r>
              <a:rPr lang="en-US" sz="2200" dirty="0" err="1">
                <a:solidFill>
                  <a:srgbClr val="000000"/>
                </a:solidFill>
              </a:rPr>
              <a:t>necesidad</a:t>
            </a:r>
            <a:r>
              <a:rPr lang="en-US" sz="2200" dirty="0">
                <a:solidFill>
                  <a:srgbClr val="000000"/>
                </a:solidFill>
              </a:rPr>
              <a:t> del </a:t>
            </a:r>
            <a:r>
              <a:rPr lang="en-US" sz="2200" dirty="0" err="1">
                <a:solidFill>
                  <a:srgbClr val="000000"/>
                </a:solidFill>
              </a:rPr>
              <a:t>cambio</a:t>
            </a:r>
            <a:r>
              <a:rPr lang="en-US" sz="2200" dirty="0">
                <a:solidFill>
                  <a:srgbClr val="000000"/>
                </a:solidFill>
              </a:rPr>
              <a:t>. Se </a:t>
            </a:r>
            <a:r>
              <a:rPr lang="en-US" sz="2200" dirty="0" err="1">
                <a:solidFill>
                  <a:srgbClr val="000000"/>
                </a:solidFill>
              </a:rPr>
              <a:t>organizan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reuniones</a:t>
            </a:r>
            <a:r>
              <a:rPr lang="en-US" sz="2200" dirty="0">
                <a:solidFill>
                  <a:srgbClr val="000000"/>
                </a:solidFill>
              </a:rPr>
              <a:t> y se </a:t>
            </a:r>
            <a:r>
              <a:rPr lang="en-US" sz="2200" dirty="0" err="1">
                <a:solidFill>
                  <a:srgbClr val="000000"/>
                </a:solidFill>
              </a:rPr>
              <a:t>envían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boletines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mensuales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que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detallan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los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avances</a:t>
            </a:r>
            <a:r>
              <a:rPr lang="en-US" sz="2200" dirty="0">
                <a:solidFill>
                  <a:srgbClr val="000000"/>
                </a:solidFill>
              </a:rPr>
              <a:t>, </a:t>
            </a:r>
            <a:r>
              <a:rPr lang="en-US" sz="2200" dirty="0" err="1">
                <a:solidFill>
                  <a:srgbClr val="000000"/>
                </a:solidFill>
              </a:rPr>
              <a:t>beneficios</a:t>
            </a:r>
            <a:r>
              <a:rPr lang="en-US" sz="2200" dirty="0">
                <a:solidFill>
                  <a:srgbClr val="000000"/>
                </a:solidFill>
              </a:rPr>
              <a:t> y </a:t>
            </a:r>
            <a:r>
              <a:rPr lang="en-US" sz="2200" dirty="0" err="1">
                <a:solidFill>
                  <a:srgbClr val="000000"/>
                </a:solidFill>
              </a:rPr>
              <a:t>cómo</a:t>
            </a:r>
            <a:r>
              <a:rPr lang="en-US" sz="2200" dirty="0">
                <a:solidFill>
                  <a:srgbClr val="000000"/>
                </a:solidFill>
              </a:rPr>
              <a:t> se </a:t>
            </a:r>
            <a:r>
              <a:rPr lang="en-US" sz="2200" dirty="0" err="1">
                <a:solidFill>
                  <a:srgbClr val="000000"/>
                </a:solidFill>
              </a:rPr>
              <a:t>implementarán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los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cambios</a:t>
            </a:r>
            <a:r>
              <a:rPr lang="en-US" sz="2200" dirty="0">
                <a:solidFill>
                  <a:srgbClr val="000000"/>
                </a:solidFill>
              </a:rPr>
              <a:t>. Se </a:t>
            </a:r>
            <a:r>
              <a:rPr lang="en-US" sz="2200" dirty="0" err="1">
                <a:solidFill>
                  <a:srgbClr val="000000"/>
                </a:solidFill>
              </a:rPr>
              <a:t>enfatiza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que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el</a:t>
            </a:r>
            <a:r>
              <a:rPr lang="en-US" sz="2200" dirty="0">
                <a:solidFill>
                  <a:srgbClr val="000000"/>
                </a:solidFill>
              </a:rPr>
              <a:t> nuevo </a:t>
            </a:r>
            <a:r>
              <a:rPr lang="en-US" sz="2200" dirty="0" err="1">
                <a:solidFill>
                  <a:srgbClr val="000000"/>
                </a:solidFill>
              </a:rPr>
              <a:t>sistema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reducirá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errores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humanos</a:t>
            </a:r>
            <a:r>
              <a:rPr lang="en-US" sz="2200" dirty="0">
                <a:solidFill>
                  <a:srgbClr val="000000"/>
                </a:solidFill>
              </a:rPr>
              <a:t> y </a:t>
            </a:r>
            <a:r>
              <a:rPr lang="en-US" sz="2200" dirty="0" err="1">
                <a:solidFill>
                  <a:srgbClr val="000000"/>
                </a:solidFill>
              </a:rPr>
              <a:t>aumentará</a:t>
            </a:r>
            <a:r>
              <a:rPr lang="en-US" sz="2200" dirty="0">
                <a:solidFill>
                  <a:srgbClr val="000000"/>
                </a:solidFill>
              </a:rPr>
              <a:t> la </a:t>
            </a:r>
            <a:r>
              <a:rPr lang="en-US" sz="2200" dirty="0" err="1">
                <a:solidFill>
                  <a:srgbClr val="000000"/>
                </a:solidFill>
              </a:rPr>
              <a:t>productividad</a:t>
            </a:r>
            <a:r>
              <a:rPr lang="en-US" sz="2200" dirty="0">
                <a:solidFill>
                  <a:srgbClr val="000000"/>
                </a:solidFill>
              </a:rPr>
              <a:t>.</a:t>
            </a:r>
            <a:endParaRPr sz="22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200" b="1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200" b="1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200" dirty="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200" b="1" dirty="0">
              <a:solidFill>
                <a:srgbClr val="000000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82C7851-A312-BE49-E39E-4078521D02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9732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0689113c39_0_54"/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02" name="Google Shape;202;g30689113c39_0_54"/>
          <p:cNvSpPr txBox="1"/>
          <p:nvPr/>
        </p:nvSpPr>
        <p:spPr>
          <a:xfrm>
            <a:off x="2532250" y="792525"/>
            <a:ext cx="102072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F46524"/>
                </a:solidFill>
                <a:latin typeface="Raleway"/>
                <a:ea typeface="Raleway"/>
                <a:cs typeface="Raleway"/>
                <a:sym typeface="Raleway"/>
              </a:rPr>
              <a:t>Ejemplo de Gestión del Cambio en la Transformación Tecnológica (2)</a:t>
            </a:r>
            <a:endParaRPr sz="2700" b="1">
              <a:solidFill>
                <a:srgbClr val="F4652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3" name="Google Shape;203;g30689113c39_0_54"/>
          <p:cNvSpPr txBox="1"/>
          <p:nvPr/>
        </p:nvSpPr>
        <p:spPr>
          <a:xfrm>
            <a:off x="2532250" y="2122575"/>
            <a:ext cx="12795900" cy="55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000000"/>
                </a:solidFill>
              </a:rPr>
              <a:t>4. Cultura </a:t>
            </a:r>
            <a:r>
              <a:rPr lang="en-US" sz="2200" b="1" dirty="0" err="1">
                <a:solidFill>
                  <a:srgbClr val="000000"/>
                </a:solidFill>
              </a:rPr>
              <a:t>Abierta</a:t>
            </a:r>
            <a:r>
              <a:rPr lang="en-US" sz="2200" b="1" dirty="0">
                <a:solidFill>
                  <a:srgbClr val="000000"/>
                </a:solidFill>
              </a:rPr>
              <a:t> al Cambio</a:t>
            </a:r>
            <a:r>
              <a:rPr lang="en-US" sz="2200" dirty="0">
                <a:solidFill>
                  <a:srgbClr val="000000"/>
                </a:solidFill>
              </a:rPr>
              <a:t>: Se </a:t>
            </a:r>
            <a:r>
              <a:rPr lang="en-US" sz="2200" dirty="0" err="1">
                <a:solidFill>
                  <a:srgbClr val="000000"/>
                </a:solidFill>
              </a:rPr>
              <a:t>fomentan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sesiones</a:t>
            </a:r>
            <a:r>
              <a:rPr lang="en-US" sz="2200" dirty="0">
                <a:solidFill>
                  <a:srgbClr val="000000"/>
                </a:solidFill>
              </a:rPr>
              <a:t> de </a:t>
            </a:r>
            <a:r>
              <a:rPr lang="en-US" sz="2200" dirty="0" err="1">
                <a:solidFill>
                  <a:srgbClr val="000000"/>
                </a:solidFill>
              </a:rPr>
              <a:t>innovación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en</a:t>
            </a:r>
            <a:r>
              <a:rPr lang="en-US" sz="2200" dirty="0">
                <a:solidFill>
                  <a:srgbClr val="000000"/>
                </a:solidFill>
              </a:rPr>
              <a:t> las que </a:t>
            </a:r>
            <a:r>
              <a:rPr lang="en-US" sz="2200" dirty="0" err="1">
                <a:solidFill>
                  <a:srgbClr val="000000"/>
                </a:solidFill>
              </a:rPr>
              <a:t>los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empleados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pueden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sugerir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mejoras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tecnológicas</a:t>
            </a:r>
            <a:r>
              <a:rPr lang="en-US" sz="2200" dirty="0">
                <a:solidFill>
                  <a:srgbClr val="000000"/>
                </a:solidFill>
              </a:rPr>
              <a:t> y se premia a </a:t>
            </a:r>
            <a:r>
              <a:rPr lang="en-US" sz="2200" dirty="0" err="1">
                <a:solidFill>
                  <a:srgbClr val="000000"/>
                </a:solidFill>
              </a:rPr>
              <a:t>quienes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adopten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rápidamente</a:t>
            </a:r>
            <a:r>
              <a:rPr lang="en-US" sz="2200" dirty="0">
                <a:solidFill>
                  <a:srgbClr val="000000"/>
                </a:solidFill>
              </a:rPr>
              <a:t> las </a:t>
            </a:r>
            <a:r>
              <a:rPr lang="en-US" sz="2200" dirty="0" err="1">
                <a:solidFill>
                  <a:srgbClr val="000000"/>
                </a:solidFill>
              </a:rPr>
              <a:t>nuevas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herramientas</a:t>
            </a:r>
            <a:r>
              <a:rPr lang="en-US" sz="2200" dirty="0">
                <a:solidFill>
                  <a:srgbClr val="000000"/>
                </a:solidFill>
              </a:rPr>
              <a:t>.</a:t>
            </a:r>
            <a:endParaRPr sz="22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000000"/>
                </a:solidFill>
              </a:rPr>
              <a:t>5. </a:t>
            </a:r>
            <a:r>
              <a:rPr lang="en-US" sz="2200" b="1" dirty="0" err="1">
                <a:solidFill>
                  <a:srgbClr val="000000"/>
                </a:solidFill>
              </a:rPr>
              <a:t>Capacitación</a:t>
            </a:r>
            <a:r>
              <a:rPr lang="en-US" sz="2200" dirty="0">
                <a:solidFill>
                  <a:srgbClr val="000000"/>
                </a:solidFill>
              </a:rPr>
              <a:t>: Se </a:t>
            </a:r>
            <a:r>
              <a:rPr lang="en-US" sz="2200" dirty="0" err="1">
                <a:solidFill>
                  <a:srgbClr val="000000"/>
                </a:solidFill>
              </a:rPr>
              <a:t>implementa</a:t>
            </a:r>
            <a:r>
              <a:rPr lang="en-US" sz="2200" dirty="0">
                <a:solidFill>
                  <a:srgbClr val="000000"/>
                </a:solidFill>
              </a:rPr>
              <a:t> un </a:t>
            </a:r>
            <a:r>
              <a:rPr lang="en-US" sz="2200" dirty="0" err="1">
                <a:solidFill>
                  <a:srgbClr val="000000"/>
                </a:solidFill>
              </a:rPr>
              <a:t>programa</a:t>
            </a:r>
            <a:r>
              <a:rPr lang="en-US" sz="2200" dirty="0">
                <a:solidFill>
                  <a:srgbClr val="000000"/>
                </a:solidFill>
              </a:rPr>
              <a:t> de </a:t>
            </a:r>
            <a:r>
              <a:rPr lang="en-US" sz="2200" dirty="0" err="1">
                <a:solidFill>
                  <a:srgbClr val="000000"/>
                </a:solidFill>
              </a:rPr>
              <a:t>formación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técnica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intensiva</a:t>
            </a:r>
            <a:r>
              <a:rPr lang="en-US" sz="2200" dirty="0">
                <a:solidFill>
                  <a:srgbClr val="000000"/>
                </a:solidFill>
              </a:rPr>
              <a:t> para que </a:t>
            </a:r>
            <a:r>
              <a:rPr lang="en-US" sz="2200" dirty="0" err="1">
                <a:solidFill>
                  <a:srgbClr val="000000"/>
                </a:solidFill>
              </a:rPr>
              <a:t>los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operarios</a:t>
            </a:r>
            <a:r>
              <a:rPr lang="en-US" sz="2200" dirty="0">
                <a:solidFill>
                  <a:srgbClr val="000000"/>
                </a:solidFill>
              </a:rPr>
              <a:t> de las </a:t>
            </a:r>
            <a:r>
              <a:rPr lang="en-US" sz="2200" dirty="0" err="1">
                <a:solidFill>
                  <a:srgbClr val="000000"/>
                </a:solidFill>
              </a:rPr>
              <a:t>fábricas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aprendan</a:t>
            </a:r>
            <a:r>
              <a:rPr lang="en-US" sz="2200" dirty="0">
                <a:solidFill>
                  <a:srgbClr val="000000"/>
                </a:solidFill>
              </a:rPr>
              <a:t> a </a:t>
            </a:r>
            <a:r>
              <a:rPr lang="en-US" sz="2200" dirty="0" err="1">
                <a:solidFill>
                  <a:srgbClr val="000000"/>
                </a:solidFill>
              </a:rPr>
              <a:t>utilizar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el</a:t>
            </a:r>
            <a:r>
              <a:rPr lang="en-US" sz="2200" dirty="0">
                <a:solidFill>
                  <a:srgbClr val="000000"/>
                </a:solidFill>
              </a:rPr>
              <a:t> nuevo </a:t>
            </a:r>
            <a:r>
              <a:rPr lang="en-US" sz="2200" dirty="0" err="1">
                <a:solidFill>
                  <a:srgbClr val="000000"/>
                </a:solidFill>
              </a:rPr>
              <a:t>sistema</a:t>
            </a:r>
            <a:r>
              <a:rPr lang="en-US" sz="2200" dirty="0">
                <a:solidFill>
                  <a:srgbClr val="000000"/>
                </a:solidFill>
              </a:rPr>
              <a:t> IoT y las </a:t>
            </a:r>
            <a:r>
              <a:rPr lang="en-US" sz="2200" dirty="0" err="1">
                <a:solidFill>
                  <a:srgbClr val="000000"/>
                </a:solidFill>
              </a:rPr>
              <a:t>plataformas</a:t>
            </a:r>
            <a:r>
              <a:rPr lang="en-US" sz="2200" dirty="0">
                <a:solidFill>
                  <a:srgbClr val="000000"/>
                </a:solidFill>
              </a:rPr>
              <a:t> de </a:t>
            </a:r>
            <a:r>
              <a:rPr lang="en-US" sz="2200" dirty="0" err="1">
                <a:solidFill>
                  <a:srgbClr val="000000"/>
                </a:solidFill>
              </a:rPr>
              <a:t>análisis</a:t>
            </a:r>
            <a:r>
              <a:rPr lang="en-US" sz="2200" dirty="0">
                <a:solidFill>
                  <a:srgbClr val="000000"/>
                </a:solidFill>
              </a:rPr>
              <a:t> de </a:t>
            </a:r>
            <a:r>
              <a:rPr lang="en-US" sz="2200" dirty="0" err="1">
                <a:solidFill>
                  <a:srgbClr val="000000"/>
                </a:solidFill>
              </a:rPr>
              <a:t>datos</a:t>
            </a:r>
            <a:r>
              <a:rPr lang="en-US" sz="2200" dirty="0">
                <a:solidFill>
                  <a:srgbClr val="000000"/>
                </a:solidFill>
              </a:rPr>
              <a:t>.</a:t>
            </a:r>
            <a:endParaRPr sz="22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000000"/>
                </a:solidFill>
              </a:rPr>
              <a:t>6. </a:t>
            </a:r>
            <a:r>
              <a:rPr lang="en-US" sz="2200" b="1" dirty="0" err="1">
                <a:solidFill>
                  <a:srgbClr val="000000"/>
                </a:solidFill>
              </a:rPr>
              <a:t>Gestión</a:t>
            </a:r>
            <a:r>
              <a:rPr lang="en-US" sz="2200" b="1" dirty="0">
                <a:solidFill>
                  <a:srgbClr val="000000"/>
                </a:solidFill>
              </a:rPr>
              <a:t> de la Resistencia</a:t>
            </a:r>
            <a:r>
              <a:rPr lang="en-US" sz="2200" dirty="0">
                <a:solidFill>
                  <a:srgbClr val="000000"/>
                </a:solidFill>
              </a:rPr>
              <a:t>: </a:t>
            </a:r>
            <a:r>
              <a:rPr lang="en-US" sz="2200" dirty="0" err="1">
                <a:solidFill>
                  <a:srgbClr val="000000"/>
                </a:solidFill>
              </a:rPr>
              <a:t>Algunos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empleados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expresan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temor</a:t>
            </a:r>
            <a:r>
              <a:rPr lang="en-US" sz="2200" dirty="0">
                <a:solidFill>
                  <a:srgbClr val="000000"/>
                </a:solidFill>
              </a:rPr>
              <a:t> de que la </a:t>
            </a:r>
            <a:r>
              <a:rPr lang="en-US" sz="2200" dirty="0" err="1">
                <a:solidFill>
                  <a:srgbClr val="000000"/>
                </a:solidFill>
              </a:rPr>
              <a:t>automatización</a:t>
            </a:r>
            <a:r>
              <a:rPr lang="en-US" sz="2200" dirty="0">
                <a:solidFill>
                  <a:srgbClr val="000000"/>
                </a:solidFill>
              </a:rPr>
              <a:t> les </a:t>
            </a:r>
            <a:r>
              <a:rPr lang="en-US" sz="2200" dirty="0" err="1">
                <a:solidFill>
                  <a:srgbClr val="000000"/>
                </a:solidFill>
              </a:rPr>
              <a:t>haga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perder</a:t>
            </a:r>
            <a:r>
              <a:rPr lang="en-US" sz="2200" dirty="0">
                <a:solidFill>
                  <a:srgbClr val="000000"/>
                </a:solidFill>
              </a:rPr>
              <a:t> sus </a:t>
            </a:r>
            <a:r>
              <a:rPr lang="en-US" sz="2200" dirty="0" err="1">
                <a:solidFill>
                  <a:srgbClr val="000000"/>
                </a:solidFill>
              </a:rPr>
              <a:t>trabajos</a:t>
            </a:r>
            <a:r>
              <a:rPr lang="en-US" sz="2200" dirty="0">
                <a:solidFill>
                  <a:srgbClr val="000000"/>
                </a:solidFill>
              </a:rPr>
              <a:t>. La </a:t>
            </a:r>
            <a:r>
              <a:rPr lang="en-US" sz="2200" dirty="0" err="1">
                <a:solidFill>
                  <a:srgbClr val="000000"/>
                </a:solidFill>
              </a:rPr>
              <a:t>empresa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responde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desarrollando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programas</a:t>
            </a:r>
            <a:r>
              <a:rPr lang="en-US" sz="2200" dirty="0">
                <a:solidFill>
                  <a:srgbClr val="000000"/>
                </a:solidFill>
              </a:rPr>
              <a:t> de </a:t>
            </a:r>
            <a:r>
              <a:rPr lang="en-US" sz="2200" b="1" dirty="0" err="1">
                <a:solidFill>
                  <a:srgbClr val="000000"/>
                </a:solidFill>
              </a:rPr>
              <a:t>recapacitación</a:t>
            </a:r>
            <a:r>
              <a:rPr lang="en-US" sz="2200" dirty="0">
                <a:solidFill>
                  <a:srgbClr val="000000"/>
                </a:solidFill>
              </a:rPr>
              <a:t> para que </a:t>
            </a:r>
            <a:r>
              <a:rPr lang="en-US" sz="2200" dirty="0" err="1">
                <a:solidFill>
                  <a:srgbClr val="000000"/>
                </a:solidFill>
              </a:rPr>
              <a:t>puedan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asumir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nuevos</a:t>
            </a:r>
            <a:r>
              <a:rPr lang="en-US" sz="2200" dirty="0">
                <a:solidFill>
                  <a:srgbClr val="000000"/>
                </a:solidFill>
              </a:rPr>
              <a:t> roles </a:t>
            </a:r>
            <a:r>
              <a:rPr lang="en-US" sz="2200" dirty="0" err="1">
                <a:solidFill>
                  <a:srgbClr val="000000"/>
                </a:solidFill>
              </a:rPr>
              <a:t>relacionados</a:t>
            </a:r>
            <a:r>
              <a:rPr lang="en-US" sz="2200" dirty="0">
                <a:solidFill>
                  <a:srgbClr val="000000"/>
                </a:solidFill>
              </a:rPr>
              <a:t> con la </a:t>
            </a:r>
            <a:r>
              <a:rPr lang="en-US" sz="2200" dirty="0" err="1">
                <a:solidFill>
                  <a:srgbClr val="000000"/>
                </a:solidFill>
              </a:rPr>
              <a:t>supervisión</a:t>
            </a:r>
            <a:r>
              <a:rPr lang="en-US" sz="2200" dirty="0">
                <a:solidFill>
                  <a:srgbClr val="000000"/>
                </a:solidFill>
              </a:rPr>
              <a:t> y </a:t>
            </a:r>
            <a:r>
              <a:rPr lang="en-US" sz="2200" dirty="0" err="1">
                <a:solidFill>
                  <a:srgbClr val="000000"/>
                </a:solidFill>
              </a:rPr>
              <a:t>el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mantenimiento</a:t>
            </a:r>
            <a:r>
              <a:rPr lang="en-US" sz="2200" dirty="0">
                <a:solidFill>
                  <a:srgbClr val="000000"/>
                </a:solidFill>
              </a:rPr>
              <a:t> de las </a:t>
            </a:r>
            <a:r>
              <a:rPr lang="en-US" sz="2200" dirty="0" err="1">
                <a:solidFill>
                  <a:srgbClr val="000000"/>
                </a:solidFill>
              </a:rPr>
              <a:t>nuevas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tecnologías</a:t>
            </a:r>
            <a:r>
              <a:rPr lang="en-US" sz="2200" dirty="0">
                <a:solidFill>
                  <a:srgbClr val="000000"/>
                </a:solidFill>
              </a:rPr>
              <a:t>.</a:t>
            </a:r>
            <a:endParaRPr sz="22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000000"/>
                </a:solidFill>
              </a:rPr>
              <a:t>7. </a:t>
            </a:r>
            <a:r>
              <a:rPr lang="en-US" sz="2200" b="1" dirty="0" err="1">
                <a:solidFill>
                  <a:srgbClr val="000000"/>
                </a:solidFill>
              </a:rPr>
              <a:t>Medición</a:t>
            </a:r>
            <a:r>
              <a:rPr lang="en-US" sz="2200" b="1" dirty="0">
                <a:solidFill>
                  <a:srgbClr val="000000"/>
                </a:solidFill>
              </a:rPr>
              <a:t> del Impacto</a:t>
            </a:r>
            <a:r>
              <a:rPr lang="en-US" sz="2200" dirty="0">
                <a:solidFill>
                  <a:srgbClr val="000000"/>
                </a:solidFill>
              </a:rPr>
              <a:t>: La </a:t>
            </a:r>
            <a:r>
              <a:rPr lang="en-US" sz="2200" dirty="0" err="1">
                <a:solidFill>
                  <a:srgbClr val="000000"/>
                </a:solidFill>
              </a:rPr>
              <a:t>empresa</a:t>
            </a:r>
            <a:r>
              <a:rPr lang="en-US" sz="2200" dirty="0">
                <a:solidFill>
                  <a:srgbClr val="000000"/>
                </a:solidFill>
              </a:rPr>
              <a:t> define KPIs </a:t>
            </a:r>
            <a:r>
              <a:rPr lang="en-US" sz="2200" dirty="0" err="1">
                <a:solidFill>
                  <a:srgbClr val="000000"/>
                </a:solidFill>
              </a:rPr>
              <a:t>como</a:t>
            </a:r>
            <a:r>
              <a:rPr lang="en-US" sz="2200" dirty="0">
                <a:solidFill>
                  <a:srgbClr val="000000"/>
                </a:solidFill>
              </a:rPr>
              <a:t> la </a:t>
            </a:r>
            <a:r>
              <a:rPr lang="en-US" sz="2200" b="1" dirty="0" err="1">
                <a:solidFill>
                  <a:srgbClr val="000000"/>
                </a:solidFill>
              </a:rPr>
              <a:t>reducción</a:t>
            </a:r>
            <a:r>
              <a:rPr lang="en-US" sz="2200" b="1" dirty="0">
                <a:solidFill>
                  <a:srgbClr val="000000"/>
                </a:solidFill>
              </a:rPr>
              <a:t> del </a:t>
            </a:r>
            <a:r>
              <a:rPr lang="en-US" sz="2200" b="1" dirty="0" err="1">
                <a:solidFill>
                  <a:srgbClr val="000000"/>
                </a:solidFill>
              </a:rPr>
              <a:t>tiempo</a:t>
            </a:r>
            <a:r>
              <a:rPr lang="en-US" sz="2200" b="1" dirty="0">
                <a:solidFill>
                  <a:srgbClr val="000000"/>
                </a:solidFill>
              </a:rPr>
              <a:t> de </a:t>
            </a:r>
            <a:r>
              <a:rPr lang="en-US" sz="2200" b="1" dirty="0" err="1">
                <a:solidFill>
                  <a:srgbClr val="000000"/>
                </a:solidFill>
              </a:rPr>
              <a:t>inactividad</a:t>
            </a:r>
            <a:r>
              <a:rPr lang="en-US" sz="2200" dirty="0">
                <a:solidFill>
                  <a:srgbClr val="000000"/>
                </a:solidFill>
              </a:rPr>
              <a:t> de las </a:t>
            </a:r>
            <a:r>
              <a:rPr lang="en-US" sz="2200" dirty="0" err="1">
                <a:solidFill>
                  <a:srgbClr val="000000"/>
                </a:solidFill>
              </a:rPr>
              <a:t>máquinas</a:t>
            </a:r>
            <a:r>
              <a:rPr lang="en-US" sz="2200" dirty="0">
                <a:solidFill>
                  <a:srgbClr val="000000"/>
                </a:solidFill>
              </a:rPr>
              <a:t>, </a:t>
            </a:r>
            <a:r>
              <a:rPr lang="en-US" sz="2200" dirty="0" err="1">
                <a:solidFill>
                  <a:srgbClr val="000000"/>
                </a:solidFill>
              </a:rPr>
              <a:t>el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b="1" dirty="0" err="1">
                <a:solidFill>
                  <a:srgbClr val="000000"/>
                </a:solidFill>
              </a:rPr>
              <a:t>incremento</a:t>
            </a:r>
            <a:r>
              <a:rPr lang="en-US" sz="2200" b="1" dirty="0">
                <a:solidFill>
                  <a:srgbClr val="000000"/>
                </a:solidFill>
              </a:rPr>
              <a:t> </a:t>
            </a:r>
            <a:r>
              <a:rPr lang="en-US" sz="2200" b="1" dirty="0" err="1">
                <a:solidFill>
                  <a:srgbClr val="000000"/>
                </a:solidFill>
              </a:rPr>
              <a:t>en</a:t>
            </a:r>
            <a:r>
              <a:rPr lang="en-US" sz="2200" b="1" dirty="0">
                <a:solidFill>
                  <a:srgbClr val="000000"/>
                </a:solidFill>
              </a:rPr>
              <a:t> la </a:t>
            </a:r>
            <a:r>
              <a:rPr lang="en-US" sz="2200" b="1" dirty="0" err="1">
                <a:solidFill>
                  <a:srgbClr val="000000"/>
                </a:solidFill>
              </a:rPr>
              <a:t>eficiencia</a:t>
            </a:r>
            <a:r>
              <a:rPr lang="en-US" sz="2200" b="1" dirty="0">
                <a:solidFill>
                  <a:srgbClr val="000000"/>
                </a:solidFill>
              </a:rPr>
              <a:t> </a:t>
            </a:r>
            <a:r>
              <a:rPr lang="en-US" sz="2200" b="1" dirty="0" err="1">
                <a:solidFill>
                  <a:srgbClr val="000000"/>
                </a:solidFill>
              </a:rPr>
              <a:t>operativa</a:t>
            </a:r>
            <a:r>
              <a:rPr lang="en-US" sz="2200" dirty="0">
                <a:solidFill>
                  <a:srgbClr val="000000"/>
                </a:solidFill>
              </a:rPr>
              <a:t> y la </a:t>
            </a:r>
            <a:r>
              <a:rPr lang="en-US" sz="2200" b="1" dirty="0" err="1">
                <a:solidFill>
                  <a:srgbClr val="000000"/>
                </a:solidFill>
              </a:rPr>
              <a:t>satisfacción</a:t>
            </a:r>
            <a:r>
              <a:rPr lang="en-US" sz="2200" b="1" dirty="0">
                <a:solidFill>
                  <a:srgbClr val="000000"/>
                </a:solidFill>
              </a:rPr>
              <a:t> del </a:t>
            </a:r>
            <a:r>
              <a:rPr lang="en-US" sz="2200" b="1" dirty="0" err="1">
                <a:solidFill>
                  <a:srgbClr val="000000"/>
                </a:solidFill>
              </a:rPr>
              <a:t>cliente</a:t>
            </a:r>
            <a:r>
              <a:rPr lang="en-US" sz="2200" dirty="0">
                <a:solidFill>
                  <a:srgbClr val="000000"/>
                </a:solidFill>
              </a:rPr>
              <a:t>. </a:t>
            </a:r>
            <a:r>
              <a:rPr lang="en-US" sz="2200" dirty="0" err="1">
                <a:solidFill>
                  <a:srgbClr val="000000"/>
                </a:solidFill>
              </a:rPr>
              <a:t>Realizan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revisiones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trimestrales</a:t>
            </a:r>
            <a:r>
              <a:rPr lang="en-US" sz="2200" dirty="0">
                <a:solidFill>
                  <a:srgbClr val="000000"/>
                </a:solidFill>
              </a:rPr>
              <a:t> para </a:t>
            </a:r>
            <a:r>
              <a:rPr lang="en-US" sz="2200" dirty="0" err="1">
                <a:solidFill>
                  <a:srgbClr val="000000"/>
                </a:solidFill>
              </a:rPr>
              <a:t>medir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estos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indicadores</a:t>
            </a:r>
            <a:r>
              <a:rPr lang="en-US" sz="2200" dirty="0">
                <a:solidFill>
                  <a:srgbClr val="000000"/>
                </a:solidFill>
              </a:rPr>
              <a:t> y </a:t>
            </a:r>
            <a:r>
              <a:rPr lang="en-US" sz="2200" dirty="0" err="1">
                <a:solidFill>
                  <a:srgbClr val="000000"/>
                </a:solidFill>
              </a:rPr>
              <a:t>ajustar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el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proceso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  <a:r>
              <a:rPr lang="en-US" sz="2200" dirty="0" err="1">
                <a:solidFill>
                  <a:srgbClr val="000000"/>
                </a:solidFill>
              </a:rPr>
              <a:t>si</a:t>
            </a:r>
            <a:r>
              <a:rPr lang="en-US" sz="2200" dirty="0">
                <a:solidFill>
                  <a:srgbClr val="000000"/>
                </a:solidFill>
              </a:rPr>
              <a:t> es </a:t>
            </a:r>
            <a:r>
              <a:rPr lang="en-US" sz="2200" dirty="0" err="1">
                <a:solidFill>
                  <a:srgbClr val="000000"/>
                </a:solidFill>
              </a:rPr>
              <a:t>necesario</a:t>
            </a:r>
            <a:endParaRPr sz="22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200" b="1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200" b="1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200" dirty="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200" b="1" dirty="0">
              <a:solidFill>
                <a:srgbClr val="000000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551A8F5-95AE-87B5-0248-48A694C6F2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8947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g30689113c39_0_66"/>
          <p:cNvGrpSpPr/>
          <p:nvPr/>
        </p:nvGrpSpPr>
        <p:grpSpPr>
          <a:xfrm>
            <a:off x="1356728" y="8545495"/>
            <a:ext cx="15574467" cy="1502997"/>
            <a:chOff x="0" y="-47625"/>
            <a:chExt cx="2269338" cy="219000"/>
          </a:xfrm>
        </p:grpSpPr>
        <p:sp>
          <p:nvSpPr>
            <p:cNvPr id="209" name="Google Shape;209;g30689113c39_0_66"/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10" name="Google Shape;210;g30689113c39_0_66"/>
            <p:cNvSpPr txBox="1"/>
            <p:nvPr/>
          </p:nvSpPr>
          <p:spPr>
            <a:xfrm>
              <a:off x="0" y="-47625"/>
              <a:ext cx="22692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6" name="Google Shape;216;g30689113c39_0_66"/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17" name="Google Shape;217;g30689113c39_0_66"/>
          <p:cNvSpPr txBox="1"/>
          <p:nvPr/>
        </p:nvSpPr>
        <p:spPr>
          <a:xfrm>
            <a:off x="2547700" y="808000"/>
            <a:ext cx="101454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F46524"/>
                </a:solidFill>
                <a:latin typeface="Raleway"/>
                <a:ea typeface="Raleway"/>
                <a:cs typeface="Raleway"/>
                <a:sym typeface="Raleway"/>
              </a:rPr>
              <a:t>Importancia de la Gestión del Cambio en la Transformación Tecnológica</a:t>
            </a:r>
            <a:endParaRPr sz="2700" b="1">
              <a:solidFill>
                <a:srgbClr val="F4652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8" name="Google Shape;218;g30689113c39_0_66"/>
          <p:cNvSpPr txBox="1"/>
          <p:nvPr/>
        </p:nvSpPr>
        <p:spPr>
          <a:xfrm>
            <a:off x="2547700" y="1924825"/>
            <a:ext cx="12765000" cy="6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 dirty="0" err="1">
                <a:solidFill>
                  <a:srgbClr val="000000"/>
                </a:solidFill>
              </a:rPr>
              <a:t>Mitiga</a:t>
            </a:r>
            <a:r>
              <a:rPr lang="en-US" sz="2300" b="1" dirty="0">
                <a:solidFill>
                  <a:srgbClr val="000000"/>
                </a:solidFill>
              </a:rPr>
              <a:t> la Resistencia al Cambio</a:t>
            </a:r>
            <a:r>
              <a:rPr lang="en-US" sz="2300" dirty="0">
                <a:solidFill>
                  <a:srgbClr val="000000"/>
                </a:solidFill>
              </a:rPr>
              <a:t>: Muchos </a:t>
            </a:r>
            <a:r>
              <a:rPr lang="en-US" sz="2300" dirty="0" err="1">
                <a:solidFill>
                  <a:srgbClr val="000000"/>
                </a:solidFill>
              </a:rPr>
              <a:t>empleados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pueden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sentirse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amenazados</a:t>
            </a:r>
            <a:r>
              <a:rPr lang="en-US" sz="2300" dirty="0">
                <a:solidFill>
                  <a:srgbClr val="000000"/>
                </a:solidFill>
              </a:rPr>
              <a:t> o </a:t>
            </a:r>
            <a:r>
              <a:rPr lang="en-US" sz="2300" dirty="0" err="1">
                <a:solidFill>
                  <a:srgbClr val="000000"/>
                </a:solidFill>
              </a:rPr>
              <a:t>incómodos</a:t>
            </a:r>
            <a:r>
              <a:rPr lang="en-US" sz="2300" dirty="0">
                <a:solidFill>
                  <a:srgbClr val="000000"/>
                </a:solidFill>
              </a:rPr>
              <a:t> con la </a:t>
            </a:r>
            <a:r>
              <a:rPr lang="en-US" sz="2300" dirty="0" err="1">
                <a:solidFill>
                  <a:srgbClr val="000000"/>
                </a:solidFill>
              </a:rPr>
              <a:t>transformación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tecnológica</a:t>
            </a:r>
            <a:r>
              <a:rPr lang="en-US" sz="2300" dirty="0">
                <a:solidFill>
                  <a:srgbClr val="000000"/>
                </a:solidFill>
              </a:rPr>
              <a:t>, lo </a:t>
            </a:r>
            <a:r>
              <a:rPr lang="en-US" sz="2300" dirty="0" err="1">
                <a:solidFill>
                  <a:srgbClr val="000000"/>
                </a:solidFill>
              </a:rPr>
              <a:t>que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puede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llevar</a:t>
            </a:r>
            <a:r>
              <a:rPr lang="en-US" sz="2300" dirty="0">
                <a:solidFill>
                  <a:srgbClr val="000000"/>
                </a:solidFill>
              </a:rPr>
              <a:t> a la </a:t>
            </a:r>
            <a:r>
              <a:rPr lang="en-US" sz="2300" dirty="0" err="1">
                <a:solidFill>
                  <a:srgbClr val="000000"/>
                </a:solidFill>
              </a:rPr>
              <a:t>resistencia</a:t>
            </a:r>
            <a:r>
              <a:rPr lang="en-US" sz="2300" dirty="0">
                <a:solidFill>
                  <a:srgbClr val="000000"/>
                </a:solidFill>
              </a:rPr>
              <a:t>. Una </a:t>
            </a:r>
            <a:r>
              <a:rPr lang="en-US" sz="2300" dirty="0" err="1">
                <a:solidFill>
                  <a:srgbClr val="000000"/>
                </a:solidFill>
              </a:rPr>
              <a:t>buena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gestión</a:t>
            </a:r>
            <a:r>
              <a:rPr lang="en-US" sz="2300" dirty="0">
                <a:solidFill>
                  <a:srgbClr val="000000"/>
                </a:solidFill>
              </a:rPr>
              <a:t> del </a:t>
            </a:r>
            <a:r>
              <a:rPr lang="en-US" sz="2300" dirty="0" err="1">
                <a:solidFill>
                  <a:srgbClr val="000000"/>
                </a:solidFill>
              </a:rPr>
              <a:t>cambio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aborda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estas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preocupaciones</a:t>
            </a:r>
            <a:r>
              <a:rPr lang="en-US" sz="2300" dirty="0">
                <a:solidFill>
                  <a:srgbClr val="000000"/>
                </a:solidFill>
              </a:rPr>
              <a:t> de </a:t>
            </a:r>
            <a:r>
              <a:rPr lang="en-US" sz="2300" dirty="0" err="1">
                <a:solidFill>
                  <a:srgbClr val="000000"/>
                </a:solidFill>
              </a:rPr>
              <a:t>manera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efectiva</a:t>
            </a:r>
            <a:r>
              <a:rPr lang="en-US" sz="2300" dirty="0">
                <a:solidFill>
                  <a:srgbClr val="000000"/>
                </a:solidFill>
              </a:rPr>
              <a:t>, lo </a:t>
            </a:r>
            <a:r>
              <a:rPr lang="en-US" sz="2300" dirty="0" err="1">
                <a:solidFill>
                  <a:srgbClr val="000000"/>
                </a:solidFill>
              </a:rPr>
              <a:t>que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facilita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una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adopción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más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fluida</a:t>
            </a:r>
            <a:r>
              <a:rPr lang="en-US" sz="2300" dirty="0">
                <a:solidFill>
                  <a:srgbClr val="000000"/>
                </a:solidFill>
              </a:rPr>
              <a:t> de las </a:t>
            </a:r>
            <a:r>
              <a:rPr lang="en-US" sz="2300" dirty="0" err="1">
                <a:solidFill>
                  <a:srgbClr val="000000"/>
                </a:solidFill>
              </a:rPr>
              <a:t>nuevas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tecnologías</a:t>
            </a:r>
            <a:r>
              <a:rPr lang="en-US" sz="2300" dirty="0">
                <a:solidFill>
                  <a:srgbClr val="000000"/>
                </a:solidFill>
              </a:rPr>
              <a:t>.</a:t>
            </a:r>
            <a:endParaRPr sz="23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 dirty="0" err="1">
                <a:solidFill>
                  <a:srgbClr val="000000"/>
                </a:solidFill>
              </a:rPr>
              <a:t>Aumenta</a:t>
            </a:r>
            <a:r>
              <a:rPr lang="en-US" sz="2300" b="1" dirty="0">
                <a:solidFill>
                  <a:srgbClr val="000000"/>
                </a:solidFill>
              </a:rPr>
              <a:t> la </a:t>
            </a:r>
            <a:r>
              <a:rPr lang="en-US" sz="2300" b="1" dirty="0" err="1">
                <a:solidFill>
                  <a:srgbClr val="000000"/>
                </a:solidFill>
              </a:rPr>
              <a:t>Aceptación</a:t>
            </a:r>
            <a:r>
              <a:rPr lang="en-US" sz="2300" b="1" dirty="0">
                <a:solidFill>
                  <a:srgbClr val="000000"/>
                </a:solidFill>
              </a:rPr>
              <a:t> de las </a:t>
            </a:r>
            <a:r>
              <a:rPr lang="en-US" sz="2300" b="1" dirty="0" err="1">
                <a:solidFill>
                  <a:srgbClr val="000000"/>
                </a:solidFill>
              </a:rPr>
              <a:t>Nuevas</a:t>
            </a:r>
            <a:r>
              <a:rPr lang="en-US" sz="2300" b="1" dirty="0">
                <a:solidFill>
                  <a:srgbClr val="000000"/>
                </a:solidFill>
              </a:rPr>
              <a:t> </a:t>
            </a:r>
            <a:r>
              <a:rPr lang="en-US" sz="2300" b="1" dirty="0" err="1">
                <a:solidFill>
                  <a:srgbClr val="000000"/>
                </a:solidFill>
              </a:rPr>
              <a:t>Tecnologías</a:t>
            </a:r>
            <a:r>
              <a:rPr lang="en-US" sz="2300" dirty="0">
                <a:solidFill>
                  <a:srgbClr val="000000"/>
                </a:solidFill>
              </a:rPr>
              <a:t>: Si </a:t>
            </a:r>
            <a:r>
              <a:rPr lang="en-US" sz="2300" dirty="0" err="1">
                <a:solidFill>
                  <a:srgbClr val="000000"/>
                </a:solidFill>
              </a:rPr>
              <a:t>los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empleados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comprenden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los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beneficios</a:t>
            </a:r>
            <a:r>
              <a:rPr lang="en-US" sz="2300" dirty="0">
                <a:solidFill>
                  <a:srgbClr val="000000"/>
                </a:solidFill>
              </a:rPr>
              <a:t> y se </a:t>
            </a:r>
            <a:r>
              <a:rPr lang="en-US" sz="2300" dirty="0" err="1">
                <a:solidFill>
                  <a:srgbClr val="000000"/>
                </a:solidFill>
              </a:rPr>
              <a:t>sienten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capacitados</a:t>
            </a:r>
            <a:r>
              <a:rPr lang="en-US" sz="2300" dirty="0">
                <a:solidFill>
                  <a:srgbClr val="000000"/>
                </a:solidFill>
              </a:rPr>
              <a:t> para usar las </a:t>
            </a:r>
            <a:r>
              <a:rPr lang="en-US" sz="2300" dirty="0" err="1">
                <a:solidFill>
                  <a:srgbClr val="000000"/>
                </a:solidFill>
              </a:rPr>
              <a:t>nuevas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herramientas</a:t>
            </a:r>
            <a:r>
              <a:rPr lang="en-US" sz="2300" dirty="0">
                <a:solidFill>
                  <a:srgbClr val="000000"/>
                </a:solidFill>
              </a:rPr>
              <a:t>, </a:t>
            </a:r>
            <a:r>
              <a:rPr lang="en-US" sz="2300" dirty="0" err="1">
                <a:solidFill>
                  <a:srgbClr val="000000"/>
                </a:solidFill>
              </a:rPr>
              <a:t>estarán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más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dispuestos</a:t>
            </a:r>
            <a:r>
              <a:rPr lang="en-US" sz="2300" dirty="0">
                <a:solidFill>
                  <a:srgbClr val="000000"/>
                </a:solidFill>
              </a:rPr>
              <a:t> a </a:t>
            </a:r>
            <a:r>
              <a:rPr lang="en-US" sz="2300" dirty="0" err="1">
                <a:solidFill>
                  <a:srgbClr val="000000"/>
                </a:solidFill>
              </a:rPr>
              <a:t>integrarlas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en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su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trabajo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diario</a:t>
            </a:r>
            <a:r>
              <a:rPr lang="en-US" sz="2300" dirty="0">
                <a:solidFill>
                  <a:srgbClr val="000000"/>
                </a:solidFill>
              </a:rPr>
              <a:t>, lo </a:t>
            </a:r>
            <a:r>
              <a:rPr lang="en-US" sz="2300" dirty="0" err="1">
                <a:solidFill>
                  <a:srgbClr val="000000"/>
                </a:solidFill>
              </a:rPr>
              <a:t>que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aumenta</a:t>
            </a:r>
            <a:r>
              <a:rPr lang="en-US" sz="2300" dirty="0">
                <a:solidFill>
                  <a:srgbClr val="000000"/>
                </a:solidFill>
              </a:rPr>
              <a:t> las </a:t>
            </a:r>
            <a:r>
              <a:rPr lang="en-US" sz="2300" dirty="0" err="1">
                <a:solidFill>
                  <a:srgbClr val="000000"/>
                </a:solidFill>
              </a:rPr>
              <a:t>probabilidades</a:t>
            </a:r>
            <a:r>
              <a:rPr lang="en-US" sz="2300" dirty="0">
                <a:solidFill>
                  <a:srgbClr val="000000"/>
                </a:solidFill>
              </a:rPr>
              <a:t> de </a:t>
            </a:r>
            <a:r>
              <a:rPr lang="en-US" sz="2300" dirty="0" err="1">
                <a:solidFill>
                  <a:srgbClr val="000000"/>
                </a:solidFill>
              </a:rPr>
              <a:t>éxito</a:t>
            </a:r>
            <a:r>
              <a:rPr lang="en-US" sz="2300" dirty="0">
                <a:solidFill>
                  <a:srgbClr val="000000"/>
                </a:solidFill>
              </a:rPr>
              <a:t> del </a:t>
            </a:r>
            <a:r>
              <a:rPr lang="en-US" sz="2300" dirty="0" err="1">
                <a:solidFill>
                  <a:srgbClr val="000000"/>
                </a:solidFill>
              </a:rPr>
              <a:t>proyecto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tecnológico</a:t>
            </a:r>
            <a:r>
              <a:rPr lang="en-US" sz="2300" dirty="0">
                <a:solidFill>
                  <a:srgbClr val="000000"/>
                </a:solidFill>
              </a:rPr>
              <a:t>.</a:t>
            </a:r>
            <a:endParaRPr sz="23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rgbClr val="000000"/>
                </a:solidFill>
              </a:rPr>
              <a:t>Mejora la </a:t>
            </a:r>
            <a:r>
              <a:rPr lang="en-US" sz="2300" b="1" dirty="0" err="1">
                <a:solidFill>
                  <a:srgbClr val="000000"/>
                </a:solidFill>
              </a:rPr>
              <a:t>Eficiencia</a:t>
            </a:r>
            <a:r>
              <a:rPr lang="en-US" sz="2300" dirty="0">
                <a:solidFill>
                  <a:srgbClr val="000000"/>
                </a:solidFill>
              </a:rPr>
              <a:t>: La </a:t>
            </a:r>
            <a:r>
              <a:rPr lang="en-US" sz="2300" dirty="0" err="1">
                <a:solidFill>
                  <a:srgbClr val="000000"/>
                </a:solidFill>
              </a:rPr>
              <a:t>transición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tecnológica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puede</a:t>
            </a:r>
            <a:r>
              <a:rPr lang="en-US" sz="2300" dirty="0">
                <a:solidFill>
                  <a:srgbClr val="000000"/>
                </a:solidFill>
              </a:rPr>
              <a:t> ser </a:t>
            </a:r>
            <a:r>
              <a:rPr lang="en-US" sz="2300" dirty="0" err="1">
                <a:solidFill>
                  <a:srgbClr val="000000"/>
                </a:solidFill>
              </a:rPr>
              <a:t>compleja</a:t>
            </a:r>
            <a:r>
              <a:rPr lang="en-US" sz="2300" dirty="0">
                <a:solidFill>
                  <a:srgbClr val="000000"/>
                </a:solidFill>
              </a:rPr>
              <a:t>, </a:t>
            </a:r>
            <a:r>
              <a:rPr lang="en-US" sz="2300" dirty="0" err="1">
                <a:solidFill>
                  <a:srgbClr val="000000"/>
                </a:solidFill>
              </a:rPr>
              <a:t>pero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si</a:t>
            </a:r>
            <a:r>
              <a:rPr lang="en-US" sz="2300" dirty="0">
                <a:solidFill>
                  <a:srgbClr val="000000"/>
                </a:solidFill>
              </a:rPr>
              <a:t> se </a:t>
            </a:r>
            <a:r>
              <a:rPr lang="en-US" sz="2300" dirty="0" err="1">
                <a:solidFill>
                  <a:srgbClr val="000000"/>
                </a:solidFill>
              </a:rPr>
              <a:t>gestiona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adecuadamente</a:t>
            </a:r>
            <a:r>
              <a:rPr lang="en-US" sz="2300" dirty="0">
                <a:solidFill>
                  <a:srgbClr val="000000"/>
                </a:solidFill>
              </a:rPr>
              <a:t>, </a:t>
            </a:r>
            <a:r>
              <a:rPr lang="en-US" sz="2300" dirty="0" err="1">
                <a:solidFill>
                  <a:srgbClr val="000000"/>
                </a:solidFill>
              </a:rPr>
              <a:t>puede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ayudar</a:t>
            </a:r>
            <a:r>
              <a:rPr lang="en-US" sz="2300" dirty="0">
                <a:solidFill>
                  <a:srgbClr val="000000"/>
                </a:solidFill>
              </a:rPr>
              <a:t> a </a:t>
            </a:r>
            <a:r>
              <a:rPr lang="en-US" sz="2300" dirty="0" err="1">
                <a:solidFill>
                  <a:srgbClr val="000000"/>
                </a:solidFill>
              </a:rPr>
              <a:t>reducir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errores</a:t>
            </a:r>
            <a:r>
              <a:rPr lang="en-US" sz="2300" dirty="0">
                <a:solidFill>
                  <a:srgbClr val="000000"/>
                </a:solidFill>
              </a:rPr>
              <a:t>, </a:t>
            </a:r>
            <a:r>
              <a:rPr lang="en-US" sz="2300" dirty="0" err="1">
                <a:solidFill>
                  <a:srgbClr val="000000"/>
                </a:solidFill>
              </a:rPr>
              <a:t>mejorar</a:t>
            </a:r>
            <a:r>
              <a:rPr lang="en-US" sz="2300" dirty="0">
                <a:solidFill>
                  <a:srgbClr val="000000"/>
                </a:solidFill>
              </a:rPr>
              <a:t> la </a:t>
            </a:r>
            <a:r>
              <a:rPr lang="en-US" sz="2300" dirty="0" err="1">
                <a:solidFill>
                  <a:srgbClr val="000000"/>
                </a:solidFill>
              </a:rPr>
              <a:t>productividad</a:t>
            </a:r>
            <a:r>
              <a:rPr lang="en-US" sz="2300" dirty="0">
                <a:solidFill>
                  <a:srgbClr val="000000"/>
                </a:solidFill>
              </a:rPr>
              <a:t> y </a:t>
            </a:r>
            <a:r>
              <a:rPr lang="en-US" sz="2300" dirty="0" err="1">
                <a:solidFill>
                  <a:srgbClr val="000000"/>
                </a:solidFill>
              </a:rPr>
              <a:t>garantizar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una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integración</a:t>
            </a:r>
            <a:r>
              <a:rPr lang="en-US" sz="2300" dirty="0">
                <a:solidFill>
                  <a:srgbClr val="000000"/>
                </a:solidFill>
              </a:rPr>
              <a:t> sin </a:t>
            </a:r>
            <a:r>
              <a:rPr lang="en-US" sz="2300" dirty="0" err="1">
                <a:solidFill>
                  <a:srgbClr val="000000"/>
                </a:solidFill>
              </a:rPr>
              <a:t>problemas</a:t>
            </a:r>
            <a:r>
              <a:rPr lang="en-US" sz="2300" dirty="0">
                <a:solidFill>
                  <a:srgbClr val="000000"/>
                </a:solidFill>
              </a:rPr>
              <a:t> entre </a:t>
            </a:r>
            <a:r>
              <a:rPr lang="en-US" sz="2300" dirty="0" err="1">
                <a:solidFill>
                  <a:srgbClr val="000000"/>
                </a:solidFill>
              </a:rPr>
              <a:t>sistemas</a:t>
            </a:r>
            <a:r>
              <a:rPr lang="en-US" sz="2300" dirty="0">
                <a:solidFill>
                  <a:srgbClr val="000000"/>
                </a:solidFill>
              </a:rPr>
              <a:t> y </a:t>
            </a:r>
            <a:r>
              <a:rPr lang="en-US" sz="2300" dirty="0" err="1">
                <a:solidFill>
                  <a:srgbClr val="000000"/>
                </a:solidFill>
              </a:rPr>
              <a:t>procesos</a:t>
            </a:r>
            <a:r>
              <a:rPr lang="en-US" sz="2300" dirty="0">
                <a:solidFill>
                  <a:srgbClr val="000000"/>
                </a:solidFill>
              </a:rPr>
              <a:t>.</a:t>
            </a:r>
            <a:endParaRPr sz="23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 dirty="0" err="1">
                <a:solidFill>
                  <a:srgbClr val="000000"/>
                </a:solidFill>
              </a:rPr>
              <a:t>Impulsa</a:t>
            </a:r>
            <a:r>
              <a:rPr lang="en-US" sz="2300" b="1" dirty="0">
                <a:solidFill>
                  <a:srgbClr val="000000"/>
                </a:solidFill>
              </a:rPr>
              <a:t> la </a:t>
            </a:r>
            <a:r>
              <a:rPr lang="en-US" sz="2300" b="1" dirty="0" err="1">
                <a:solidFill>
                  <a:srgbClr val="000000"/>
                </a:solidFill>
              </a:rPr>
              <a:t>Innovación</a:t>
            </a:r>
            <a:r>
              <a:rPr lang="en-US" sz="2300" b="1" dirty="0">
                <a:solidFill>
                  <a:srgbClr val="000000"/>
                </a:solidFill>
              </a:rPr>
              <a:t> y </a:t>
            </a:r>
            <a:r>
              <a:rPr lang="en-US" sz="2300" b="1" dirty="0" err="1">
                <a:solidFill>
                  <a:srgbClr val="000000"/>
                </a:solidFill>
              </a:rPr>
              <a:t>Competitividad</a:t>
            </a:r>
            <a:r>
              <a:rPr lang="en-US" sz="2300" dirty="0">
                <a:solidFill>
                  <a:srgbClr val="000000"/>
                </a:solidFill>
              </a:rPr>
              <a:t>: Una </a:t>
            </a:r>
            <a:r>
              <a:rPr lang="en-US" sz="2300" dirty="0" err="1">
                <a:solidFill>
                  <a:srgbClr val="000000"/>
                </a:solidFill>
              </a:rPr>
              <a:t>organización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que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gestiona</a:t>
            </a:r>
            <a:r>
              <a:rPr lang="en-US" sz="2300" dirty="0">
                <a:solidFill>
                  <a:srgbClr val="000000"/>
                </a:solidFill>
              </a:rPr>
              <a:t> bien </a:t>
            </a:r>
            <a:r>
              <a:rPr lang="en-US" sz="2300" dirty="0" err="1">
                <a:solidFill>
                  <a:srgbClr val="000000"/>
                </a:solidFill>
              </a:rPr>
              <a:t>el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cambio</a:t>
            </a:r>
            <a:r>
              <a:rPr lang="en-US" sz="2300" dirty="0">
                <a:solidFill>
                  <a:srgbClr val="000000"/>
                </a:solidFill>
              </a:rPr>
              <a:t> es </a:t>
            </a:r>
            <a:r>
              <a:rPr lang="en-US" sz="2300" dirty="0" err="1">
                <a:solidFill>
                  <a:srgbClr val="000000"/>
                </a:solidFill>
              </a:rPr>
              <a:t>más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b="1" dirty="0" err="1">
                <a:solidFill>
                  <a:srgbClr val="000000"/>
                </a:solidFill>
              </a:rPr>
              <a:t>ágil</a:t>
            </a:r>
            <a:r>
              <a:rPr lang="en-US" sz="2300" b="1" dirty="0">
                <a:solidFill>
                  <a:srgbClr val="000000"/>
                </a:solidFill>
              </a:rPr>
              <a:t> y flexible</a:t>
            </a:r>
            <a:r>
              <a:rPr lang="en-US" sz="2300" dirty="0">
                <a:solidFill>
                  <a:srgbClr val="000000"/>
                </a:solidFill>
              </a:rPr>
              <a:t>, lo </a:t>
            </a:r>
            <a:r>
              <a:rPr lang="en-US" sz="2300" dirty="0" err="1">
                <a:solidFill>
                  <a:srgbClr val="000000"/>
                </a:solidFill>
              </a:rPr>
              <a:t>que</a:t>
            </a:r>
            <a:r>
              <a:rPr lang="en-US" sz="2300" dirty="0">
                <a:solidFill>
                  <a:srgbClr val="000000"/>
                </a:solidFill>
              </a:rPr>
              <a:t> le </a:t>
            </a:r>
            <a:r>
              <a:rPr lang="en-US" sz="2300" dirty="0" err="1">
                <a:solidFill>
                  <a:srgbClr val="000000"/>
                </a:solidFill>
              </a:rPr>
              <a:t>permite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adaptarse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rápidamente</a:t>
            </a:r>
            <a:r>
              <a:rPr lang="en-US" sz="2300" dirty="0">
                <a:solidFill>
                  <a:srgbClr val="000000"/>
                </a:solidFill>
              </a:rPr>
              <a:t> a </a:t>
            </a:r>
            <a:r>
              <a:rPr lang="en-US" sz="2300" dirty="0" err="1">
                <a:solidFill>
                  <a:srgbClr val="000000"/>
                </a:solidFill>
              </a:rPr>
              <a:t>nuevas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oportunidades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tecnológicas</a:t>
            </a:r>
            <a:r>
              <a:rPr lang="en-US" sz="2300" dirty="0">
                <a:solidFill>
                  <a:srgbClr val="000000"/>
                </a:solidFill>
              </a:rPr>
              <a:t> y </a:t>
            </a:r>
            <a:r>
              <a:rPr lang="en-US" sz="2300" dirty="0" err="1">
                <a:solidFill>
                  <a:srgbClr val="000000"/>
                </a:solidFill>
              </a:rPr>
              <a:t>mantenerse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competitiva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en</a:t>
            </a:r>
            <a:r>
              <a:rPr lang="en-US" sz="2300" dirty="0">
                <a:solidFill>
                  <a:srgbClr val="000000"/>
                </a:solidFill>
              </a:rPr>
              <a:t> un mercado </a:t>
            </a:r>
            <a:r>
              <a:rPr lang="en-US" sz="2300" dirty="0" err="1">
                <a:solidFill>
                  <a:srgbClr val="000000"/>
                </a:solidFill>
              </a:rPr>
              <a:t>en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constante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n-US" sz="2300" dirty="0" err="1">
                <a:solidFill>
                  <a:srgbClr val="000000"/>
                </a:solidFill>
              </a:rPr>
              <a:t>evolución</a:t>
            </a:r>
            <a:r>
              <a:rPr lang="en-US" sz="2300" dirty="0">
                <a:solidFill>
                  <a:srgbClr val="000000"/>
                </a:solidFill>
              </a:rPr>
              <a:t>.</a:t>
            </a:r>
            <a:endParaRPr sz="23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4CADC27-7F79-60D2-F780-3574EDE3B0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2422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E328B3-20C9-F51C-FD96-B54982509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2130425"/>
            <a:ext cx="14088035" cy="1470025"/>
          </a:xfrm>
        </p:spPr>
        <p:txBody>
          <a:bodyPr/>
          <a:lstStyle/>
          <a:p>
            <a:r>
              <a:rPr lang="es-ES" sz="2700" b="1" dirty="0">
                <a:solidFill>
                  <a:srgbClr val="F46524"/>
                </a:solidFill>
                <a:latin typeface="Raleway"/>
                <a:sym typeface="Arial"/>
              </a:rPr>
              <a:t>DOS</a:t>
            </a:r>
            <a:r>
              <a:rPr lang="es-ES" dirty="0"/>
              <a:t> </a:t>
            </a:r>
            <a:r>
              <a:rPr lang="es-ES" sz="2700" b="1" dirty="0">
                <a:solidFill>
                  <a:srgbClr val="F46524"/>
                </a:solidFill>
                <a:latin typeface="Raleway"/>
              </a:rPr>
              <a:t>ACTIVIDADES FUNDAMENTALES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7B6480-7654-4308-0E55-B9996C6E4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599" y="3886200"/>
            <a:ext cx="8238565" cy="1752600"/>
          </a:xfrm>
        </p:spPr>
        <p:txBody>
          <a:bodyPr>
            <a:normAutofit/>
          </a:bodyPr>
          <a:lstStyle/>
          <a:p>
            <a:pPr marL="539750" indent="-514350" algn="l">
              <a:buFont typeface="+mj-lt"/>
              <a:buAutoNum type="arabicPeriod"/>
            </a:pPr>
            <a:r>
              <a:rPr lang="es-ES" dirty="0"/>
              <a:t>Crear una infografía en App </a:t>
            </a:r>
            <a:r>
              <a:rPr lang="es-ES" dirty="0" err="1"/>
              <a:t>Genially</a:t>
            </a:r>
            <a:endParaRPr lang="es-ES" dirty="0"/>
          </a:p>
          <a:p>
            <a:pPr marL="539750" indent="-514350" algn="l">
              <a:buFont typeface="+mj-lt"/>
              <a:buAutoNum type="arabicPeriod"/>
            </a:pPr>
            <a:r>
              <a:rPr lang="es-ES" dirty="0"/>
              <a:t>Plan de Transformación Digital</a:t>
            </a:r>
          </a:p>
        </p:txBody>
      </p:sp>
      <p:sp>
        <p:nvSpPr>
          <p:cNvPr id="4" name="Google Shape;124;p3">
            <a:extLst>
              <a:ext uri="{FF2B5EF4-FFF2-40B4-BE49-F238E27FC236}">
                <a16:creationId xmlns:a16="http://schemas.microsoft.com/office/drawing/2014/main" id="{C86AB9CD-12DA-5005-2645-E4135283AE42}"/>
              </a:ext>
            </a:extLst>
          </p:cNvPr>
          <p:cNvSpPr/>
          <p:nvPr/>
        </p:nvSpPr>
        <p:spPr>
          <a:xfrm rot="-10458419">
            <a:off x="10968003" y="-290486"/>
            <a:ext cx="8456494" cy="3417833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13032E74-D66C-3D46-CE02-5C4D325CA0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2934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5B5AE751-B4BF-211E-49BC-7EA46DEC3C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6400800" cy="1752600"/>
          </a:xfrm>
        </p:spPr>
        <p:txBody>
          <a:bodyPr/>
          <a:lstStyle/>
          <a:p>
            <a:r>
              <a:rPr lang="es-ES" dirty="0"/>
              <a:t>https://</a:t>
            </a:r>
            <a:r>
              <a:rPr lang="es-ES" dirty="0" err="1"/>
              <a:t>genially.com</a:t>
            </a:r>
            <a:r>
              <a:rPr lang="es-ES" dirty="0"/>
              <a:t>/es/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780E3BE-00C9-88CD-B2A2-AEE383E5A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787" y="701749"/>
            <a:ext cx="16377470" cy="8723156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FF8978F-75C5-65C2-F4DC-00629BBE2DE2}"/>
              </a:ext>
            </a:extLst>
          </p:cNvPr>
          <p:cNvSpPr/>
          <p:nvPr/>
        </p:nvSpPr>
        <p:spPr>
          <a:xfrm>
            <a:off x="14366252" y="1391093"/>
            <a:ext cx="1552353" cy="723014"/>
          </a:xfrm>
          <a:prstGeom prst="rect">
            <a:avLst/>
          </a:prstGeom>
          <a:noFill/>
          <a:ln w="793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431BDC68-707F-F1F0-E6C1-C304FE9A5242}"/>
              </a:ext>
            </a:extLst>
          </p:cNvPr>
          <p:cNvCxnSpPr>
            <a:cxnSpLocks/>
          </p:cNvCxnSpPr>
          <p:nvPr/>
        </p:nvCxnSpPr>
        <p:spPr>
          <a:xfrm>
            <a:off x="11227981" y="404037"/>
            <a:ext cx="3138271" cy="987056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96FDA61B-2A24-E500-AA05-AA84AC68C085}"/>
              </a:ext>
            </a:extLst>
          </p:cNvPr>
          <p:cNvSpPr txBox="1"/>
          <p:nvPr/>
        </p:nvSpPr>
        <p:spPr>
          <a:xfrm>
            <a:off x="7304567" y="147751"/>
            <a:ext cx="49973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b="1" dirty="0">
                <a:solidFill>
                  <a:schemeClr val="accent6"/>
                </a:solidFill>
              </a:rPr>
              <a:t>AQUÍ ME REGISTRO</a:t>
            </a:r>
          </a:p>
        </p:txBody>
      </p:sp>
    </p:spTree>
    <p:extLst>
      <p:ext uri="{BB962C8B-B14F-4D97-AF65-F5344CB8AC3E}">
        <p14:creationId xmlns:p14="http://schemas.microsoft.com/office/powerpoint/2010/main" val="4234361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67D19ED-05BA-73CC-3DC7-46DD12AB5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270" y="1356114"/>
            <a:ext cx="14757670" cy="7596499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959943DC-A623-677D-6258-F54366E4C48F}"/>
              </a:ext>
            </a:extLst>
          </p:cNvPr>
          <p:cNvSpPr/>
          <p:nvPr/>
        </p:nvSpPr>
        <p:spPr>
          <a:xfrm>
            <a:off x="8667201" y="5686646"/>
            <a:ext cx="2454455" cy="2542953"/>
          </a:xfrm>
          <a:prstGeom prst="rect">
            <a:avLst/>
          </a:prstGeom>
          <a:noFill/>
          <a:ln w="793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5FECBAD-C857-C0F0-E26A-6D384ECE8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14231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F2183C1-03CB-8867-8B45-974EBCEC6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321" y="1113973"/>
            <a:ext cx="11265629" cy="728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557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2EEEF34E-DB51-32AC-9C65-A674986742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7D59896-A1B5-F69A-44FC-F006C9B1B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9193"/>
            <a:ext cx="17558976" cy="9348614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DBF38CB0-9D32-9522-7313-8949B239D656}"/>
              </a:ext>
            </a:extLst>
          </p:cNvPr>
          <p:cNvSpPr/>
          <p:nvPr/>
        </p:nvSpPr>
        <p:spPr>
          <a:xfrm>
            <a:off x="9144000" y="2029046"/>
            <a:ext cx="978195" cy="723014"/>
          </a:xfrm>
          <a:prstGeom prst="rect">
            <a:avLst/>
          </a:prstGeom>
          <a:noFill/>
          <a:ln w="793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126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hlinkClick r:id="rId2"/>
            <a:extLst>
              <a:ext uri="{FF2B5EF4-FFF2-40B4-BE49-F238E27FC236}">
                <a16:creationId xmlns:a16="http://schemas.microsoft.com/office/drawing/2014/main" id="{E0EA87AE-25F4-B8B3-A65C-BE40F1FB7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811" y="1552353"/>
            <a:ext cx="11627649" cy="5784112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E3B37ECF-D149-E855-ADCC-5C444A706B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3957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30689113c39_0_1656"/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40" name="Google Shape;1240;g30689113c39_0_1656"/>
          <p:cNvSpPr txBox="1"/>
          <p:nvPr/>
        </p:nvSpPr>
        <p:spPr>
          <a:xfrm>
            <a:off x="3218992" y="3668112"/>
            <a:ext cx="10920913" cy="15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800" b="1" dirty="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rPr>
              <a:t>Inteligencia artificial para planificar y visualizar el cambio</a:t>
            </a:r>
            <a:endParaRPr sz="5800" b="1" dirty="0">
              <a:solidFill>
                <a:schemeClr val="accent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8F3ABBF-F66C-7C56-34D6-DFF0ECB2B6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30689113c39_0_1565"/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61" name="Google Shape;1161;g30689113c39_0_1565"/>
          <p:cNvSpPr txBox="1"/>
          <p:nvPr/>
        </p:nvSpPr>
        <p:spPr>
          <a:xfrm>
            <a:off x="3219000" y="1022450"/>
            <a:ext cx="101454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700" b="1" dirty="0">
                <a:solidFill>
                  <a:srgbClr val="F46524"/>
                </a:solidFill>
                <a:latin typeface="Raleway"/>
                <a:ea typeface="Raleway"/>
                <a:cs typeface="Raleway"/>
                <a:sym typeface="Raleway"/>
              </a:rPr>
              <a:t>El cambio organizacional necesita estructura y claridad</a:t>
            </a:r>
            <a:endParaRPr sz="2700" b="1" dirty="0">
              <a:solidFill>
                <a:srgbClr val="F4652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62" name="Google Shape;1162;g30689113c39_0_1565"/>
          <p:cNvSpPr txBox="1"/>
          <p:nvPr/>
        </p:nvSpPr>
        <p:spPr>
          <a:xfrm>
            <a:off x="7260608" y="2581686"/>
            <a:ext cx="9683176" cy="485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300" dirty="0">
                <a:solidFill>
                  <a:schemeClr val="dk1"/>
                </a:solidFill>
              </a:rPr>
              <a:t>Implementar una transformación digital no solo requiere tecnología, sino también una planificación clara del cambio.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300" dirty="0">
                <a:solidFill>
                  <a:schemeClr val="dk1"/>
                </a:solidFill>
              </a:rPr>
              <a:t>La inteligencia artificial puede facilitar este proceso al ofrecer herramientas que ayuden a: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300" dirty="0">
                <a:solidFill>
                  <a:schemeClr val="dk1"/>
                </a:solidFill>
              </a:rPr>
              <a:t>Organizar tareas, equipos y tiempos.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300" dirty="0">
                <a:solidFill>
                  <a:schemeClr val="dk1"/>
                </a:solidFill>
              </a:rPr>
              <a:t>Visualizar procesos de manera sencilla.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300" dirty="0">
                <a:solidFill>
                  <a:schemeClr val="dk1"/>
                </a:solidFill>
              </a:rPr>
              <a:t>Hacer seguimiento de avances y bloqueos.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300" dirty="0">
                <a:solidFill>
                  <a:schemeClr val="dk1"/>
                </a:solidFill>
              </a:rPr>
              <a:t>Esto es especialmente útil en entornos donde los recursos son limitados y la claridad es fundamental para lograr la implicación del equipo.</a:t>
            </a:r>
            <a:endParaRPr sz="2300" dirty="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</p:txBody>
      </p:sp>
      <p:pic>
        <p:nvPicPr>
          <p:cNvPr id="1026" name="Picture 2" descr="Inteligencia Artificial, una oportunidad de crecimiento para empresas |  Tendencias | Portafolio">
            <a:extLst>
              <a:ext uri="{FF2B5EF4-FFF2-40B4-BE49-F238E27FC236}">
                <a16:creationId xmlns:a16="http://schemas.microsoft.com/office/drawing/2014/main" id="{6F4CBF2C-32D6-1DB4-C777-812E0D1025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80" r="19496"/>
          <a:stretch/>
        </p:blipFill>
        <p:spPr bwMode="auto">
          <a:xfrm>
            <a:off x="626336" y="2731890"/>
            <a:ext cx="6146087" cy="4555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9C0B1FE-A919-0F0E-6B65-5035986DB5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43514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30689113c39_0_1565"/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61" name="Google Shape;1161;g30689113c39_0_1565"/>
          <p:cNvSpPr txBox="1"/>
          <p:nvPr/>
        </p:nvSpPr>
        <p:spPr>
          <a:xfrm>
            <a:off x="3219000" y="1022450"/>
            <a:ext cx="101454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700" b="1" dirty="0">
                <a:solidFill>
                  <a:srgbClr val="F46524"/>
                </a:solidFill>
                <a:latin typeface="Raleway"/>
                <a:ea typeface="Raleway"/>
                <a:cs typeface="Raleway"/>
                <a:sym typeface="Raleway"/>
              </a:rPr>
              <a:t>Herramientas visuales para representar el cambio</a:t>
            </a:r>
            <a:endParaRPr sz="2700" b="1" dirty="0">
              <a:solidFill>
                <a:srgbClr val="F4652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62" name="Google Shape;1162;g30689113c39_0_1565"/>
          <p:cNvSpPr txBox="1"/>
          <p:nvPr/>
        </p:nvSpPr>
        <p:spPr>
          <a:xfrm>
            <a:off x="7260608" y="2581686"/>
            <a:ext cx="9683176" cy="485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300" dirty="0">
                <a:solidFill>
                  <a:schemeClr val="dk1"/>
                </a:solidFill>
              </a:rPr>
              <a:t>Las herramientas de diagramación asistida por IA permiten convertir ideas en mapas visuales, facilitando la comprensión del proceso de cambio: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300" b="1" dirty="0">
                <a:solidFill>
                  <a:schemeClr val="dk1"/>
                </a:solidFill>
              </a:rPr>
              <a:t>MIRO con IA: </a:t>
            </a:r>
            <a:r>
              <a:rPr lang="es-ES" sz="2300" dirty="0">
                <a:solidFill>
                  <a:schemeClr val="dk1"/>
                </a:solidFill>
              </a:rPr>
              <a:t>genera mapas mentales, flujos de trabajo y esquemas automáticos a partir de listas de texto.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300" b="1" dirty="0" err="1">
                <a:solidFill>
                  <a:schemeClr val="dk1"/>
                </a:solidFill>
              </a:rPr>
              <a:t>Napkin</a:t>
            </a:r>
            <a:r>
              <a:rPr lang="es-ES" sz="2300" b="1" dirty="0">
                <a:solidFill>
                  <a:schemeClr val="dk1"/>
                </a:solidFill>
              </a:rPr>
              <a:t>: </a:t>
            </a:r>
            <a:r>
              <a:rPr lang="es-ES" sz="2300" dirty="0">
                <a:solidFill>
                  <a:schemeClr val="dk1"/>
                </a:solidFill>
              </a:rPr>
              <a:t>transforma pasos escritos en diagramas visuales listos para compartir.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300" b="1" dirty="0" err="1">
                <a:solidFill>
                  <a:schemeClr val="dk1"/>
                </a:solidFill>
              </a:rPr>
              <a:t>Whimsical</a:t>
            </a:r>
            <a:r>
              <a:rPr lang="es-ES" sz="2300" b="1" dirty="0">
                <a:solidFill>
                  <a:schemeClr val="dk1"/>
                </a:solidFill>
              </a:rPr>
              <a:t> AI: </a:t>
            </a:r>
            <a:r>
              <a:rPr lang="es-ES" sz="2300" dirty="0">
                <a:solidFill>
                  <a:schemeClr val="dk1"/>
                </a:solidFill>
              </a:rPr>
              <a:t>otra alternativa sencilla para esquemas colaborativos y planificación ágil.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300" dirty="0">
                <a:solidFill>
                  <a:schemeClr val="dk1"/>
                </a:solidFill>
              </a:rPr>
              <a:t>Estas soluciones son muy útiles para alinear al equipo, detectar cuellos de botella y explicar procesos de forma clara y visual.</a:t>
            </a: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</p:txBody>
      </p:sp>
      <p:pic>
        <p:nvPicPr>
          <p:cNvPr id="2052" name="Picture 4" descr="Napkin AI Review - The Ultimate Design Hack: Create Stunning Visuals in  Seconds! | by Natalie Saint | Medium">
            <a:extLst>
              <a:ext uri="{FF2B5EF4-FFF2-40B4-BE49-F238E27FC236}">
                <a16:creationId xmlns:a16="http://schemas.microsoft.com/office/drawing/2014/main" id="{77F7AB01-F35D-787A-0C91-0EB7583C6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6462" y="4342274"/>
            <a:ext cx="4446800" cy="160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iro. Colaboración Visual para Equipos Modernos - Grupo IOE">
            <a:extLst>
              <a:ext uri="{FF2B5EF4-FFF2-40B4-BE49-F238E27FC236}">
                <a16:creationId xmlns:a16="http://schemas.microsoft.com/office/drawing/2014/main" id="{1D14DB12-ED33-062C-353D-1DCEAAC85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6608" y="2445000"/>
            <a:ext cx="3404810" cy="1243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84A51A36-9BD0-76FF-E96D-2ECDF27D2B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0495" y="6516011"/>
            <a:ext cx="4010201" cy="130902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6346C57-FFF6-6590-A710-CA26820E7B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80729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30689113c39_0_1565"/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61" name="Google Shape;1161;g30689113c39_0_1565"/>
          <p:cNvSpPr txBox="1"/>
          <p:nvPr/>
        </p:nvSpPr>
        <p:spPr>
          <a:xfrm>
            <a:off x="3219000" y="1022450"/>
            <a:ext cx="101454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700" b="1" dirty="0">
                <a:solidFill>
                  <a:srgbClr val="F46524"/>
                </a:solidFill>
                <a:latin typeface="Raleway"/>
                <a:ea typeface="Raleway"/>
                <a:cs typeface="Raleway"/>
                <a:sym typeface="Raleway"/>
              </a:rPr>
              <a:t>IA para estructurar y gestionar proyectos de cambio</a:t>
            </a:r>
            <a:endParaRPr sz="2700" b="1" dirty="0">
              <a:solidFill>
                <a:srgbClr val="F4652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62" name="Google Shape;1162;g30689113c39_0_1565"/>
          <p:cNvSpPr txBox="1"/>
          <p:nvPr/>
        </p:nvSpPr>
        <p:spPr>
          <a:xfrm>
            <a:off x="5470450" y="2375261"/>
            <a:ext cx="11297354" cy="485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300" dirty="0">
                <a:solidFill>
                  <a:schemeClr val="dk1"/>
                </a:solidFill>
              </a:rPr>
              <a:t>Además de visualizar, la IA puede ayudarte a estructurar el cambio como un proyecto real y gestionable.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300" dirty="0">
                <a:solidFill>
                  <a:schemeClr val="dk1"/>
                </a:solidFill>
              </a:rPr>
              <a:t>Herramientas como Asana con IA permiten: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300" dirty="0">
                <a:solidFill>
                  <a:schemeClr val="dk1"/>
                </a:solidFill>
              </a:rPr>
              <a:t>Crear automáticamente tareas, fases y responsables a partir de un objetivo general.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300" dirty="0">
                <a:solidFill>
                  <a:schemeClr val="dk1"/>
                </a:solidFill>
              </a:rPr>
              <a:t>Establecer tiempos estimados y asignaciones.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300" dirty="0">
                <a:solidFill>
                  <a:schemeClr val="dk1"/>
                </a:solidFill>
              </a:rPr>
              <a:t>Redactar descripciones, subtareas y criterios de éxito con ayuda del asistente de IA.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300" dirty="0">
                <a:solidFill>
                  <a:schemeClr val="dk1"/>
                </a:solidFill>
              </a:rPr>
              <a:t>Visualizar el progreso en múltiples vistas: lista, tablero Kanban, cronograma.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300" dirty="0">
                <a:solidFill>
                  <a:schemeClr val="dk1"/>
                </a:solidFill>
              </a:rPr>
              <a:t>Esto permite convertir una visión de cambio en un plan realista, claro y compartido.</a:t>
            </a:r>
            <a:endParaRPr sz="23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</p:txBody>
      </p:sp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A86F5022-6A24-83FE-15C0-0477563173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543"/>
          <a:stretch/>
        </p:blipFill>
        <p:spPr>
          <a:xfrm>
            <a:off x="518431" y="3147839"/>
            <a:ext cx="4667718" cy="426894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AE03027-9281-6E26-ABA1-1774B79D99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45488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30689113c39_0_1565"/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61" name="Google Shape;1161;g30689113c39_0_1565"/>
          <p:cNvSpPr txBox="1"/>
          <p:nvPr/>
        </p:nvSpPr>
        <p:spPr>
          <a:xfrm>
            <a:off x="3219000" y="1022450"/>
            <a:ext cx="101454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700" b="1" dirty="0">
                <a:solidFill>
                  <a:srgbClr val="F46524"/>
                </a:solidFill>
                <a:latin typeface="Raleway"/>
                <a:ea typeface="Raleway"/>
                <a:cs typeface="Raleway"/>
                <a:sym typeface="Raleway"/>
              </a:rPr>
              <a:t>Liderar el cambio con ayuda inteligente</a:t>
            </a:r>
            <a:endParaRPr sz="2700" b="1" dirty="0">
              <a:solidFill>
                <a:srgbClr val="F4652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62" name="Google Shape;1162;g30689113c39_0_1565"/>
          <p:cNvSpPr txBox="1"/>
          <p:nvPr/>
        </p:nvSpPr>
        <p:spPr>
          <a:xfrm>
            <a:off x="1597844" y="2651035"/>
            <a:ext cx="14664720" cy="485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300" dirty="0">
                <a:solidFill>
                  <a:schemeClr val="dk1"/>
                </a:solidFill>
              </a:rPr>
              <a:t>Liderar un cambio organizacional no es solo cuestión de tener ideas, sino de convertirlas en acciones concretas y compartidas.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300" dirty="0">
                <a:solidFill>
                  <a:schemeClr val="dk1"/>
                </a:solidFill>
              </a:rPr>
              <a:t>La inteligencia artificial: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300" dirty="0">
                <a:solidFill>
                  <a:schemeClr val="dk1"/>
                </a:solidFill>
              </a:rPr>
              <a:t>Aporta estructura desde el primer momento.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300" dirty="0">
                <a:solidFill>
                  <a:schemeClr val="dk1"/>
                </a:solidFill>
              </a:rPr>
              <a:t>Mejora la comunicación visual y la planificación.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300" dirty="0">
                <a:solidFill>
                  <a:schemeClr val="dk1"/>
                </a:solidFill>
              </a:rPr>
              <a:t>Aumenta la eficiencia en el seguimiento y la coordinación.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300" dirty="0">
                <a:solidFill>
                  <a:schemeClr val="dk1"/>
                </a:solidFill>
              </a:rPr>
              <a:t>Reduce la carga operativa de quienes lideran el cambio.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300" dirty="0">
                <a:solidFill>
                  <a:schemeClr val="dk1"/>
                </a:solidFill>
              </a:rPr>
              <a:t>Integrar estas herramientas ayuda a las organizaciones a avanzar con más claridad, menor resistencia y mejores resultados.</a:t>
            </a: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603AE82-FADE-54BE-4811-0FF07141EB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59062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1" name="Google Shape;1231;g30689113c39_0_1656"/>
          <p:cNvGrpSpPr/>
          <p:nvPr/>
        </p:nvGrpSpPr>
        <p:grpSpPr>
          <a:xfrm>
            <a:off x="1356728" y="8545495"/>
            <a:ext cx="15574467" cy="1502997"/>
            <a:chOff x="0" y="-47625"/>
            <a:chExt cx="2269338" cy="219000"/>
          </a:xfrm>
        </p:grpSpPr>
        <p:sp>
          <p:nvSpPr>
            <p:cNvPr id="1232" name="Google Shape;1232;g30689113c39_0_1656"/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233" name="Google Shape;1233;g30689113c39_0_1656"/>
            <p:cNvSpPr txBox="1"/>
            <p:nvPr/>
          </p:nvSpPr>
          <p:spPr>
            <a:xfrm>
              <a:off x="0" y="-47625"/>
              <a:ext cx="22692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9" name="Google Shape;1239;g30689113c39_0_1656"/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40" name="Google Shape;1240;g30689113c39_0_1656"/>
          <p:cNvSpPr txBox="1"/>
          <p:nvPr/>
        </p:nvSpPr>
        <p:spPr>
          <a:xfrm>
            <a:off x="4923425" y="4372500"/>
            <a:ext cx="8296800" cy="15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 b="1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rPr>
              <a:t>El plan de transformación digital IV: el plan de acción  </a:t>
            </a:r>
            <a:endParaRPr sz="5800" b="1">
              <a:solidFill>
                <a:schemeClr val="accent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049F4F7-758E-0F4B-159B-E2B211E923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069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9"/>
          <p:cNvPicPr preferRelativeResize="0"/>
          <p:nvPr/>
        </p:nvPicPr>
        <p:blipFill rotWithShape="1">
          <a:blip r:embed="rId3">
            <a:alphaModFix/>
          </a:blip>
          <a:srcRect l="9514" r="9513"/>
          <a:stretch/>
        </p:blipFill>
        <p:spPr>
          <a:xfrm>
            <a:off x="-18302" y="1"/>
            <a:ext cx="8510300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9"/>
          <p:cNvSpPr txBox="1">
            <a:spLocks noGrp="1"/>
          </p:cNvSpPr>
          <p:nvPr>
            <p:ph type="title"/>
          </p:nvPr>
        </p:nvSpPr>
        <p:spPr>
          <a:xfrm>
            <a:off x="531000" y="2595724"/>
            <a:ext cx="7357200" cy="29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br>
              <a:rPr lang="es" sz="7000">
                <a:solidFill>
                  <a:schemeClr val="lt1"/>
                </a:solidFill>
              </a:rPr>
            </a:br>
            <a:r>
              <a:rPr lang="es" sz="7000">
                <a:solidFill>
                  <a:schemeClr val="lt1"/>
                </a:solidFill>
              </a:rPr>
              <a:t>Gestionando el Cambio</a:t>
            </a:r>
            <a:endParaRPr sz="7000">
              <a:solidFill>
                <a:schemeClr val="lt1"/>
              </a:solidFill>
            </a:endParaRPr>
          </a:p>
        </p:txBody>
      </p:sp>
      <p:sp>
        <p:nvSpPr>
          <p:cNvPr id="69" name="Google Shape;69;p19"/>
          <p:cNvSpPr txBox="1">
            <a:spLocks noGrp="1"/>
          </p:cNvSpPr>
          <p:nvPr>
            <p:ph type="body" idx="2"/>
          </p:nvPr>
        </p:nvSpPr>
        <p:spPr>
          <a:xfrm>
            <a:off x="8766976" y="1773348"/>
            <a:ext cx="9246600" cy="70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571500" indent="-342900">
              <a:buNone/>
            </a:pPr>
            <a:endParaRPr b="1" dirty="0"/>
          </a:p>
          <a:p>
            <a:pPr marL="571500" indent="-571500"/>
            <a:r>
              <a:rPr lang="es" b="1" dirty="0"/>
              <a:t>Objetivos y KPI’s: </a:t>
            </a:r>
            <a:r>
              <a:rPr lang="es" dirty="0"/>
              <a:t>define los objetivos a alcanzar a corto y medio plazo e indicadores de medición</a:t>
            </a:r>
            <a:endParaRPr dirty="0"/>
          </a:p>
          <a:p>
            <a:pPr marL="571500" indent="-342900">
              <a:buNone/>
            </a:pPr>
            <a:endParaRPr dirty="0"/>
          </a:p>
          <a:p>
            <a:pPr marL="571500" indent="-571500"/>
            <a:r>
              <a:rPr lang="es" b="1" dirty="0"/>
              <a:t>Plan de Acción: </a:t>
            </a:r>
            <a:endParaRPr dirty="0"/>
          </a:p>
          <a:p>
            <a:pPr marL="1485900" lvl="1" indent="-571500"/>
            <a:r>
              <a:rPr lang="es" sz="2400" b="1" dirty="0"/>
              <a:t>Matriz de priorización de iniciativas: </a:t>
            </a:r>
            <a:r>
              <a:rPr lang="es" sz="2400" dirty="0"/>
              <a:t>identifica aquéllas iniciativas de bajo coste/esfuerzo y alto impacto (“</a:t>
            </a:r>
            <a:r>
              <a:rPr lang="es" sz="2400" i="1" dirty="0"/>
              <a:t>quick-win</a:t>
            </a:r>
            <a:r>
              <a:rPr lang="es" sz="2400" dirty="0"/>
              <a:t>s”)</a:t>
            </a:r>
            <a:endParaRPr dirty="0"/>
          </a:p>
          <a:p>
            <a:pPr marL="1485900" lvl="1" indent="-571500"/>
            <a:r>
              <a:rPr lang="es" sz="2400" b="1" dirty="0"/>
              <a:t>Plan de Actuaciones</a:t>
            </a:r>
            <a:r>
              <a:rPr lang="es" sz="2400" dirty="0"/>
              <a:t>: establece todas las iniciativas, tareas, plazos, responsables y presupuestos de las acciones a desarrollar</a:t>
            </a:r>
            <a:endParaRPr dirty="0"/>
          </a:p>
          <a:p>
            <a:pPr marL="1485900" lvl="1" indent="-571500"/>
            <a:r>
              <a:rPr lang="es" sz="2400" b="1" dirty="0"/>
              <a:t>Inversión necesaria </a:t>
            </a:r>
            <a:r>
              <a:rPr lang="es" sz="2400" dirty="0"/>
              <a:t>a corto, medio y largo plazo</a:t>
            </a:r>
            <a:endParaRPr sz="1400" dirty="0"/>
          </a:p>
          <a:p>
            <a:pPr indent="-457200">
              <a:buSzPts val="1200"/>
              <a:buNone/>
            </a:pPr>
            <a:endParaRPr sz="2200" dirty="0"/>
          </a:p>
          <a:p>
            <a:pPr marL="571500" indent="-571500"/>
            <a:r>
              <a:rPr lang="es" b="1" dirty="0"/>
              <a:t>Constitución </a:t>
            </a:r>
            <a:r>
              <a:rPr lang="es" dirty="0"/>
              <a:t>y formación del </a:t>
            </a:r>
            <a:r>
              <a:rPr lang="es" b="1" dirty="0"/>
              <a:t>equipo </a:t>
            </a:r>
            <a:r>
              <a:rPr lang="es" dirty="0"/>
              <a:t>que liderará el cambio</a:t>
            </a:r>
            <a:endParaRPr dirty="0"/>
          </a:p>
          <a:p>
            <a:pPr marL="571500" indent="-342900">
              <a:buNone/>
            </a:pPr>
            <a:endParaRPr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>
            <a:spLocks noGrp="1"/>
          </p:cNvSpPr>
          <p:nvPr>
            <p:ph type="title"/>
          </p:nvPr>
        </p:nvSpPr>
        <p:spPr>
          <a:xfrm>
            <a:off x="8212302" y="4650190"/>
            <a:ext cx="3628200" cy="7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r>
              <a:rPr lang="es" sz="3600" dirty="0"/>
              <a:t>Junio de 20XX</a:t>
            </a:r>
            <a:endParaRPr sz="3600" dirty="0"/>
          </a:p>
        </p:txBody>
      </p:sp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>
            <a:off x="943800" y="1309524"/>
            <a:ext cx="16444200" cy="15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Autofit/>
          </a:bodyPr>
          <a:lstStyle/>
          <a:p>
            <a:r>
              <a:rPr lang="es" sz="5600" dirty="0">
                <a:solidFill>
                  <a:schemeClr val="bg1"/>
                </a:solidFill>
              </a:rPr>
              <a:t>Objetivos</a:t>
            </a:r>
            <a:r>
              <a:rPr lang="es" sz="5600" i="1" dirty="0">
                <a:solidFill>
                  <a:schemeClr val="bg1"/>
                </a:solidFill>
              </a:rPr>
              <a:t> y </a:t>
            </a:r>
            <a:r>
              <a:rPr lang="es" sz="5600" dirty="0">
                <a:solidFill>
                  <a:schemeClr val="bg1"/>
                </a:solidFill>
              </a:rPr>
              <a:t>KPI’s</a:t>
            </a:r>
            <a:endParaRPr sz="5600" dirty="0">
              <a:solidFill>
                <a:schemeClr val="bg1"/>
              </a:solidFill>
            </a:endParaRP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s" sz="2800" b="1" i="1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Establece objetivos concretos y medibles (SMART), conoce lo que se interpone en tu camino y lo que podría ayudarte a alcanzar tus objetivos y divide tus objetivos en hitos cortos para que no sean tan abrumadores</a:t>
            </a:r>
            <a:endParaRPr sz="2800" b="1" i="1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" name="Google Shape;76;p20"/>
          <p:cNvCxnSpPr/>
          <p:nvPr/>
        </p:nvCxnSpPr>
        <p:spPr>
          <a:xfrm rot="10800000">
            <a:off x="1012628" y="4926722"/>
            <a:ext cx="0" cy="167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oval" w="med" len="med"/>
          </a:ln>
        </p:spPr>
      </p:cxnSp>
      <p:sp>
        <p:nvSpPr>
          <p:cNvPr id="77" name="Google Shape;77;p20"/>
          <p:cNvSpPr txBox="1">
            <a:spLocks noGrp="1"/>
          </p:cNvSpPr>
          <p:nvPr>
            <p:ph type="title"/>
          </p:nvPr>
        </p:nvSpPr>
        <p:spPr>
          <a:xfrm>
            <a:off x="1106752" y="4650166"/>
            <a:ext cx="3628200" cy="7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r>
              <a:rPr lang="es" sz="3600"/>
              <a:t>Enero de 20XX</a:t>
            </a:r>
            <a:endParaRPr sz="3600"/>
          </a:p>
        </p:txBody>
      </p:sp>
      <p:sp>
        <p:nvSpPr>
          <p:cNvPr id="78" name="Google Shape;78;p20"/>
          <p:cNvSpPr txBox="1">
            <a:spLocks noGrp="1"/>
          </p:cNvSpPr>
          <p:nvPr>
            <p:ph type="body" idx="1"/>
          </p:nvPr>
        </p:nvSpPr>
        <p:spPr>
          <a:xfrm>
            <a:off x="1106750" y="5193642"/>
            <a:ext cx="5131800" cy="11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indent="0">
              <a:spcAft>
                <a:spcPts val="3200"/>
              </a:spcAft>
              <a:buNone/>
            </a:pPr>
            <a:r>
              <a:rPr lang="es" sz="2400" dirty="0">
                <a:solidFill>
                  <a:schemeClr val="dk2"/>
                </a:solidFill>
              </a:rPr>
              <a:t>Objetivo: &lt;Escribe aquí tu texto&gt; KPI: &lt;Escribe aquí tu texto&gt;</a:t>
            </a:r>
            <a:endParaRPr sz="2400" dirty="0">
              <a:solidFill>
                <a:schemeClr val="dk2"/>
              </a:solidFill>
            </a:endParaRPr>
          </a:p>
        </p:txBody>
      </p:sp>
      <p:cxnSp>
        <p:nvCxnSpPr>
          <p:cNvPr id="79" name="Google Shape;79;p20"/>
          <p:cNvCxnSpPr/>
          <p:nvPr/>
        </p:nvCxnSpPr>
        <p:spPr>
          <a:xfrm>
            <a:off x="3880828" y="7371800"/>
            <a:ext cx="0" cy="167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oval" w="med" len="med"/>
          </a:ln>
        </p:spPr>
      </p:cxnSp>
      <p:sp>
        <p:nvSpPr>
          <p:cNvPr id="80" name="Google Shape;80;p20"/>
          <p:cNvSpPr txBox="1">
            <a:spLocks noGrp="1"/>
          </p:cNvSpPr>
          <p:nvPr>
            <p:ph type="title"/>
          </p:nvPr>
        </p:nvSpPr>
        <p:spPr>
          <a:xfrm>
            <a:off x="3974924" y="8570192"/>
            <a:ext cx="4237200" cy="7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r>
              <a:rPr lang="es" sz="3600"/>
              <a:t>Marzo de 20XX</a:t>
            </a:r>
            <a:endParaRPr sz="3600"/>
          </a:p>
        </p:txBody>
      </p:sp>
      <p:sp>
        <p:nvSpPr>
          <p:cNvPr id="81" name="Google Shape;81;p20"/>
          <p:cNvSpPr txBox="1">
            <a:spLocks noGrp="1"/>
          </p:cNvSpPr>
          <p:nvPr>
            <p:ph type="body" idx="1"/>
          </p:nvPr>
        </p:nvSpPr>
        <p:spPr>
          <a:xfrm>
            <a:off x="3974952" y="9186802"/>
            <a:ext cx="4894800" cy="11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indent="0">
              <a:spcAft>
                <a:spcPts val="3200"/>
              </a:spcAft>
              <a:buNone/>
            </a:pPr>
            <a:r>
              <a:rPr lang="es" sz="2400">
                <a:solidFill>
                  <a:schemeClr val="dk2"/>
                </a:solidFill>
              </a:rPr>
              <a:t>Objetivo: &lt;Escribe aquí tu texto&gt; KPI: &lt;Escribe aquí tu texto&gt;</a:t>
            </a:r>
            <a:endParaRPr/>
          </a:p>
        </p:txBody>
      </p:sp>
      <p:cxnSp>
        <p:nvCxnSpPr>
          <p:cNvPr id="82" name="Google Shape;82;p20"/>
          <p:cNvCxnSpPr/>
          <p:nvPr/>
        </p:nvCxnSpPr>
        <p:spPr>
          <a:xfrm rot="10800000">
            <a:off x="8118178" y="4912522"/>
            <a:ext cx="0" cy="167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oval" w="med" len="med"/>
          </a:ln>
        </p:spPr>
      </p:cxnSp>
      <p:sp>
        <p:nvSpPr>
          <p:cNvPr id="83" name="Google Shape;83;p20"/>
          <p:cNvSpPr txBox="1">
            <a:spLocks noGrp="1"/>
          </p:cNvSpPr>
          <p:nvPr>
            <p:ph type="body" idx="1"/>
          </p:nvPr>
        </p:nvSpPr>
        <p:spPr>
          <a:xfrm>
            <a:off x="8212300" y="5193666"/>
            <a:ext cx="4735800" cy="11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indent="0">
              <a:spcAft>
                <a:spcPts val="3200"/>
              </a:spcAft>
              <a:buNone/>
            </a:pPr>
            <a:r>
              <a:rPr lang="es" sz="2400">
                <a:solidFill>
                  <a:schemeClr val="dk2"/>
                </a:solidFill>
              </a:rPr>
              <a:t>Objetivo: &lt;Escribe aquí tu texto&gt; KPI: &lt;Escribe aquí tu texto&gt;</a:t>
            </a:r>
            <a:endParaRPr/>
          </a:p>
        </p:txBody>
      </p:sp>
      <p:cxnSp>
        <p:nvCxnSpPr>
          <p:cNvPr id="84" name="Google Shape;84;p20"/>
          <p:cNvCxnSpPr/>
          <p:nvPr/>
        </p:nvCxnSpPr>
        <p:spPr>
          <a:xfrm>
            <a:off x="9567478" y="7371834"/>
            <a:ext cx="0" cy="167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oval" w="med" len="med"/>
          </a:ln>
        </p:spPr>
      </p:cxnSp>
      <p:sp>
        <p:nvSpPr>
          <p:cNvPr id="85" name="Google Shape;85;p20"/>
          <p:cNvSpPr txBox="1">
            <a:spLocks noGrp="1"/>
          </p:cNvSpPr>
          <p:nvPr>
            <p:ph type="title"/>
          </p:nvPr>
        </p:nvSpPr>
        <p:spPr>
          <a:xfrm>
            <a:off x="9661602" y="8563624"/>
            <a:ext cx="3628200" cy="7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r>
              <a:rPr lang="es" sz="3600"/>
              <a:t>Julio de 20XX</a:t>
            </a:r>
            <a:endParaRPr sz="3600"/>
          </a:p>
        </p:txBody>
      </p:sp>
      <p:sp>
        <p:nvSpPr>
          <p:cNvPr id="86" name="Google Shape;86;p20"/>
          <p:cNvSpPr txBox="1">
            <a:spLocks noGrp="1"/>
          </p:cNvSpPr>
          <p:nvPr>
            <p:ph type="body" idx="1"/>
          </p:nvPr>
        </p:nvSpPr>
        <p:spPr>
          <a:xfrm>
            <a:off x="9661600" y="9180252"/>
            <a:ext cx="4894800" cy="11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indent="0">
              <a:spcAft>
                <a:spcPts val="3200"/>
              </a:spcAft>
              <a:buNone/>
            </a:pPr>
            <a:r>
              <a:rPr lang="es" sz="2400">
                <a:solidFill>
                  <a:schemeClr val="dk2"/>
                </a:solidFill>
              </a:rPr>
              <a:t>Objetivo: &lt;Escribe aquí tu texto&gt; KPI: &lt;Escribe aquí tu texto&gt;</a:t>
            </a:r>
            <a:endParaRPr/>
          </a:p>
        </p:txBody>
      </p:sp>
      <p:cxnSp>
        <p:nvCxnSpPr>
          <p:cNvPr id="87" name="Google Shape;87;p20"/>
          <p:cNvCxnSpPr/>
          <p:nvPr/>
        </p:nvCxnSpPr>
        <p:spPr>
          <a:xfrm rot="10800000">
            <a:off x="13814090" y="4912522"/>
            <a:ext cx="0" cy="167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oval" w="med" len="med"/>
          </a:ln>
        </p:spPr>
      </p:cxnSp>
      <p:sp>
        <p:nvSpPr>
          <p:cNvPr id="88" name="Google Shape;88;p20"/>
          <p:cNvSpPr txBox="1">
            <a:spLocks noGrp="1"/>
          </p:cNvSpPr>
          <p:nvPr>
            <p:ph type="title"/>
          </p:nvPr>
        </p:nvSpPr>
        <p:spPr>
          <a:xfrm>
            <a:off x="13908178" y="4650168"/>
            <a:ext cx="4032600" cy="7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r>
              <a:rPr lang="es" sz="3600"/>
              <a:t>Octubre de 20XX</a:t>
            </a:r>
            <a:endParaRPr sz="3600"/>
          </a:p>
        </p:txBody>
      </p:sp>
      <p:sp>
        <p:nvSpPr>
          <p:cNvPr id="89" name="Google Shape;89;p20"/>
          <p:cNvSpPr txBox="1">
            <a:spLocks noGrp="1"/>
          </p:cNvSpPr>
          <p:nvPr>
            <p:ph type="body" idx="1"/>
          </p:nvPr>
        </p:nvSpPr>
        <p:spPr>
          <a:xfrm>
            <a:off x="13670456" y="5193666"/>
            <a:ext cx="4735800" cy="11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indent="0">
              <a:spcAft>
                <a:spcPts val="3200"/>
              </a:spcAft>
              <a:buNone/>
            </a:pPr>
            <a:r>
              <a:rPr lang="es" sz="2400">
                <a:solidFill>
                  <a:schemeClr val="dk2"/>
                </a:solidFill>
              </a:rPr>
              <a:t>Objetivo: &lt;Escribe aquí tu texto&gt; KPI: &lt;Escribe aquí tu texto&gt;</a:t>
            </a:r>
            <a:endParaRPr/>
          </a:p>
        </p:txBody>
      </p:sp>
      <p:graphicFrame>
        <p:nvGraphicFramePr>
          <p:cNvPr id="90" name="Google Shape;90;p20"/>
          <p:cNvGraphicFramePr/>
          <p:nvPr>
            <p:extLst>
              <p:ext uri="{D42A27DB-BD31-4B8C-83A1-F6EECF244321}">
                <p14:modId xmlns:p14="http://schemas.microsoft.com/office/powerpoint/2010/main" val="1210432282"/>
              </p:ext>
            </p:extLst>
          </p:nvPr>
        </p:nvGraphicFramePr>
        <p:xfrm>
          <a:off x="298728" y="6588322"/>
          <a:ext cx="17045400" cy="7924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2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0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20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20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204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204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204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204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7924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2800" u="none" strike="noStrike" cap="none">
                          <a:solidFill>
                            <a:srgbClr val="FFFFFF"/>
                          </a:solidFill>
                        </a:rPr>
                        <a:t>Ene</a:t>
                      </a:r>
                      <a:endParaRPr sz="28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182850" marR="182850" marT="182850" marB="18285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2800" u="none" strike="noStrike" cap="none">
                          <a:solidFill>
                            <a:srgbClr val="FFFFFF"/>
                          </a:solidFill>
                        </a:rPr>
                        <a:t>Feb</a:t>
                      </a:r>
                      <a:endParaRPr sz="28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182850" marR="182850" marT="182850" marB="18285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2800" u="none" strike="noStrike" cap="none">
                          <a:solidFill>
                            <a:srgbClr val="FFFFFF"/>
                          </a:solidFill>
                        </a:rPr>
                        <a:t>Mar</a:t>
                      </a:r>
                      <a:endParaRPr sz="28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182850" marR="182850" marT="182850" marB="18285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2800" u="none" strike="noStrike" cap="none">
                          <a:solidFill>
                            <a:srgbClr val="FFFFFF"/>
                          </a:solidFill>
                        </a:rPr>
                        <a:t>Abr</a:t>
                      </a:r>
                      <a:endParaRPr sz="28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182850" marR="182850" marT="182850" marB="18285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2800" u="none" strike="noStrike" cap="none">
                          <a:solidFill>
                            <a:srgbClr val="FFFFFF"/>
                          </a:solidFill>
                        </a:rPr>
                        <a:t>May</a:t>
                      </a:r>
                      <a:endParaRPr sz="28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182850" marR="182850" marT="182850" marB="18285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2800" u="none" strike="noStrike" cap="none">
                          <a:solidFill>
                            <a:srgbClr val="FFFFFF"/>
                          </a:solidFill>
                        </a:rPr>
                        <a:t>Jun</a:t>
                      </a:r>
                      <a:endParaRPr sz="28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182850" marR="182850" marT="182850" marB="18285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2800" u="none" strike="noStrike" cap="none">
                          <a:solidFill>
                            <a:srgbClr val="FFFFFF"/>
                          </a:solidFill>
                        </a:rPr>
                        <a:t>Jul</a:t>
                      </a:r>
                      <a:endParaRPr sz="28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182850" marR="182850" marT="182850" marB="18285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2800" u="none" strike="noStrike" cap="none">
                          <a:solidFill>
                            <a:srgbClr val="FFFFFF"/>
                          </a:solidFill>
                        </a:rPr>
                        <a:t>Ago</a:t>
                      </a:r>
                      <a:endParaRPr sz="28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182850" marR="182850" marT="182850" marB="18285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2800" u="none" strike="noStrike" cap="none">
                          <a:solidFill>
                            <a:srgbClr val="FFFFFF"/>
                          </a:solidFill>
                        </a:rPr>
                        <a:t>Sept</a:t>
                      </a:r>
                      <a:endParaRPr sz="28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182850" marR="182850" marT="182850" marB="18285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2800" u="none" strike="noStrike" cap="none">
                          <a:solidFill>
                            <a:srgbClr val="FFFFFF"/>
                          </a:solidFill>
                        </a:rPr>
                        <a:t>Oct</a:t>
                      </a:r>
                      <a:endParaRPr sz="28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182850" marR="182850" marT="182850" marB="18285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2800" u="none" strike="noStrike" cap="none">
                          <a:solidFill>
                            <a:srgbClr val="FFFFFF"/>
                          </a:solidFill>
                        </a:rPr>
                        <a:t>Nov</a:t>
                      </a:r>
                      <a:endParaRPr sz="28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182850" marR="182850" marT="182850" marB="18285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2800" u="none" strike="noStrike" cap="none" dirty="0">
                          <a:solidFill>
                            <a:srgbClr val="FFFFFF"/>
                          </a:solidFill>
                        </a:rPr>
                        <a:t>Dic</a:t>
                      </a:r>
                      <a:endParaRPr sz="2800" u="none" strike="noStrike" cap="none" dirty="0">
                        <a:solidFill>
                          <a:srgbClr val="FFFFFF"/>
                        </a:solidFill>
                      </a:endParaRPr>
                    </a:p>
                  </a:txBody>
                  <a:tcPr marL="182850" marR="182850" marT="182850" marB="18285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1" name="Google Shape;91;p20"/>
          <p:cNvSpPr txBox="1"/>
          <p:nvPr/>
        </p:nvSpPr>
        <p:spPr>
          <a:xfrm>
            <a:off x="118872" y="3609868"/>
            <a:ext cx="9235200" cy="73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spAutoFit/>
          </a:bodyPr>
          <a:lstStyle/>
          <a:p>
            <a:pPr>
              <a:buSzPts val="1800"/>
            </a:pPr>
            <a:r>
              <a:rPr lang="es" sz="3600" b="1"/>
              <a:t>Ejemplo:</a:t>
            </a:r>
            <a:endParaRPr sz="2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30689113c39_0_1642"/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54" name="Google Shape;1254;g30689113c39_0_1642"/>
          <p:cNvSpPr txBox="1"/>
          <p:nvPr/>
        </p:nvSpPr>
        <p:spPr>
          <a:xfrm>
            <a:off x="3219000" y="1022450"/>
            <a:ext cx="101454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F46524"/>
                </a:solidFill>
                <a:latin typeface="Raleway"/>
                <a:ea typeface="Raleway"/>
                <a:cs typeface="Raleway"/>
                <a:sym typeface="Raleway"/>
              </a:rPr>
              <a:t>Objetivos a Corto Plazo e Indicadores de Éxito</a:t>
            </a:r>
            <a:endParaRPr sz="2700" b="1">
              <a:solidFill>
                <a:srgbClr val="F4652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55" name="Google Shape;1255;g30689113c39_0_1642"/>
          <p:cNvSpPr txBox="1"/>
          <p:nvPr/>
        </p:nvSpPr>
        <p:spPr>
          <a:xfrm>
            <a:off x="3025875" y="2078700"/>
            <a:ext cx="127650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 dirty="0" err="1">
                <a:solidFill>
                  <a:schemeClr val="dk1"/>
                </a:solidFill>
              </a:rPr>
              <a:t>Objetivos</a:t>
            </a:r>
            <a:r>
              <a:rPr lang="en-US" sz="2300" b="1" dirty="0">
                <a:solidFill>
                  <a:schemeClr val="dk1"/>
                </a:solidFill>
              </a:rPr>
              <a:t> a Corto </a:t>
            </a:r>
            <a:r>
              <a:rPr lang="en-US" sz="2300" b="1" dirty="0" err="1">
                <a:solidFill>
                  <a:schemeClr val="dk1"/>
                </a:solidFill>
              </a:rPr>
              <a:t>Plazo</a:t>
            </a:r>
            <a:endParaRPr sz="2300" b="1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b="1" dirty="0" err="1">
                <a:solidFill>
                  <a:schemeClr val="dk1"/>
                </a:solidFill>
              </a:rPr>
              <a:t>Mejorar</a:t>
            </a:r>
            <a:r>
              <a:rPr lang="en-US" sz="2300" b="1" dirty="0">
                <a:solidFill>
                  <a:schemeClr val="dk1"/>
                </a:solidFill>
              </a:rPr>
              <a:t> la </a:t>
            </a:r>
            <a:r>
              <a:rPr lang="en-US" sz="2300" b="1" dirty="0" err="1">
                <a:solidFill>
                  <a:schemeClr val="dk1"/>
                </a:solidFill>
              </a:rPr>
              <a:t>eficiencia</a:t>
            </a:r>
            <a:r>
              <a:rPr lang="en-US" sz="2300" b="1" dirty="0">
                <a:solidFill>
                  <a:schemeClr val="dk1"/>
                </a:solidFill>
              </a:rPr>
              <a:t> </a:t>
            </a:r>
            <a:r>
              <a:rPr lang="en-US" sz="2300" b="1" dirty="0" err="1">
                <a:solidFill>
                  <a:schemeClr val="dk1"/>
                </a:solidFill>
              </a:rPr>
              <a:t>operativa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mediante</a:t>
            </a:r>
            <a:r>
              <a:rPr lang="en-US" sz="2300" dirty="0">
                <a:solidFill>
                  <a:schemeClr val="dk1"/>
                </a:solidFill>
              </a:rPr>
              <a:t> la </a:t>
            </a:r>
            <a:r>
              <a:rPr lang="en-US" sz="2300" dirty="0" err="1">
                <a:solidFill>
                  <a:schemeClr val="dk1"/>
                </a:solidFill>
              </a:rPr>
              <a:t>implementación</a:t>
            </a:r>
            <a:r>
              <a:rPr lang="en-US" sz="2300" dirty="0">
                <a:solidFill>
                  <a:schemeClr val="dk1"/>
                </a:solidFill>
              </a:rPr>
              <a:t> de </a:t>
            </a:r>
            <a:r>
              <a:rPr lang="en-US" sz="2300" dirty="0" err="1">
                <a:solidFill>
                  <a:schemeClr val="dk1"/>
                </a:solidFill>
              </a:rPr>
              <a:t>herramientas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digitales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en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procesos</a:t>
            </a:r>
            <a:r>
              <a:rPr lang="en-US" sz="2300" dirty="0">
                <a:solidFill>
                  <a:schemeClr val="dk1"/>
                </a:solidFill>
              </a:rPr>
              <a:t> clave.</a:t>
            </a:r>
            <a:endParaRPr sz="2300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b="1" dirty="0" err="1">
                <a:solidFill>
                  <a:schemeClr val="dk1"/>
                </a:solidFill>
              </a:rPr>
              <a:t>Aumentar</a:t>
            </a:r>
            <a:r>
              <a:rPr lang="en-US" sz="2300" b="1" dirty="0">
                <a:solidFill>
                  <a:schemeClr val="dk1"/>
                </a:solidFill>
              </a:rPr>
              <a:t> la </a:t>
            </a:r>
            <a:r>
              <a:rPr lang="en-US" sz="2300" b="1" dirty="0" err="1">
                <a:solidFill>
                  <a:schemeClr val="dk1"/>
                </a:solidFill>
              </a:rPr>
              <a:t>satisfacción</a:t>
            </a:r>
            <a:r>
              <a:rPr lang="en-US" sz="2300" b="1" dirty="0">
                <a:solidFill>
                  <a:schemeClr val="dk1"/>
                </a:solidFill>
              </a:rPr>
              <a:t> del </a:t>
            </a:r>
            <a:r>
              <a:rPr lang="en-US" sz="2300" b="1" dirty="0" err="1">
                <a:solidFill>
                  <a:schemeClr val="dk1"/>
                </a:solidFill>
              </a:rPr>
              <a:t>cliente</a:t>
            </a:r>
            <a:r>
              <a:rPr lang="en-US" sz="2300" dirty="0">
                <a:solidFill>
                  <a:schemeClr val="dk1"/>
                </a:solidFill>
              </a:rPr>
              <a:t> a </a:t>
            </a:r>
            <a:r>
              <a:rPr lang="en-US" sz="2300" dirty="0" err="1">
                <a:solidFill>
                  <a:schemeClr val="dk1"/>
                </a:solidFill>
              </a:rPr>
              <a:t>través</a:t>
            </a:r>
            <a:r>
              <a:rPr lang="en-US" sz="2300" dirty="0">
                <a:solidFill>
                  <a:schemeClr val="dk1"/>
                </a:solidFill>
              </a:rPr>
              <a:t> de la </a:t>
            </a:r>
            <a:r>
              <a:rPr lang="en-US" sz="2300" dirty="0" err="1">
                <a:solidFill>
                  <a:schemeClr val="dk1"/>
                </a:solidFill>
              </a:rPr>
              <a:t>digitalización</a:t>
            </a:r>
            <a:r>
              <a:rPr lang="en-US" sz="2300" dirty="0">
                <a:solidFill>
                  <a:schemeClr val="dk1"/>
                </a:solidFill>
              </a:rPr>
              <a:t> de </a:t>
            </a:r>
            <a:r>
              <a:rPr lang="en-US" sz="2300" dirty="0" err="1">
                <a:solidFill>
                  <a:schemeClr val="dk1"/>
                </a:solidFill>
              </a:rPr>
              <a:t>los</a:t>
            </a:r>
            <a:r>
              <a:rPr lang="en-US" sz="2300" dirty="0">
                <a:solidFill>
                  <a:schemeClr val="dk1"/>
                </a:solidFill>
              </a:rPr>
              <a:t> canales de </a:t>
            </a:r>
            <a:r>
              <a:rPr lang="en-US" sz="2300" dirty="0" err="1">
                <a:solidFill>
                  <a:schemeClr val="dk1"/>
                </a:solidFill>
              </a:rPr>
              <a:t>comunicación</a:t>
            </a:r>
            <a:r>
              <a:rPr lang="en-US" sz="2300" dirty="0">
                <a:solidFill>
                  <a:schemeClr val="dk1"/>
                </a:solidFill>
              </a:rPr>
              <a:t>.</a:t>
            </a:r>
            <a:endParaRPr sz="2300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b="1" dirty="0" err="1">
                <a:solidFill>
                  <a:schemeClr val="dk1"/>
                </a:solidFill>
              </a:rPr>
              <a:t>Formar</a:t>
            </a:r>
            <a:r>
              <a:rPr lang="en-US" sz="2300" b="1" dirty="0">
                <a:solidFill>
                  <a:schemeClr val="dk1"/>
                </a:solidFill>
              </a:rPr>
              <a:t> al </a:t>
            </a:r>
            <a:r>
              <a:rPr lang="en-US" sz="2300" b="1" dirty="0" err="1">
                <a:solidFill>
                  <a:schemeClr val="dk1"/>
                </a:solidFill>
              </a:rPr>
              <a:t>equipo</a:t>
            </a:r>
            <a:r>
              <a:rPr lang="en-US" sz="2300" b="1" dirty="0">
                <a:solidFill>
                  <a:schemeClr val="dk1"/>
                </a:solidFill>
              </a:rPr>
              <a:t> </a:t>
            </a:r>
            <a:r>
              <a:rPr lang="en-US" sz="2300" b="1" dirty="0" err="1">
                <a:solidFill>
                  <a:schemeClr val="dk1"/>
                </a:solidFill>
              </a:rPr>
              <a:t>en</a:t>
            </a:r>
            <a:r>
              <a:rPr lang="en-US" sz="2300" b="1" dirty="0">
                <a:solidFill>
                  <a:schemeClr val="dk1"/>
                </a:solidFill>
              </a:rPr>
              <a:t> </a:t>
            </a:r>
            <a:r>
              <a:rPr lang="en-US" sz="2300" b="1" dirty="0" err="1">
                <a:solidFill>
                  <a:schemeClr val="dk1"/>
                </a:solidFill>
              </a:rPr>
              <a:t>nuevas</a:t>
            </a:r>
            <a:r>
              <a:rPr lang="en-US" sz="2300" b="1" dirty="0">
                <a:solidFill>
                  <a:schemeClr val="dk1"/>
                </a:solidFill>
              </a:rPr>
              <a:t> </a:t>
            </a:r>
            <a:r>
              <a:rPr lang="en-US" sz="2300" b="1" dirty="0" err="1">
                <a:solidFill>
                  <a:schemeClr val="dk1"/>
                </a:solidFill>
              </a:rPr>
              <a:t>tecnologías</a:t>
            </a:r>
            <a:r>
              <a:rPr lang="en-US" sz="2300" dirty="0">
                <a:solidFill>
                  <a:schemeClr val="dk1"/>
                </a:solidFill>
              </a:rPr>
              <a:t> para </a:t>
            </a:r>
            <a:r>
              <a:rPr lang="en-US" sz="2300" dirty="0" err="1">
                <a:solidFill>
                  <a:schemeClr val="dk1"/>
                </a:solidFill>
              </a:rPr>
              <a:t>asegurar</a:t>
            </a:r>
            <a:r>
              <a:rPr lang="en-US" sz="2300" dirty="0">
                <a:solidFill>
                  <a:schemeClr val="dk1"/>
                </a:solidFill>
              </a:rPr>
              <a:t> la </a:t>
            </a:r>
            <a:r>
              <a:rPr lang="en-US" sz="2300" dirty="0" err="1">
                <a:solidFill>
                  <a:schemeClr val="dk1"/>
                </a:solidFill>
              </a:rPr>
              <a:t>adopción</a:t>
            </a:r>
            <a:r>
              <a:rPr lang="en-US" sz="2300" dirty="0">
                <a:solidFill>
                  <a:schemeClr val="dk1"/>
                </a:solidFill>
              </a:rPr>
              <a:t> de </a:t>
            </a:r>
            <a:r>
              <a:rPr lang="en-US" sz="2300" dirty="0" err="1">
                <a:solidFill>
                  <a:schemeClr val="dk1"/>
                </a:solidFill>
              </a:rPr>
              <a:t>herramientas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digitales</a:t>
            </a:r>
            <a:r>
              <a:rPr lang="en-US" sz="2300" dirty="0">
                <a:solidFill>
                  <a:schemeClr val="dk1"/>
                </a:solidFill>
              </a:rPr>
              <a:t>.</a:t>
            </a:r>
            <a:br>
              <a:rPr lang="en-US" sz="2300" dirty="0">
                <a:solidFill>
                  <a:schemeClr val="dk1"/>
                </a:solidFill>
              </a:rPr>
            </a:b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 dirty="0" err="1">
                <a:solidFill>
                  <a:schemeClr val="dk1"/>
                </a:solidFill>
              </a:rPr>
              <a:t>Indicadores</a:t>
            </a:r>
            <a:r>
              <a:rPr lang="en-US" sz="2300" b="1" dirty="0">
                <a:solidFill>
                  <a:schemeClr val="dk1"/>
                </a:solidFill>
              </a:rPr>
              <a:t> de </a:t>
            </a:r>
            <a:r>
              <a:rPr lang="en-US" sz="2300" b="1" dirty="0" err="1">
                <a:solidFill>
                  <a:schemeClr val="dk1"/>
                </a:solidFill>
              </a:rPr>
              <a:t>Éxito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endParaRPr sz="2300" b="1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dirty="0" err="1">
                <a:solidFill>
                  <a:schemeClr val="dk1"/>
                </a:solidFill>
              </a:rPr>
              <a:t>Reducción</a:t>
            </a:r>
            <a:r>
              <a:rPr lang="en-US" sz="2300" dirty="0">
                <a:solidFill>
                  <a:schemeClr val="dk1"/>
                </a:solidFill>
              </a:rPr>
              <a:t> del </a:t>
            </a:r>
            <a:r>
              <a:rPr lang="en-US" sz="2300" dirty="0" err="1">
                <a:solidFill>
                  <a:schemeClr val="dk1"/>
                </a:solidFill>
              </a:rPr>
              <a:t>tiempo</a:t>
            </a:r>
            <a:r>
              <a:rPr lang="en-US" sz="2300" dirty="0">
                <a:solidFill>
                  <a:schemeClr val="dk1"/>
                </a:solidFill>
              </a:rPr>
              <a:t> de </a:t>
            </a:r>
            <a:r>
              <a:rPr lang="en-US" sz="2300" dirty="0" err="1">
                <a:solidFill>
                  <a:schemeClr val="dk1"/>
                </a:solidFill>
              </a:rPr>
              <a:t>respuesta</a:t>
            </a:r>
            <a:r>
              <a:rPr lang="en-US" sz="2300" dirty="0">
                <a:solidFill>
                  <a:schemeClr val="dk1"/>
                </a:solidFill>
              </a:rPr>
              <a:t> a </a:t>
            </a:r>
            <a:r>
              <a:rPr lang="en-US" sz="2300" dirty="0" err="1">
                <a:solidFill>
                  <a:schemeClr val="dk1"/>
                </a:solidFill>
              </a:rPr>
              <a:t>los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clientes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en</a:t>
            </a:r>
            <a:r>
              <a:rPr lang="en-US" sz="2300" dirty="0">
                <a:solidFill>
                  <a:schemeClr val="dk1"/>
                </a:solidFill>
              </a:rPr>
              <a:t> un 20% </a:t>
            </a:r>
            <a:r>
              <a:rPr lang="en-US" sz="2300" dirty="0" err="1">
                <a:solidFill>
                  <a:schemeClr val="dk1"/>
                </a:solidFill>
              </a:rPr>
              <a:t>en</a:t>
            </a:r>
            <a:r>
              <a:rPr lang="en-US" sz="2300" dirty="0">
                <a:solidFill>
                  <a:schemeClr val="dk1"/>
                </a:solidFill>
              </a:rPr>
              <a:t> seis meses.</a:t>
            </a:r>
            <a:endParaRPr sz="2300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dirty="0" err="1">
                <a:solidFill>
                  <a:schemeClr val="dk1"/>
                </a:solidFill>
              </a:rPr>
              <a:t>Aumento</a:t>
            </a:r>
            <a:r>
              <a:rPr lang="en-US" sz="2300" dirty="0">
                <a:solidFill>
                  <a:schemeClr val="dk1"/>
                </a:solidFill>
              </a:rPr>
              <a:t> del NPS (Net Promoter Score) </a:t>
            </a:r>
            <a:r>
              <a:rPr lang="en-US" sz="2300" dirty="0" err="1">
                <a:solidFill>
                  <a:schemeClr val="dk1"/>
                </a:solidFill>
              </a:rPr>
              <a:t>en</a:t>
            </a:r>
            <a:r>
              <a:rPr lang="en-US" sz="2300" dirty="0">
                <a:solidFill>
                  <a:schemeClr val="dk1"/>
                </a:solidFill>
              </a:rPr>
              <a:t> un 10% </a:t>
            </a:r>
            <a:r>
              <a:rPr lang="en-US" sz="2300" dirty="0" err="1">
                <a:solidFill>
                  <a:schemeClr val="dk1"/>
                </a:solidFill>
              </a:rPr>
              <a:t>en</a:t>
            </a:r>
            <a:r>
              <a:rPr lang="en-US" sz="2300" dirty="0">
                <a:solidFill>
                  <a:schemeClr val="dk1"/>
                </a:solidFill>
              </a:rPr>
              <a:t> un </a:t>
            </a:r>
            <a:r>
              <a:rPr lang="en-US" sz="2300" dirty="0" err="1">
                <a:solidFill>
                  <a:schemeClr val="dk1"/>
                </a:solidFill>
              </a:rPr>
              <a:t>año</a:t>
            </a:r>
            <a:r>
              <a:rPr lang="en-US" sz="2300" dirty="0">
                <a:solidFill>
                  <a:schemeClr val="dk1"/>
                </a:solidFill>
              </a:rPr>
              <a:t>.</a:t>
            </a:r>
            <a:endParaRPr sz="2300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dirty="0" err="1">
                <a:solidFill>
                  <a:schemeClr val="dk1"/>
                </a:solidFill>
              </a:rPr>
              <a:t>Capacitación</a:t>
            </a:r>
            <a:r>
              <a:rPr lang="en-US" sz="2300" dirty="0">
                <a:solidFill>
                  <a:schemeClr val="dk1"/>
                </a:solidFill>
              </a:rPr>
              <a:t> de al </a:t>
            </a:r>
            <a:r>
              <a:rPr lang="en-US" sz="2300" dirty="0" err="1">
                <a:solidFill>
                  <a:schemeClr val="dk1"/>
                </a:solidFill>
              </a:rPr>
              <a:t>menos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el</a:t>
            </a:r>
            <a:r>
              <a:rPr lang="en-US" sz="2300" dirty="0">
                <a:solidFill>
                  <a:schemeClr val="dk1"/>
                </a:solidFill>
              </a:rPr>
              <a:t> 75% del </a:t>
            </a:r>
            <a:r>
              <a:rPr lang="en-US" sz="2300" dirty="0" err="1">
                <a:solidFill>
                  <a:schemeClr val="dk1"/>
                </a:solidFill>
              </a:rPr>
              <a:t>equipo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en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nuevas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herramientas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digitales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en</a:t>
            </a:r>
            <a:r>
              <a:rPr lang="en-US" sz="2300" dirty="0">
                <a:solidFill>
                  <a:schemeClr val="dk1"/>
                </a:solidFill>
              </a:rPr>
              <a:t> seis meses.</a:t>
            </a: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BECD709-AED5-17F3-AAEA-797AE608F4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49760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0" name="Google Shape;1260;g30689113c39_0_1672"/>
          <p:cNvGrpSpPr/>
          <p:nvPr/>
        </p:nvGrpSpPr>
        <p:grpSpPr>
          <a:xfrm>
            <a:off x="1356728" y="8545495"/>
            <a:ext cx="15574467" cy="1502997"/>
            <a:chOff x="0" y="-47625"/>
            <a:chExt cx="2269338" cy="219000"/>
          </a:xfrm>
        </p:grpSpPr>
        <p:sp>
          <p:nvSpPr>
            <p:cNvPr id="1261" name="Google Shape;1261;g30689113c39_0_1672"/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262" name="Google Shape;1262;g30689113c39_0_1672"/>
            <p:cNvSpPr txBox="1"/>
            <p:nvPr/>
          </p:nvSpPr>
          <p:spPr>
            <a:xfrm>
              <a:off x="0" y="-47625"/>
              <a:ext cx="22692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8" name="Google Shape;1268;g30689113c39_0_1672"/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69" name="Google Shape;1269;g30689113c39_0_1672"/>
          <p:cNvSpPr txBox="1"/>
          <p:nvPr/>
        </p:nvSpPr>
        <p:spPr>
          <a:xfrm>
            <a:off x="3219000" y="1022450"/>
            <a:ext cx="101454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F46524"/>
                </a:solidFill>
                <a:latin typeface="Raleway"/>
                <a:ea typeface="Raleway"/>
                <a:cs typeface="Raleway"/>
                <a:sym typeface="Raleway"/>
              </a:rPr>
              <a:t>Objetivos a Medio Plazo e Indicadores de Éxito</a:t>
            </a:r>
            <a:endParaRPr sz="2700" b="1">
              <a:solidFill>
                <a:srgbClr val="F4652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70" name="Google Shape;1270;g30689113c39_0_1672"/>
          <p:cNvSpPr txBox="1"/>
          <p:nvPr/>
        </p:nvSpPr>
        <p:spPr>
          <a:xfrm>
            <a:off x="3025875" y="2327025"/>
            <a:ext cx="127650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 dirty="0" err="1">
                <a:solidFill>
                  <a:schemeClr val="dk1"/>
                </a:solidFill>
              </a:rPr>
              <a:t>Objetivos</a:t>
            </a:r>
            <a:r>
              <a:rPr lang="en-US" sz="2300" b="1" dirty="0">
                <a:solidFill>
                  <a:schemeClr val="dk1"/>
                </a:solidFill>
              </a:rPr>
              <a:t> a Medio </a:t>
            </a:r>
            <a:r>
              <a:rPr lang="en-US" sz="2300" b="1" dirty="0" err="1">
                <a:solidFill>
                  <a:schemeClr val="dk1"/>
                </a:solidFill>
              </a:rPr>
              <a:t>Plazo</a:t>
            </a:r>
            <a:endParaRPr sz="2300" b="1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b="1" dirty="0" err="1">
                <a:solidFill>
                  <a:schemeClr val="dk1"/>
                </a:solidFill>
              </a:rPr>
              <a:t>Integrar</a:t>
            </a:r>
            <a:r>
              <a:rPr lang="en-US" sz="2300" b="1" dirty="0">
                <a:solidFill>
                  <a:schemeClr val="dk1"/>
                </a:solidFill>
              </a:rPr>
              <a:t> </a:t>
            </a:r>
            <a:r>
              <a:rPr lang="en-US" sz="2300" b="1" dirty="0" err="1">
                <a:solidFill>
                  <a:schemeClr val="dk1"/>
                </a:solidFill>
              </a:rPr>
              <a:t>los</a:t>
            </a:r>
            <a:r>
              <a:rPr lang="en-US" sz="2300" b="1" dirty="0">
                <a:solidFill>
                  <a:schemeClr val="dk1"/>
                </a:solidFill>
              </a:rPr>
              <a:t> canales </a:t>
            </a:r>
            <a:r>
              <a:rPr lang="en-US" sz="2300" b="1" dirty="0" err="1">
                <a:solidFill>
                  <a:schemeClr val="dk1"/>
                </a:solidFill>
              </a:rPr>
              <a:t>digitales</a:t>
            </a:r>
            <a:r>
              <a:rPr lang="en-US" sz="2300" b="1" dirty="0">
                <a:solidFill>
                  <a:schemeClr val="dk1"/>
                </a:solidFill>
              </a:rPr>
              <a:t> y </a:t>
            </a:r>
            <a:r>
              <a:rPr lang="en-US" sz="2300" b="1" dirty="0" err="1">
                <a:solidFill>
                  <a:schemeClr val="dk1"/>
                </a:solidFill>
              </a:rPr>
              <a:t>físicos</a:t>
            </a:r>
            <a:r>
              <a:rPr lang="en-US" sz="2300" dirty="0">
                <a:solidFill>
                  <a:schemeClr val="dk1"/>
                </a:solidFill>
              </a:rPr>
              <a:t> para </a:t>
            </a:r>
            <a:r>
              <a:rPr lang="en-US" sz="2300" dirty="0" err="1">
                <a:solidFill>
                  <a:schemeClr val="dk1"/>
                </a:solidFill>
              </a:rPr>
              <a:t>crear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una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experiencia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omnicanal</a:t>
            </a:r>
            <a:r>
              <a:rPr lang="en-US" sz="2300" dirty="0">
                <a:solidFill>
                  <a:schemeClr val="dk1"/>
                </a:solidFill>
              </a:rPr>
              <a:t>.</a:t>
            </a:r>
            <a:endParaRPr sz="2300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b="1" dirty="0" err="1">
                <a:solidFill>
                  <a:schemeClr val="dk1"/>
                </a:solidFill>
              </a:rPr>
              <a:t>Implementar</a:t>
            </a:r>
            <a:r>
              <a:rPr lang="en-US" sz="2300" b="1" dirty="0">
                <a:solidFill>
                  <a:schemeClr val="dk1"/>
                </a:solidFill>
              </a:rPr>
              <a:t> </a:t>
            </a:r>
            <a:r>
              <a:rPr lang="en-US" sz="2300" b="1" dirty="0" err="1">
                <a:solidFill>
                  <a:schemeClr val="dk1"/>
                </a:solidFill>
              </a:rPr>
              <a:t>analítica</a:t>
            </a:r>
            <a:r>
              <a:rPr lang="en-US" sz="2300" b="1" dirty="0">
                <a:solidFill>
                  <a:schemeClr val="dk1"/>
                </a:solidFill>
              </a:rPr>
              <a:t> </a:t>
            </a:r>
            <a:r>
              <a:rPr lang="en-US" sz="2300" b="1" dirty="0" err="1">
                <a:solidFill>
                  <a:schemeClr val="dk1"/>
                </a:solidFill>
              </a:rPr>
              <a:t>avanzada</a:t>
            </a:r>
            <a:r>
              <a:rPr lang="en-US" sz="2300" dirty="0">
                <a:solidFill>
                  <a:schemeClr val="dk1"/>
                </a:solidFill>
              </a:rPr>
              <a:t> para </a:t>
            </a:r>
            <a:r>
              <a:rPr lang="en-US" sz="2300" dirty="0" err="1">
                <a:solidFill>
                  <a:schemeClr val="dk1"/>
                </a:solidFill>
              </a:rPr>
              <a:t>mejorar</a:t>
            </a:r>
            <a:r>
              <a:rPr lang="en-US" sz="2300" dirty="0">
                <a:solidFill>
                  <a:schemeClr val="dk1"/>
                </a:solidFill>
              </a:rPr>
              <a:t> la </a:t>
            </a:r>
            <a:r>
              <a:rPr lang="en-US" sz="2300" dirty="0" err="1">
                <a:solidFill>
                  <a:schemeClr val="dk1"/>
                </a:solidFill>
              </a:rPr>
              <a:t>toma</a:t>
            </a:r>
            <a:r>
              <a:rPr lang="en-US" sz="2300" dirty="0">
                <a:solidFill>
                  <a:schemeClr val="dk1"/>
                </a:solidFill>
              </a:rPr>
              <a:t> de </a:t>
            </a:r>
            <a:r>
              <a:rPr lang="en-US" sz="2300" dirty="0" err="1">
                <a:solidFill>
                  <a:schemeClr val="dk1"/>
                </a:solidFill>
              </a:rPr>
              <a:t>decisiones</a:t>
            </a:r>
            <a:r>
              <a:rPr lang="en-US" sz="2300" dirty="0">
                <a:solidFill>
                  <a:schemeClr val="dk1"/>
                </a:solidFill>
              </a:rPr>
              <a:t>.</a:t>
            </a:r>
            <a:endParaRPr sz="2300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b="1" dirty="0" err="1">
                <a:solidFill>
                  <a:schemeClr val="dk1"/>
                </a:solidFill>
              </a:rPr>
              <a:t>Desarrollar</a:t>
            </a:r>
            <a:r>
              <a:rPr lang="en-US" sz="2300" b="1" dirty="0">
                <a:solidFill>
                  <a:schemeClr val="dk1"/>
                </a:solidFill>
              </a:rPr>
              <a:t> un nuevo </a:t>
            </a:r>
            <a:r>
              <a:rPr lang="en-US" sz="2300" b="1" dirty="0" err="1">
                <a:solidFill>
                  <a:schemeClr val="dk1"/>
                </a:solidFill>
              </a:rPr>
              <a:t>producto</a:t>
            </a:r>
            <a:r>
              <a:rPr lang="en-US" sz="2300" b="1" dirty="0">
                <a:solidFill>
                  <a:schemeClr val="dk1"/>
                </a:solidFill>
              </a:rPr>
              <a:t> o </a:t>
            </a:r>
            <a:r>
              <a:rPr lang="en-US" sz="2300" b="1" dirty="0" err="1">
                <a:solidFill>
                  <a:schemeClr val="dk1"/>
                </a:solidFill>
              </a:rPr>
              <a:t>servicio</a:t>
            </a:r>
            <a:r>
              <a:rPr lang="en-US" sz="2300" b="1" dirty="0">
                <a:solidFill>
                  <a:schemeClr val="dk1"/>
                </a:solidFill>
              </a:rPr>
              <a:t> digital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basado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en</a:t>
            </a:r>
            <a:r>
              <a:rPr lang="en-US" sz="2300" dirty="0">
                <a:solidFill>
                  <a:schemeClr val="dk1"/>
                </a:solidFill>
              </a:rPr>
              <a:t> las </a:t>
            </a:r>
            <a:r>
              <a:rPr lang="en-US" sz="2300" dirty="0" err="1">
                <a:solidFill>
                  <a:schemeClr val="dk1"/>
                </a:solidFill>
              </a:rPr>
              <a:t>necesidades</a:t>
            </a:r>
            <a:r>
              <a:rPr lang="en-US" sz="2300" dirty="0">
                <a:solidFill>
                  <a:schemeClr val="dk1"/>
                </a:solidFill>
              </a:rPr>
              <a:t> del </a:t>
            </a:r>
            <a:r>
              <a:rPr lang="en-US" sz="2300" dirty="0" err="1">
                <a:solidFill>
                  <a:schemeClr val="dk1"/>
                </a:solidFill>
              </a:rPr>
              <a:t>cliente</a:t>
            </a:r>
            <a:r>
              <a:rPr lang="en-US" sz="2300" dirty="0">
                <a:solidFill>
                  <a:schemeClr val="dk1"/>
                </a:solidFill>
              </a:rPr>
              <a:t>.</a:t>
            </a:r>
            <a:br>
              <a:rPr lang="en-US" sz="2300" dirty="0">
                <a:solidFill>
                  <a:schemeClr val="dk1"/>
                </a:solidFill>
              </a:rPr>
            </a:b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 dirty="0" err="1">
                <a:solidFill>
                  <a:schemeClr val="dk1"/>
                </a:solidFill>
              </a:rPr>
              <a:t>Indicadores</a:t>
            </a:r>
            <a:r>
              <a:rPr lang="en-US" sz="2300" b="1" dirty="0">
                <a:solidFill>
                  <a:schemeClr val="dk1"/>
                </a:solidFill>
              </a:rPr>
              <a:t> de </a:t>
            </a:r>
            <a:r>
              <a:rPr lang="en-US" sz="2300" b="1" dirty="0" err="1">
                <a:solidFill>
                  <a:schemeClr val="dk1"/>
                </a:solidFill>
              </a:rPr>
              <a:t>Éxito</a:t>
            </a:r>
            <a:r>
              <a:rPr lang="en-US" sz="2300" b="1" dirty="0">
                <a:solidFill>
                  <a:schemeClr val="dk1"/>
                </a:solidFill>
              </a:rPr>
              <a:t>:</a:t>
            </a:r>
            <a:endParaRPr sz="2300" b="1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dirty="0" err="1">
                <a:solidFill>
                  <a:schemeClr val="dk1"/>
                </a:solidFill>
              </a:rPr>
              <a:t>Aumento</a:t>
            </a:r>
            <a:r>
              <a:rPr lang="en-US" sz="2300" dirty="0">
                <a:solidFill>
                  <a:schemeClr val="dk1"/>
                </a:solidFill>
              </a:rPr>
              <a:t> del 15% </a:t>
            </a:r>
            <a:r>
              <a:rPr lang="en-US" sz="2300" dirty="0" err="1">
                <a:solidFill>
                  <a:schemeClr val="dk1"/>
                </a:solidFill>
              </a:rPr>
              <a:t>en</a:t>
            </a:r>
            <a:r>
              <a:rPr lang="en-US" sz="2300" dirty="0">
                <a:solidFill>
                  <a:schemeClr val="dk1"/>
                </a:solidFill>
              </a:rPr>
              <a:t> las </a:t>
            </a:r>
            <a:r>
              <a:rPr lang="en-US" sz="2300" dirty="0" err="1">
                <a:solidFill>
                  <a:schemeClr val="dk1"/>
                </a:solidFill>
              </a:rPr>
              <a:t>ventas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en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línea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en</a:t>
            </a:r>
            <a:r>
              <a:rPr lang="en-US" sz="2300" dirty="0">
                <a:solidFill>
                  <a:schemeClr val="dk1"/>
                </a:solidFill>
              </a:rPr>
              <a:t> un </a:t>
            </a:r>
            <a:r>
              <a:rPr lang="en-US" sz="2300" dirty="0" err="1">
                <a:solidFill>
                  <a:schemeClr val="dk1"/>
                </a:solidFill>
              </a:rPr>
              <a:t>año</a:t>
            </a:r>
            <a:r>
              <a:rPr lang="en-US" sz="2300" dirty="0">
                <a:solidFill>
                  <a:schemeClr val="dk1"/>
                </a:solidFill>
              </a:rPr>
              <a:t>.</a:t>
            </a:r>
            <a:endParaRPr sz="2300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dirty="0" err="1">
                <a:solidFill>
                  <a:schemeClr val="dk1"/>
                </a:solidFill>
              </a:rPr>
              <a:t>Implementación</a:t>
            </a:r>
            <a:r>
              <a:rPr lang="en-US" sz="2300" dirty="0">
                <a:solidFill>
                  <a:schemeClr val="dk1"/>
                </a:solidFill>
              </a:rPr>
              <a:t> de un </a:t>
            </a:r>
            <a:r>
              <a:rPr lang="en-US" sz="2300" dirty="0" err="1">
                <a:solidFill>
                  <a:schemeClr val="dk1"/>
                </a:solidFill>
              </a:rPr>
              <a:t>sistema</a:t>
            </a:r>
            <a:r>
              <a:rPr lang="en-US" sz="2300" dirty="0">
                <a:solidFill>
                  <a:schemeClr val="dk1"/>
                </a:solidFill>
              </a:rPr>
              <a:t> de </a:t>
            </a:r>
            <a:r>
              <a:rPr lang="en-US" sz="2300" dirty="0" err="1">
                <a:solidFill>
                  <a:schemeClr val="dk1"/>
                </a:solidFill>
              </a:rPr>
              <a:t>análisis</a:t>
            </a:r>
            <a:r>
              <a:rPr lang="en-US" sz="2300" dirty="0">
                <a:solidFill>
                  <a:schemeClr val="dk1"/>
                </a:solidFill>
              </a:rPr>
              <a:t> de </a:t>
            </a:r>
            <a:r>
              <a:rPr lang="en-US" sz="2300" dirty="0" err="1">
                <a:solidFill>
                  <a:schemeClr val="dk1"/>
                </a:solidFill>
              </a:rPr>
              <a:t>datos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que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genere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informes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mensuales</a:t>
            </a:r>
            <a:r>
              <a:rPr lang="en-US" sz="2300" dirty="0">
                <a:solidFill>
                  <a:schemeClr val="dk1"/>
                </a:solidFill>
              </a:rPr>
              <a:t>.</a:t>
            </a:r>
            <a:endParaRPr sz="2300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dirty="0" err="1">
                <a:solidFill>
                  <a:schemeClr val="dk1"/>
                </a:solidFill>
              </a:rPr>
              <a:t>Lanzamiento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exitoso</a:t>
            </a:r>
            <a:r>
              <a:rPr lang="en-US" sz="2300" dirty="0">
                <a:solidFill>
                  <a:schemeClr val="dk1"/>
                </a:solidFill>
              </a:rPr>
              <a:t> de un nuevo </a:t>
            </a:r>
            <a:r>
              <a:rPr lang="en-US" sz="2300" dirty="0" err="1">
                <a:solidFill>
                  <a:schemeClr val="dk1"/>
                </a:solidFill>
              </a:rPr>
              <a:t>servicio</a:t>
            </a:r>
            <a:r>
              <a:rPr lang="en-US" sz="2300" dirty="0">
                <a:solidFill>
                  <a:schemeClr val="dk1"/>
                </a:solidFill>
              </a:rPr>
              <a:t> digital </a:t>
            </a:r>
            <a:r>
              <a:rPr lang="en-US" sz="2300" dirty="0" err="1">
                <a:solidFill>
                  <a:schemeClr val="dk1"/>
                </a:solidFill>
              </a:rPr>
              <a:t>en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el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plazo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previsto</a:t>
            </a:r>
            <a:r>
              <a:rPr lang="en-US" sz="2300" dirty="0">
                <a:solidFill>
                  <a:schemeClr val="dk1"/>
                </a:solidFill>
              </a:rPr>
              <a:t>.</a:t>
            </a:r>
            <a:endParaRPr sz="23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820B46A-99A6-6BE9-4DA0-FCDCF4A09D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21826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F8AB88-8C2E-8285-80D1-FAF9349318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DEA0347-E811-7819-230C-0AA862BC83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4C2C289B-9165-3FD8-BA56-91A9B5531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061" y="1084521"/>
            <a:ext cx="8545918" cy="8545918"/>
          </a:xfrm>
          <a:prstGeom prst="rect">
            <a:avLst/>
          </a:prstGeom>
        </p:spPr>
      </p:pic>
      <p:sp>
        <p:nvSpPr>
          <p:cNvPr id="6" name="Google Shape;1268;g30689113c39_0_1672">
            <a:extLst>
              <a:ext uri="{FF2B5EF4-FFF2-40B4-BE49-F238E27FC236}">
                <a16:creationId xmlns:a16="http://schemas.microsoft.com/office/drawing/2014/main" id="{157A16E0-961F-F411-1648-BA094AC62FFB}"/>
              </a:ext>
            </a:extLst>
          </p:cNvPr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82568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9EF8E36-46A2-1205-5A76-F1B01331CD90}"/>
              </a:ext>
            </a:extLst>
          </p:cNvPr>
          <p:cNvSpPr txBox="1"/>
          <p:nvPr/>
        </p:nvSpPr>
        <p:spPr>
          <a:xfrm>
            <a:off x="424917" y="2209859"/>
            <a:ext cx="17841433" cy="3621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endParaRPr lang="es-ES" sz="2200" dirty="0"/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200" b="1" dirty="0"/>
              <a:t>🔹 1. Crear un sentido de urgencia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200" dirty="0"/>
              <a:t>📌 </a:t>
            </a:r>
            <a:r>
              <a:rPr lang="es-ES" sz="2200" b="1" dirty="0"/>
              <a:t>Objetivo:</a:t>
            </a:r>
            <a:r>
              <a:rPr lang="es-ES" sz="2200" dirty="0"/>
              <a:t> Motivar a la organización para que comprenda la necesidad del cambio.</a:t>
            </a:r>
            <a:br>
              <a:rPr lang="es-ES" sz="2200" dirty="0"/>
            </a:br>
            <a:r>
              <a:rPr lang="es-ES" sz="2200" dirty="0"/>
              <a:t>📌 </a:t>
            </a:r>
            <a:r>
              <a:rPr lang="es-ES" sz="2200" b="1" dirty="0"/>
              <a:t>Cómo hacerlo:</a:t>
            </a:r>
            <a:endParaRPr lang="es-ES" sz="2200" dirty="0"/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200" dirty="0"/>
              <a:t>Presentar datos y análisis que muestren los riesgos de no cambiar.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200" dirty="0"/>
              <a:t>Comunicar los beneficios de la transformación digital.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200" dirty="0"/>
              <a:t>Involucrar a empleados clave en la conversación.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200" dirty="0"/>
              <a:t>🔹 </a:t>
            </a:r>
            <a:r>
              <a:rPr lang="es-ES" sz="2200" b="1" dirty="0"/>
              <a:t>Ejemplo:</a:t>
            </a:r>
            <a:r>
              <a:rPr lang="es-ES" sz="2200" dirty="0"/>
              <a:t> En una empresa tradicional, mostrar cómo la competencia está digitalizando sus procesos y mejorando su eficiencia.</a:t>
            </a:r>
          </a:p>
        </p:txBody>
      </p:sp>
      <p:sp>
        <p:nvSpPr>
          <p:cNvPr id="6" name="Google Shape;1268;g30689113c39_0_1672">
            <a:extLst>
              <a:ext uri="{FF2B5EF4-FFF2-40B4-BE49-F238E27FC236}">
                <a16:creationId xmlns:a16="http://schemas.microsoft.com/office/drawing/2014/main" id="{D4AB6FE8-8E17-13F6-8975-D604AE8A994D}"/>
              </a:ext>
            </a:extLst>
          </p:cNvPr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B4B8963-CA2A-97EC-9A70-13E914FBF62B}"/>
              </a:ext>
            </a:extLst>
          </p:cNvPr>
          <p:cNvSpPr txBox="1"/>
          <p:nvPr/>
        </p:nvSpPr>
        <p:spPr>
          <a:xfrm>
            <a:off x="508346" y="284078"/>
            <a:ext cx="13250183" cy="1818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📍 Modelo de Kotter: 8 Pasos para el Cambio Organizacional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dirty="0"/>
              <a:t>Desarrollado por </a:t>
            </a:r>
            <a:r>
              <a:rPr lang="es-ES" sz="2400" b="1" dirty="0"/>
              <a:t>John P. Kotter</a:t>
            </a:r>
            <a:r>
              <a:rPr lang="es-ES" sz="2400" dirty="0"/>
              <a:t>, este modelo proporciona un enfoque estructurado para gestionar el cambio dentro de una organización. Se basa en la premisa de que el cambio es un </a:t>
            </a:r>
            <a:r>
              <a:rPr lang="es-ES" sz="2400" b="1" dirty="0"/>
              <a:t>proceso continuo</a:t>
            </a:r>
            <a:r>
              <a:rPr lang="es-ES" sz="2400" dirty="0"/>
              <a:t> y que debe abordarse de manera estratégica para garantizar su éxito.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DC7BCF7-4C1F-9427-4A79-EDEB3B8BD64B}"/>
              </a:ext>
            </a:extLst>
          </p:cNvPr>
          <p:cNvSpPr txBox="1"/>
          <p:nvPr/>
        </p:nvSpPr>
        <p:spPr>
          <a:xfrm>
            <a:off x="5656137" y="6365094"/>
            <a:ext cx="12610213" cy="183466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¿Cuál es la </a:t>
            </a:r>
            <a:r>
              <a:rPr lang="es-ES" sz="2200" b="1" dirty="0">
                <a:solidFill>
                  <a:schemeClr val="bg1"/>
                </a:solidFill>
              </a:rPr>
              <a:t>necesidad real</a:t>
            </a:r>
            <a:r>
              <a:rPr lang="es-ES" sz="2200" dirty="0">
                <a:solidFill>
                  <a:schemeClr val="bg1"/>
                </a:solidFill>
              </a:rPr>
              <a:t> de cambio en tu organización? </a:t>
            </a: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¿Qué datos o indicadores puedes usar para demostrar que el cambio es </a:t>
            </a:r>
            <a:r>
              <a:rPr lang="es-ES" sz="2200" b="1" dirty="0">
                <a:solidFill>
                  <a:schemeClr val="bg1"/>
                </a:solidFill>
              </a:rPr>
              <a:t>imprescindible</a:t>
            </a:r>
            <a:r>
              <a:rPr lang="es-ES" sz="2200" dirty="0">
                <a:solidFill>
                  <a:schemeClr val="bg1"/>
                </a:solidFill>
              </a:rPr>
              <a:t>? </a:t>
            </a: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¿Qué riesgos enfrenta la empresa si no implementa la transformación digital?</a:t>
            </a: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¿Cómo puedes comunicar la urgencia sin generar miedo o resistencia?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72337DA-9FD2-95E7-A4E0-09D0499F70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82414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83A43-87E7-379E-A1D1-A8C94E4A1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9790FC2B-7E64-6DC7-407D-DE7CC5A61257}"/>
              </a:ext>
            </a:extLst>
          </p:cNvPr>
          <p:cNvSpPr txBox="1"/>
          <p:nvPr/>
        </p:nvSpPr>
        <p:spPr>
          <a:xfrm>
            <a:off x="563526" y="835589"/>
            <a:ext cx="15842512" cy="4307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endParaRPr lang="es-ES" sz="2400" dirty="0"/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🔹 2. Formar una coalición poderosa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dirty="0"/>
              <a:t>📌 </a:t>
            </a:r>
            <a:r>
              <a:rPr lang="es-ES" sz="2400" b="1" dirty="0"/>
              <a:t>Objetivo:</a:t>
            </a:r>
            <a:r>
              <a:rPr lang="es-ES" sz="2400" dirty="0"/>
              <a:t> Crear un equipo de líderes del cambio que impulse la transformación.</a:t>
            </a:r>
            <a:br>
              <a:rPr lang="es-ES" sz="2400" dirty="0"/>
            </a:br>
            <a:r>
              <a:rPr lang="es-ES" sz="2400" dirty="0"/>
              <a:t>📌 </a:t>
            </a:r>
            <a:r>
              <a:rPr lang="es-ES" sz="2400" b="1" dirty="0"/>
              <a:t>Cómo hacerlo:</a:t>
            </a:r>
            <a:endParaRPr lang="es-ES" sz="2400" dirty="0"/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Identificar personas con influencia dentro de la organización.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Construir un grupo interdisciplinario que represente distintas áreas.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Definir roles y responsabilidades claras en la implementación del cambio.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dirty="0"/>
              <a:t>🔹 </a:t>
            </a:r>
            <a:r>
              <a:rPr lang="es-ES" sz="2400" b="1" dirty="0"/>
              <a:t>Ejemplo:</a:t>
            </a:r>
            <a:r>
              <a:rPr lang="es-ES" sz="2400" dirty="0"/>
              <a:t> En una empresa de </a:t>
            </a:r>
            <a:r>
              <a:rPr lang="es-ES" sz="2400" dirty="0" err="1"/>
              <a:t>retail</a:t>
            </a:r>
            <a:r>
              <a:rPr lang="es-ES" sz="2400" dirty="0"/>
              <a:t>, formar un equipo con representantes de TI, RRHH y Operaciones para digitalizar la gestión de inventario.</a:t>
            </a:r>
          </a:p>
        </p:txBody>
      </p:sp>
      <p:sp>
        <p:nvSpPr>
          <p:cNvPr id="2" name="Google Shape;1268;g30689113c39_0_1672">
            <a:extLst>
              <a:ext uri="{FF2B5EF4-FFF2-40B4-BE49-F238E27FC236}">
                <a16:creationId xmlns:a16="http://schemas.microsoft.com/office/drawing/2014/main" id="{0E178E66-A4A8-3F85-7F2E-DC2867A8B6EA}"/>
              </a:ext>
            </a:extLst>
          </p:cNvPr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FDADE09-E7DE-D96E-5BE0-909495753A3B}"/>
              </a:ext>
            </a:extLst>
          </p:cNvPr>
          <p:cNvSpPr txBox="1"/>
          <p:nvPr/>
        </p:nvSpPr>
        <p:spPr>
          <a:xfrm>
            <a:off x="6800522" y="6193648"/>
            <a:ext cx="11487478" cy="222060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¿Quiénes son las personas clave que pueden impulsar el cambio en la empresa? </a:t>
            </a: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¿Cómo puedes asegurar que estos líderes estén alineados con la visión del cambio? </a:t>
            </a: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¿Qué perfiles necesitas en tu equipo de transformación digital? </a:t>
            </a: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¿Cómo manejarías el conflicto entre diferentes líderes si no están alineados con la transformación?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69DCBD3-C6F1-09A4-6EA0-B3DB17C5CF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84633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7F9CA-B423-D50F-50EB-838239E9A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33D0C2C-4C63-2B73-2512-1BED0F3BB645}"/>
              </a:ext>
            </a:extLst>
          </p:cNvPr>
          <p:cNvSpPr txBox="1"/>
          <p:nvPr/>
        </p:nvSpPr>
        <p:spPr>
          <a:xfrm>
            <a:off x="737762" y="1316827"/>
            <a:ext cx="13205637" cy="3809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🔹 3. Crear una visión del cambio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dirty="0"/>
              <a:t>📌 </a:t>
            </a:r>
            <a:r>
              <a:rPr lang="es-ES" sz="2400" b="1" dirty="0"/>
              <a:t>Objetivo:</a:t>
            </a:r>
            <a:r>
              <a:rPr lang="es-ES" sz="2400" dirty="0"/>
              <a:t> Definir una visión clara y comprensible que inspire a la organización.</a:t>
            </a:r>
            <a:br>
              <a:rPr lang="es-ES" sz="2400" dirty="0"/>
            </a:br>
            <a:r>
              <a:rPr lang="es-ES" sz="2400" dirty="0"/>
              <a:t>📌 </a:t>
            </a:r>
            <a:r>
              <a:rPr lang="es-ES" sz="2400" b="1" dirty="0"/>
              <a:t>Cómo hacerlo:</a:t>
            </a:r>
            <a:endParaRPr lang="es-ES" sz="2400" dirty="0"/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Explicar </a:t>
            </a:r>
            <a:r>
              <a:rPr lang="es-ES" sz="2400" b="1" dirty="0"/>
              <a:t>qué se quiere lograr</a:t>
            </a:r>
            <a:r>
              <a:rPr lang="es-ES" sz="2400" dirty="0"/>
              <a:t> con la transformación digital.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Definir cómo impactará a los empleados y clientes.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Comunicar un mensaje simple y atractivo.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dirty="0"/>
              <a:t>🔹 </a:t>
            </a:r>
            <a:r>
              <a:rPr lang="es-ES" sz="2400" b="1" dirty="0"/>
              <a:t>Ejemplo:</a:t>
            </a:r>
            <a:r>
              <a:rPr lang="es-ES" sz="2400" dirty="0"/>
              <a:t> "Nuestra empresa adoptará nuevas herramientas digitales para mejorar la comunicación interna, optimizando el trabajo en equipo y la toma de decisiones."</a:t>
            </a:r>
          </a:p>
        </p:txBody>
      </p:sp>
      <p:sp>
        <p:nvSpPr>
          <p:cNvPr id="2" name="Google Shape;1268;g30689113c39_0_1672">
            <a:extLst>
              <a:ext uri="{FF2B5EF4-FFF2-40B4-BE49-F238E27FC236}">
                <a16:creationId xmlns:a16="http://schemas.microsoft.com/office/drawing/2014/main" id="{7F287B0C-E36F-5674-50A0-8E38B2D10D52}"/>
              </a:ext>
            </a:extLst>
          </p:cNvPr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DF844F5-24D3-5AD4-7692-8115BB8524DB}"/>
              </a:ext>
            </a:extLst>
          </p:cNvPr>
          <p:cNvSpPr txBox="1"/>
          <p:nvPr/>
        </p:nvSpPr>
        <p:spPr>
          <a:xfrm>
            <a:off x="3694815" y="6309186"/>
            <a:ext cx="14593185" cy="183466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¿Cómo describirías la transformación digital de tu empresa en una frase clara y motivadora?</a:t>
            </a: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¿Cómo se verá la empresa después de implementar el cambio?</a:t>
            </a: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¿Cómo puedes conectar la visión del cambio con los valores y objetivos estratégicos de la organización?</a:t>
            </a: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¿Cómo adaptarías el mensaje según el tipo de audiencia (directivos, empleados, clientes, proveedores)?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FD73A7F-72BF-BC31-67A8-402D2148CA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69888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D230D-5089-7754-6D5A-6461DE15E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1825F9B-F74D-15BE-59A2-02C6761D44CF}"/>
              </a:ext>
            </a:extLst>
          </p:cNvPr>
          <p:cNvSpPr txBox="1"/>
          <p:nvPr/>
        </p:nvSpPr>
        <p:spPr>
          <a:xfrm>
            <a:off x="563446" y="1384398"/>
            <a:ext cx="14013711" cy="4307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🔹 4. Comunicar la visión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dirty="0"/>
              <a:t>📌 </a:t>
            </a:r>
            <a:r>
              <a:rPr lang="es-ES" sz="2400" b="1" dirty="0"/>
              <a:t>Objetivo:</a:t>
            </a:r>
            <a:r>
              <a:rPr lang="es-ES" sz="2400" dirty="0"/>
              <a:t> Asegurar que la visión del cambio sea entendida y respaldada por toda la organización.</a:t>
            </a:r>
            <a:br>
              <a:rPr lang="es-ES" sz="2400" dirty="0"/>
            </a:br>
            <a:r>
              <a:rPr lang="es-ES" sz="2400" dirty="0"/>
              <a:t>📌 </a:t>
            </a:r>
            <a:r>
              <a:rPr lang="es-ES" sz="2400" b="1" dirty="0"/>
              <a:t>Cómo hacerlo:</a:t>
            </a:r>
            <a:endParaRPr lang="es-ES" sz="2400" dirty="0"/>
          </a:p>
          <a:p>
            <a:pPr marL="342900" indent="-34290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Usar diferentes canales de comunicación (reuniones, emails, videos explicativos).</a:t>
            </a:r>
          </a:p>
          <a:p>
            <a:pPr marL="342900" indent="-34290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Repetir el mensaje constantemente para reforzarlo.</a:t>
            </a:r>
          </a:p>
          <a:p>
            <a:pPr marL="342900" indent="-34290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Escuchar las preocupaciones y resolver dudas.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dirty="0"/>
              <a:t>🔹 </a:t>
            </a:r>
            <a:r>
              <a:rPr lang="es-ES" sz="2400" b="1" dirty="0"/>
              <a:t>Ejemplo:</a:t>
            </a:r>
            <a:r>
              <a:rPr lang="es-ES" sz="2400" dirty="0"/>
              <a:t> Implementar reuniones semanales donde se informe sobre los avances de la transformación digital.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endParaRPr lang="es-ES" sz="2400" dirty="0"/>
          </a:p>
        </p:txBody>
      </p:sp>
      <p:sp>
        <p:nvSpPr>
          <p:cNvPr id="2" name="Google Shape;1268;g30689113c39_0_1672">
            <a:extLst>
              <a:ext uri="{FF2B5EF4-FFF2-40B4-BE49-F238E27FC236}">
                <a16:creationId xmlns:a16="http://schemas.microsoft.com/office/drawing/2014/main" id="{E4C37998-4597-35AD-F9CC-6D6E5F14839F}"/>
              </a:ext>
            </a:extLst>
          </p:cNvPr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E59B9D-0D57-3D73-A792-D9D9564BBE01}"/>
              </a:ext>
            </a:extLst>
          </p:cNvPr>
          <p:cNvSpPr txBox="1"/>
          <p:nvPr/>
        </p:nvSpPr>
        <p:spPr>
          <a:xfrm>
            <a:off x="3700131" y="5964722"/>
            <a:ext cx="14587870" cy="183466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¿Cuáles son los mejores canales de comunicación dentro de tu empresa para compartir la visión del cambio?</a:t>
            </a: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¿Cómo aseguras que todos los empleados entienden el mensaje y su rol en el cambio?</a:t>
            </a: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¿Qué frecuencia y formatos de comunicación utilizarás para mantener el mensaje claro y presente?</a:t>
            </a: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¿Cómo manejarás la comunicación en caso de que surjan dudas, resistencia o desinformación?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534A9D77-B508-8311-D7AB-CE679243FE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20666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69C0F-C727-F55D-A445-9641D3756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CAE469F-E5B0-1575-5EF3-7D4300152F38}"/>
              </a:ext>
            </a:extLst>
          </p:cNvPr>
          <p:cNvSpPr txBox="1"/>
          <p:nvPr/>
        </p:nvSpPr>
        <p:spPr>
          <a:xfrm>
            <a:off x="822823" y="1951999"/>
            <a:ext cx="13035516" cy="4307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🔹 5. Eliminar obstáculos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dirty="0"/>
              <a:t>📌 </a:t>
            </a:r>
            <a:r>
              <a:rPr lang="es-ES" sz="2400" b="1" dirty="0"/>
              <a:t>Objetivo:</a:t>
            </a:r>
            <a:r>
              <a:rPr lang="es-ES" sz="2400" dirty="0"/>
              <a:t> Identificar y superar resistencias al cambio dentro de la organización.</a:t>
            </a:r>
            <a:br>
              <a:rPr lang="es-ES" sz="2400" dirty="0"/>
            </a:br>
            <a:r>
              <a:rPr lang="es-ES" sz="2400" dirty="0"/>
              <a:t>📌 </a:t>
            </a:r>
            <a:r>
              <a:rPr lang="es-ES" sz="2400" b="1" dirty="0"/>
              <a:t>Cómo hacerlo:</a:t>
            </a:r>
            <a:endParaRPr lang="es-ES" sz="2400" dirty="0"/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Detectar </a:t>
            </a:r>
            <a:r>
              <a:rPr lang="es-ES" sz="2400" b="1" dirty="0"/>
              <a:t>barreras estructurales, tecnológicas o culturales</a:t>
            </a:r>
            <a:r>
              <a:rPr lang="es-ES" sz="2400" dirty="0"/>
              <a:t>.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Brindar formación y herramientas para facilitar la transición.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Escuchar el </a:t>
            </a:r>
            <a:r>
              <a:rPr lang="es-ES" sz="2400" dirty="0" err="1"/>
              <a:t>feedback</a:t>
            </a:r>
            <a:r>
              <a:rPr lang="es-ES" sz="2400" dirty="0"/>
              <a:t> de los empleados y adaptar la estrategia si es necesario.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dirty="0"/>
              <a:t>🔹 </a:t>
            </a:r>
            <a:r>
              <a:rPr lang="es-ES" sz="2400" b="1" dirty="0"/>
              <a:t>Ejemplo:</a:t>
            </a:r>
            <a:r>
              <a:rPr lang="es-ES" sz="2400" dirty="0"/>
              <a:t> Un equipo de ventas que se resiste a usar un CRM digital recibe capacitaciones personalizadas y mentoría.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endParaRPr lang="es-ES" sz="2400" dirty="0"/>
          </a:p>
        </p:txBody>
      </p:sp>
      <p:sp>
        <p:nvSpPr>
          <p:cNvPr id="2" name="Google Shape;1268;g30689113c39_0_1672">
            <a:extLst>
              <a:ext uri="{FF2B5EF4-FFF2-40B4-BE49-F238E27FC236}">
                <a16:creationId xmlns:a16="http://schemas.microsoft.com/office/drawing/2014/main" id="{0E18BA79-A895-8606-9210-F1C3A458BA68}"/>
              </a:ext>
            </a:extLst>
          </p:cNvPr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DED13F5-0DDD-AD48-DC31-D0C1B984020C}"/>
              </a:ext>
            </a:extLst>
          </p:cNvPr>
          <p:cNvSpPr txBox="1"/>
          <p:nvPr/>
        </p:nvSpPr>
        <p:spPr>
          <a:xfrm>
            <a:off x="4486940" y="6259910"/>
            <a:ext cx="13846747" cy="183466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¿Cuáles son los mayores bloqueos que pueden dificultar la implementación del cambio en tu empresa?</a:t>
            </a: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¿Cómo puedes identificar a los empleados o líderes que podrían resistirse al cambio?</a:t>
            </a: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¿Qué estrategias utilizarás para reducir el impacto de estas barreras?</a:t>
            </a: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¿Cómo garantizarás que los procesos internos no ralenticen el cambio?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38AB6938-6B53-694F-781C-9891B4401C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58510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DF55A-83F7-5592-EB08-718206640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547408D-E597-DAD6-706F-1BEA14FF54C9}"/>
              </a:ext>
            </a:extLst>
          </p:cNvPr>
          <p:cNvSpPr txBox="1"/>
          <p:nvPr/>
        </p:nvSpPr>
        <p:spPr>
          <a:xfrm>
            <a:off x="1233378" y="1582427"/>
            <a:ext cx="13801060" cy="3809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🔹 6. Asegurar triunfos a corto plazo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dirty="0"/>
              <a:t>📌 </a:t>
            </a:r>
            <a:r>
              <a:rPr lang="es-ES" sz="2400" b="1" dirty="0"/>
              <a:t>Objetivo:</a:t>
            </a:r>
            <a:r>
              <a:rPr lang="es-ES" sz="2400" dirty="0"/>
              <a:t> Mostrar resultados tempranos que validen el proceso de cambio.</a:t>
            </a:r>
            <a:br>
              <a:rPr lang="es-ES" sz="2400" dirty="0"/>
            </a:br>
            <a:r>
              <a:rPr lang="es-ES" sz="2400" dirty="0"/>
              <a:t>📌 </a:t>
            </a:r>
            <a:r>
              <a:rPr lang="es-ES" sz="2400" b="1" dirty="0"/>
              <a:t>Cómo hacerlo:</a:t>
            </a:r>
            <a:endParaRPr lang="es-ES" sz="2400" dirty="0"/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Definir </a:t>
            </a:r>
            <a:r>
              <a:rPr lang="es-ES" sz="2400" b="1" dirty="0"/>
              <a:t>pequeñas metas alcanzables en el corto plazo</a:t>
            </a:r>
            <a:r>
              <a:rPr lang="es-ES" sz="2400" dirty="0"/>
              <a:t>.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Celebrar logros y reconocer a quienes están adoptando el cambio.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Usar los éxitos iniciales para motivar a otros equipos.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dirty="0"/>
              <a:t>🔹 </a:t>
            </a:r>
            <a:r>
              <a:rPr lang="es-ES" sz="2400" b="1" dirty="0"/>
              <a:t>Ejemplo:</a:t>
            </a:r>
            <a:r>
              <a:rPr lang="es-ES" sz="2400" dirty="0"/>
              <a:t> Implementar un software de gestión de proyectos en un solo departamento antes de extenderlo a toda la empresa.</a:t>
            </a:r>
          </a:p>
        </p:txBody>
      </p:sp>
      <p:sp>
        <p:nvSpPr>
          <p:cNvPr id="2" name="Google Shape;1268;g30689113c39_0_1672">
            <a:extLst>
              <a:ext uri="{FF2B5EF4-FFF2-40B4-BE49-F238E27FC236}">
                <a16:creationId xmlns:a16="http://schemas.microsoft.com/office/drawing/2014/main" id="{C48C65DD-23DD-54A1-92C3-7D16BCC89C63}"/>
              </a:ext>
            </a:extLst>
          </p:cNvPr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5755724-692B-49D0-A228-4892A195AAD9}"/>
              </a:ext>
            </a:extLst>
          </p:cNvPr>
          <p:cNvSpPr txBox="1"/>
          <p:nvPr/>
        </p:nvSpPr>
        <p:spPr>
          <a:xfrm>
            <a:off x="4724717" y="6581791"/>
            <a:ext cx="13563283" cy="183466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¿Cuáles son los primeros resultados visibles que puedes lograr en los primeros 3-6 meses?</a:t>
            </a: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¿Cómo definirás objetivos pequeños pero significativos para demostrar progreso?</a:t>
            </a: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¿Cómo celebrarás y comunicarás estos triunfos a la organización?</a:t>
            </a: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¿Cómo asegurarte de que estos éxitos sirvan como impulso para la siguiente fase del cambio?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B470624-5616-DEDA-5790-74D6FDF1EB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08242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1C6EE-51BB-DC06-6659-3F70E1AA6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9C526A5-BF2C-28CA-045B-735E742ECE25}"/>
              </a:ext>
            </a:extLst>
          </p:cNvPr>
          <p:cNvSpPr txBox="1"/>
          <p:nvPr/>
        </p:nvSpPr>
        <p:spPr>
          <a:xfrm>
            <a:off x="1213662" y="1071565"/>
            <a:ext cx="11950995" cy="3809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🔹 7. Consolidar avances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dirty="0"/>
              <a:t>📌 </a:t>
            </a:r>
            <a:r>
              <a:rPr lang="es-ES" sz="2400" b="1" dirty="0"/>
              <a:t>Objetivo:</a:t>
            </a:r>
            <a:r>
              <a:rPr lang="es-ES" sz="2400" dirty="0"/>
              <a:t> Asegurar que el cambio se expanda y se mantenga en el tiempo.</a:t>
            </a:r>
            <a:br>
              <a:rPr lang="es-ES" sz="2400" dirty="0"/>
            </a:br>
            <a:r>
              <a:rPr lang="es-ES" sz="2400" dirty="0"/>
              <a:t>📌 </a:t>
            </a:r>
            <a:r>
              <a:rPr lang="es-ES" sz="2400" b="1" dirty="0"/>
              <a:t>Cómo hacerlo:</a:t>
            </a:r>
            <a:endParaRPr lang="es-ES" sz="2400" dirty="0"/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Revisar constantemente los procesos y hacer mejoras continuas.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Identificar nuevos líderes del cambio.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Mantener reuniones periódicas para analizar avances y aprendizajes.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dirty="0"/>
              <a:t>🔹 </a:t>
            </a:r>
            <a:r>
              <a:rPr lang="es-ES" sz="2400" b="1" dirty="0"/>
              <a:t>Ejemplo:</a:t>
            </a:r>
            <a:r>
              <a:rPr lang="es-ES" sz="2400" dirty="0"/>
              <a:t> Después de digitalizar la facturación, el equipo de contabilidad sugiere mejoras en la automatización de pagos.</a:t>
            </a:r>
          </a:p>
        </p:txBody>
      </p:sp>
      <p:sp>
        <p:nvSpPr>
          <p:cNvPr id="2" name="Google Shape;1268;g30689113c39_0_1672">
            <a:extLst>
              <a:ext uri="{FF2B5EF4-FFF2-40B4-BE49-F238E27FC236}">
                <a16:creationId xmlns:a16="http://schemas.microsoft.com/office/drawing/2014/main" id="{5BCD7215-3972-62DA-7A3B-ABDC72B72F10}"/>
              </a:ext>
            </a:extLst>
          </p:cNvPr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8B8FD75-1390-6D9F-057F-C19C93C96530}"/>
              </a:ext>
            </a:extLst>
          </p:cNvPr>
          <p:cNvSpPr txBox="1"/>
          <p:nvPr/>
        </p:nvSpPr>
        <p:spPr>
          <a:xfrm>
            <a:off x="5300869" y="6661124"/>
            <a:ext cx="13014251" cy="183466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¿Cómo evitar que la empresa vuelva a los hábitos antiguos después de implementar el cambio?</a:t>
            </a: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¿Cómo puedes medir y evaluar el progreso de la transformación digital en el largo plazo?</a:t>
            </a: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¿Cómo puedes mantener la motivación del equipo de transformación?</a:t>
            </a: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¿Qué ajustes necesitas hacer para seguir mejorando y escalando el cambio?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A6F4DBE8-CE91-F5F1-EC7B-EEABBDBD7D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65546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821B0-074C-6DAB-069C-E32867418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3C36E96-594F-E8B3-3201-D90B3058E931}"/>
              </a:ext>
            </a:extLst>
          </p:cNvPr>
          <p:cNvSpPr txBox="1"/>
          <p:nvPr/>
        </p:nvSpPr>
        <p:spPr>
          <a:xfrm>
            <a:off x="999008" y="961037"/>
            <a:ext cx="13418288" cy="3809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🔹 8. Anclar el cambio en la cultura organizacional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dirty="0"/>
              <a:t>📌 </a:t>
            </a:r>
            <a:r>
              <a:rPr lang="es-ES" sz="2400" b="1" dirty="0"/>
              <a:t>Objetivo:</a:t>
            </a:r>
            <a:r>
              <a:rPr lang="es-ES" sz="2400" dirty="0"/>
              <a:t> Convertir el cambio en una práctica habitual dentro de la empresa.</a:t>
            </a:r>
            <a:br>
              <a:rPr lang="es-ES" sz="2400" dirty="0"/>
            </a:br>
            <a:r>
              <a:rPr lang="es-ES" sz="2400" dirty="0"/>
              <a:t>📌 </a:t>
            </a:r>
            <a:r>
              <a:rPr lang="es-ES" sz="2400" b="1" dirty="0"/>
              <a:t>Cómo hacerlo:</a:t>
            </a:r>
            <a:endParaRPr lang="es-ES" sz="2400" dirty="0"/>
          </a:p>
          <a:p>
            <a:pPr marL="342900" indent="-34290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Integrar la transformación digital en la identidad de la empresa.</a:t>
            </a:r>
          </a:p>
          <a:p>
            <a:pPr marL="342900" indent="-34290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Asegurar que los nuevos procesos sean sostenibles en el tiempo.</a:t>
            </a:r>
          </a:p>
          <a:p>
            <a:pPr marL="342900" indent="-34290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Reforzar los valores del cambio en la capacitación y la cultura organizacional.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dirty="0"/>
              <a:t>🔹 </a:t>
            </a:r>
            <a:r>
              <a:rPr lang="es-ES" sz="2400" b="1" dirty="0"/>
              <a:t>Ejemplo:</a:t>
            </a:r>
            <a:r>
              <a:rPr lang="es-ES" sz="2400" dirty="0"/>
              <a:t> La empresa redefine sus valores corporativos para incluir la </a:t>
            </a:r>
            <a:r>
              <a:rPr lang="es-ES" sz="2400" b="1" dirty="0"/>
              <a:t>innovación y la adaptabilidad</a:t>
            </a:r>
            <a:r>
              <a:rPr lang="es-ES" sz="2400" dirty="0"/>
              <a:t> como pilares clave.</a:t>
            </a:r>
          </a:p>
        </p:txBody>
      </p:sp>
      <p:sp>
        <p:nvSpPr>
          <p:cNvPr id="2" name="Google Shape;1268;g30689113c39_0_1672">
            <a:extLst>
              <a:ext uri="{FF2B5EF4-FFF2-40B4-BE49-F238E27FC236}">
                <a16:creationId xmlns:a16="http://schemas.microsoft.com/office/drawing/2014/main" id="{BD671BE9-F697-9026-5BEF-D42ED57F1950}"/>
              </a:ext>
            </a:extLst>
          </p:cNvPr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07FE487-4C87-A491-586C-C06505B4E5B4}"/>
              </a:ext>
            </a:extLst>
          </p:cNvPr>
          <p:cNvSpPr txBox="1"/>
          <p:nvPr/>
        </p:nvSpPr>
        <p:spPr>
          <a:xfrm>
            <a:off x="4869712" y="6748647"/>
            <a:ext cx="13418288" cy="183466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¿Cómo puedes integrar la transformación digital en los valores y la cultura de la empresa?</a:t>
            </a: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¿Qué políticas o procesos necesitas modificar para sostener el cambio?</a:t>
            </a: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¿Cómo capacitarás y desarrollarás continuamente a los empleados en la nueva cultura digital?</a:t>
            </a:r>
          </a:p>
          <a:p>
            <a:pPr marL="457200" indent="-457200">
              <a:lnSpc>
                <a:spcPct val="114000"/>
              </a:lnSpc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</a:pPr>
            <a:r>
              <a:rPr lang="es-ES" sz="2200" dirty="0">
                <a:solidFill>
                  <a:schemeClr val="bg1"/>
                </a:solidFill>
              </a:rPr>
              <a:t>¿Cómo puedes asegurarte de que la organización siga innovando en el futuro?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81437A3-83F9-8631-C2AB-E4AF6457A6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697" y="8750210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49513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3F9B0-EDA6-A363-E7B7-C371E1A67A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70B5E1-0B52-29C3-3B79-0503A7E144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3074" name="Picture 2" descr="Conocimiento (Knowledge) – El Modelo ADKAR® de PROSCI®">
            <a:extLst>
              <a:ext uri="{FF2B5EF4-FFF2-40B4-BE49-F238E27FC236}">
                <a16:creationId xmlns:a16="http://schemas.microsoft.com/office/drawing/2014/main" id="{3DC456DB-A238-9C16-E5EA-63A28CEE8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63" y="3583394"/>
            <a:ext cx="17800673" cy="4573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268;g30689113c39_0_1672">
            <a:extLst>
              <a:ext uri="{FF2B5EF4-FFF2-40B4-BE49-F238E27FC236}">
                <a16:creationId xmlns:a16="http://schemas.microsoft.com/office/drawing/2014/main" id="{218C2680-CB2B-A07C-BD02-D3443F76432B}"/>
              </a:ext>
            </a:extLst>
          </p:cNvPr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73BF005-3CF4-17A3-0008-6CCADA60D30B}"/>
              </a:ext>
            </a:extLst>
          </p:cNvPr>
          <p:cNvSpPr txBox="1"/>
          <p:nvPr/>
        </p:nvSpPr>
        <p:spPr>
          <a:xfrm>
            <a:off x="1642730" y="1036778"/>
            <a:ext cx="97925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/>
              <a:t>A diferencia de Kotter, que se enfoca en el </a:t>
            </a:r>
            <a:r>
              <a:rPr lang="es-ES" sz="2400" b="1" dirty="0"/>
              <a:t>cambio organizacional</a:t>
            </a:r>
            <a:r>
              <a:rPr lang="es-ES" sz="2400" dirty="0"/>
              <a:t>, el modelo ADKAR de </a:t>
            </a:r>
            <a:r>
              <a:rPr lang="es-ES" sz="2400" b="1" dirty="0" err="1"/>
              <a:t>Prosci</a:t>
            </a:r>
            <a:r>
              <a:rPr lang="es-ES" sz="2400" dirty="0"/>
              <a:t> se centra en </a:t>
            </a:r>
            <a:r>
              <a:rPr lang="es-ES" sz="2400" b="1" dirty="0"/>
              <a:t>cómo las personas</a:t>
            </a:r>
            <a:r>
              <a:rPr lang="es-ES" sz="2400" dirty="0"/>
              <a:t> atraviesan el proceso de cambio.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15E88983-2522-E58A-51F5-8DFCBA1431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76847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15A7ACE-97FA-A25C-90B9-6047FB8A61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664452"/>
              </p:ext>
            </p:extLst>
          </p:nvPr>
        </p:nvGraphicFramePr>
        <p:xfrm>
          <a:off x="1467292" y="1573619"/>
          <a:ext cx="15225824" cy="6762307"/>
        </p:xfrm>
        <a:graphic>
          <a:graphicData uri="http://schemas.openxmlformats.org/drawingml/2006/table">
            <a:tbl>
              <a:tblPr/>
              <a:tblGrid>
                <a:gridCol w="3806456">
                  <a:extLst>
                    <a:ext uri="{9D8B030D-6E8A-4147-A177-3AD203B41FA5}">
                      <a16:colId xmlns:a16="http://schemas.microsoft.com/office/drawing/2014/main" val="1558823202"/>
                    </a:ext>
                  </a:extLst>
                </a:gridCol>
                <a:gridCol w="3806456">
                  <a:extLst>
                    <a:ext uri="{9D8B030D-6E8A-4147-A177-3AD203B41FA5}">
                      <a16:colId xmlns:a16="http://schemas.microsoft.com/office/drawing/2014/main" val="3169304872"/>
                    </a:ext>
                  </a:extLst>
                </a:gridCol>
                <a:gridCol w="3806456">
                  <a:extLst>
                    <a:ext uri="{9D8B030D-6E8A-4147-A177-3AD203B41FA5}">
                      <a16:colId xmlns:a16="http://schemas.microsoft.com/office/drawing/2014/main" val="2637595642"/>
                    </a:ext>
                  </a:extLst>
                </a:gridCol>
                <a:gridCol w="3806456">
                  <a:extLst>
                    <a:ext uri="{9D8B030D-6E8A-4147-A177-3AD203B41FA5}">
                      <a16:colId xmlns:a16="http://schemas.microsoft.com/office/drawing/2014/main" val="3373205149"/>
                    </a:ext>
                  </a:extLst>
                </a:gridCol>
              </a:tblGrid>
              <a:tr h="483022"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solidFill>
                            <a:schemeClr val="bg1"/>
                          </a:solidFill>
                        </a:rPr>
                        <a:t>Etapa</a:t>
                      </a:r>
                      <a:endParaRPr lang="es-E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solidFill>
                            <a:schemeClr val="bg1"/>
                          </a:solidFill>
                        </a:rPr>
                        <a:t>Objetivo</a:t>
                      </a:r>
                      <a:endParaRPr lang="es-E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solidFill>
                            <a:schemeClr val="bg1"/>
                          </a:solidFill>
                        </a:rPr>
                        <a:t>Acción clave</a:t>
                      </a:r>
                      <a:endParaRPr lang="es-E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>
                          <a:solidFill>
                            <a:schemeClr val="bg1"/>
                          </a:solidFill>
                        </a:rPr>
                        <a:t>Ejemplo</a:t>
                      </a:r>
                      <a:endParaRPr lang="es-ES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070509"/>
                  </a:ext>
                </a:extLst>
              </a:tr>
              <a:tr h="1255857">
                <a:tc>
                  <a:txBody>
                    <a:bodyPr/>
                    <a:lstStyle/>
                    <a:p>
                      <a:r>
                        <a:rPr lang="es-ES" sz="2400" b="1" dirty="0" err="1">
                          <a:solidFill>
                            <a:schemeClr val="bg2"/>
                          </a:solidFill>
                        </a:rPr>
                        <a:t>Awareness</a:t>
                      </a:r>
                      <a:r>
                        <a:rPr lang="es-ES" sz="2400" b="1" dirty="0">
                          <a:solidFill>
                            <a:schemeClr val="bg2"/>
                          </a:solidFill>
                        </a:rPr>
                        <a:t> (Conciencia)</a:t>
                      </a:r>
                      <a:endParaRPr lang="es-ES" sz="24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2400"/>
                        <a:t>Reconocer la necesidad del cambio.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2400"/>
                        <a:t>Informar sobre el impacto y beneficios.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2400" dirty="0"/>
                        <a:t>Comunicar por qué la empresa implementará un nuevo ERP.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283747"/>
                  </a:ext>
                </a:extLst>
              </a:tr>
              <a:tr h="1255857">
                <a:tc>
                  <a:txBody>
                    <a:bodyPr/>
                    <a:lstStyle/>
                    <a:p>
                      <a:r>
                        <a:rPr lang="es-ES" sz="2400" b="1" dirty="0" err="1">
                          <a:solidFill>
                            <a:schemeClr val="bg2"/>
                          </a:solidFill>
                        </a:rPr>
                        <a:t>Desire</a:t>
                      </a:r>
                      <a:r>
                        <a:rPr lang="es-ES" sz="2400" b="1" dirty="0">
                          <a:solidFill>
                            <a:schemeClr val="bg2"/>
                          </a:solidFill>
                        </a:rPr>
                        <a:t> (Deseo)</a:t>
                      </a:r>
                      <a:endParaRPr lang="es-ES" sz="24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2400"/>
                        <a:t>Generar motivación para participar en el cambio.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2400"/>
                        <a:t>Mostrar beneficios individuales y organizacionales.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2400"/>
                        <a:t>Explicar cómo la automatización reducirá tareas repetitivas.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797731"/>
                  </a:ext>
                </a:extLst>
              </a:tr>
              <a:tr h="1255857">
                <a:tc>
                  <a:txBody>
                    <a:bodyPr/>
                    <a:lstStyle/>
                    <a:p>
                      <a:r>
                        <a:rPr lang="es-ES" sz="2400" b="1" dirty="0" err="1">
                          <a:solidFill>
                            <a:schemeClr val="bg2"/>
                          </a:solidFill>
                        </a:rPr>
                        <a:t>Knowledge</a:t>
                      </a:r>
                      <a:r>
                        <a:rPr lang="es-ES" sz="2400" b="1" dirty="0">
                          <a:solidFill>
                            <a:schemeClr val="bg2"/>
                          </a:solidFill>
                        </a:rPr>
                        <a:t> (Conocimiento)</a:t>
                      </a:r>
                      <a:endParaRPr lang="es-ES" sz="24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2400"/>
                        <a:t>Proveer la información y formación necesarias.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2400"/>
                        <a:t>Capacitar en nuevas herramientas y procesos.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2400"/>
                        <a:t>Cursos sobre uso de CRM y análisis de datos.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137849"/>
                  </a:ext>
                </a:extLst>
              </a:tr>
              <a:tr h="1255857">
                <a:tc>
                  <a:txBody>
                    <a:bodyPr/>
                    <a:lstStyle/>
                    <a:p>
                      <a:r>
                        <a:rPr lang="es-ES" sz="2400" b="1" dirty="0" err="1">
                          <a:solidFill>
                            <a:schemeClr val="bg2"/>
                          </a:solidFill>
                        </a:rPr>
                        <a:t>Ability</a:t>
                      </a:r>
                      <a:r>
                        <a:rPr lang="es-ES" sz="2400" b="1" dirty="0">
                          <a:solidFill>
                            <a:schemeClr val="bg2"/>
                          </a:solidFill>
                        </a:rPr>
                        <a:t> (Habilidad)</a:t>
                      </a:r>
                      <a:endParaRPr lang="es-ES" sz="24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2400"/>
                        <a:t>Asegurar que las personas puedan aplicar el cambio.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2400"/>
                        <a:t>Supervisión, feedback y acompañamiento.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2400"/>
                        <a:t>Un equipo de soporte ayuda en la adopción de nuevas tecnologías.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011946"/>
                  </a:ext>
                </a:extLst>
              </a:tr>
              <a:tr h="1255857">
                <a:tc>
                  <a:txBody>
                    <a:bodyPr/>
                    <a:lstStyle/>
                    <a:p>
                      <a:r>
                        <a:rPr lang="es-ES" sz="2400" b="1" dirty="0" err="1">
                          <a:solidFill>
                            <a:schemeClr val="bg2"/>
                          </a:solidFill>
                        </a:rPr>
                        <a:t>Reinforcement</a:t>
                      </a:r>
                      <a:r>
                        <a:rPr lang="es-ES" sz="2400" b="1" dirty="0">
                          <a:solidFill>
                            <a:schemeClr val="bg2"/>
                          </a:solidFill>
                        </a:rPr>
                        <a:t> (Refuerzo)</a:t>
                      </a:r>
                      <a:endParaRPr lang="es-ES" sz="24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2400"/>
                        <a:t>Mantener el cambio en el tiempo.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2400"/>
                        <a:t>Crear incentivos, reconocer logros y revisar avances.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2400" dirty="0"/>
                        <a:t>Bonos por adopción de nuevas herramientas digitales.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752364"/>
                  </a:ext>
                </a:extLst>
              </a:tr>
            </a:tbl>
          </a:graphicData>
        </a:graphic>
      </p:graphicFrame>
      <p:sp>
        <p:nvSpPr>
          <p:cNvPr id="5" name="Google Shape;1268;g30689113c39_0_1672">
            <a:extLst>
              <a:ext uri="{FF2B5EF4-FFF2-40B4-BE49-F238E27FC236}">
                <a16:creationId xmlns:a16="http://schemas.microsoft.com/office/drawing/2014/main" id="{7AC5607C-477D-27DB-406F-1D4AC16BAD06}"/>
              </a:ext>
            </a:extLst>
          </p:cNvPr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242F588-E0F7-9049-BBF4-F46BD1DE55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68531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B81B083-03B4-C073-E85C-2CCF7041E969}"/>
              </a:ext>
            </a:extLst>
          </p:cNvPr>
          <p:cNvSpPr txBox="1"/>
          <p:nvPr/>
        </p:nvSpPr>
        <p:spPr>
          <a:xfrm>
            <a:off x="2658138" y="2130425"/>
            <a:ext cx="12929191" cy="4384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dirty="0"/>
              <a:t>📌 </a:t>
            </a:r>
            <a:r>
              <a:rPr lang="es-ES" sz="2400" b="1" dirty="0"/>
              <a:t>Ejemplo de aplicación del modelo ADKAR:</a:t>
            </a:r>
            <a:endParaRPr lang="es-ES" sz="2400" dirty="0"/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En una empresa de </a:t>
            </a:r>
            <a:r>
              <a:rPr lang="es-ES" sz="2400" dirty="0" err="1"/>
              <a:t>retail</a:t>
            </a:r>
            <a:r>
              <a:rPr lang="es-ES" sz="2400" dirty="0"/>
              <a:t>, se implementa un </a:t>
            </a:r>
            <a:r>
              <a:rPr lang="es-ES" sz="2400" b="1" dirty="0"/>
              <a:t>nuevo sistema de gestión de inventario digital</a:t>
            </a:r>
            <a:r>
              <a:rPr lang="es-ES" sz="2400" dirty="0"/>
              <a:t>.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Se sigue el proceso: </a:t>
            </a:r>
          </a:p>
          <a:p>
            <a:pPr marL="742950" lvl="1" indent="-28575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b="1" dirty="0"/>
              <a:t>Conciencia</a:t>
            </a:r>
            <a:r>
              <a:rPr lang="es-ES" sz="2400" dirty="0"/>
              <a:t>: Se explica la necesidad del cambio.</a:t>
            </a:r>
          </a:p>
          <a:p>
            <a:pPr marL="742950" lvl="1" indent="-28575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b="1" dirty="0"/>
              <a:t>Deseo</a:t>
            </a:r>
            <a:r>
              <a:rPr lang="es-ES" sz="2400" dirty="0"/>
              <a:t>: Se motiva a los empleados mostrando los beneficios.</a:t>
            </a:r>
          </a:p>
          <a:p>
            <a:pPr marL="742950" lvl="1" indent="-28575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b="1" dirty="0"/>
              <a:t>Conocimiento</a:t>
            </a:r>
            <a:r>
              <a:rPr lang="es-ES" sz="2400" dirty="0"/>
              <a:t>: Se imparten talleres sobre la nueva plataforma.</a:t>
            </a:r>
          </a:p>
          <a:p>
            <a:pPr marL="742950" lvl="1" indent="-28575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b="1" dirty="0"/>
              <a:t>Habilidad</a:t>
            </a:r>
            <a:r>
              <a:rPr lang="es-ES" sz="2400" dirty="0"/>
              <a:t>: Se ofrece soporte y mentoría en los primeros meses.</a:t>
            </a:r>
          </a:p>
          <a:p>
            <a:pPr marL="742950" lvl="1" indent="-285750"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b="1" dirty="0"/>
              <a:t>Refuerzo</a:t>
            </a:r>
            <a:r>
              <a:rPr lang="es-ES" sz="2400" dirty="0"/>
              <a:t>: Se reconocen a los empleados que adoptan el cambio con éxito.</a:t>
            </a:r>
          </a:p>
        </p:txBody>
      </p:sp>
      <p:sp>
        <p:nvSpPr>
          <p:cNvPr id="6" name="Google Shape;1268;g30689113c39_0_1672">
            <a:extLst>
              <a:ext uri="{FF2B5EF4-FFF2-40B4-BE49-F238E27FC236}">
                <a16:creationId xmlns:a16="http://schemas.microsoft.com/office/drawing/2014/main" id="{531E7044-398E-5E09-663B-7A3AD18F71AA}"/>
              </a:ext>
            </a:extLst>
          </p:cNvPr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FA8EDFD-A934-4218-2C47-7A5B7E0426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98991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CC374F2C-4AEA-328C-8A85-978F73598B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5295F6A-2A27-D79F-77EF-CFB97081761F}"/>
              </a:ext>
            </a:extLst>
          </p:cNvPr>
          <p:cNvSpPr txBox="1"/>
          <p:nvPr/>
        </p:nvSpPr>
        <p:spPr>
          <a:xfrm>
            <a:off x="414669" y="422816"/>
            <a:ext cx="17458661" cy="6951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📌 Preguntas para Profundizar en el Modelo ADKAR (5 Etapas del Cambio Personal)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endParaRPr lang="es-ES" sz="2400" b="1" dirty="0"/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1. </a:t>
            </a:r>
            <a:r>
              <a:rPr lang="es-ES" sz="2400" b="1" dirty="0" err="1"/>
              <a:t>Awareness</a:t>
            </a:r>
            <a:r>
              <a:rPr lang="es-ES" sz="2400" b="1" dirty="0"/>
              <a:t> (Conciencia)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¿Cómo explicas la </a:t>
            </a:r>
            <a:r>
              <a:rPr lang="es-ES" sz="2400" b="1" dirty="0"/>
              <a:t>razón del cambio</a:t>
            </a:r>
            <a:r>
              <a:rPr lang="es-ES" sz="2400" dirty="0"/>
              <a:t> a los empleados para que lo comprendan?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¿Qué métodos usarás para generar </a:t>
            </a:r>
            <a:r>
              <a:rPr lang="es-ES" sz="2400" b="1" dirty="0"/>
              <a:t>conciencia colectiva</a:t>
            </a:r>
            <a:r>
              <a:rPr lang="es-ES" sz="2400" dirty="0"/>
              <a:t> sobre la transformación digital?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¿Qué estrategias pueden ayudar a evitar </a:t>
            </a:r>
            <a:r>
              <a:rPr lang="es-ES" sz="2400" b="1" dirty="0"/>
              <a:t>rumores o desinformación</a:t>
            </a:r>
            <a:r>
              <a:rPr lang="es-ES" sz="2400" dirty="0"/>
              <a:t> sobre el cambio?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¿Cómo sabrás si los empleados realmente </a:t>
            </a:r>
            <a:r>
              <a:rPr lang="es-ES" sz="2400" b="1" dirty="0"/>
              <a:t>entienden la necesidad del cambio</a:t>
            </a:r>
            <a:r>
              <a:rPr lang="es-ES" sz="2400" dirty="0"/>
              <a:t>?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400" dirty="0"/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2. </a:t>
            </a:r>
            <a:r>
              <a:rPr lang="es-ES" sz="2400" b="1" dirty="0" err="1"/>
              <a:t>Desire</a:t>
            </a:r>
            <a:r>
              <a:rPr lang="es-ES" sz="2400" b="1" dirty="0"/>
              <a:t> (Deseo)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¿Qué incentivos o motivaciones personales pueden hacer que los empleados </a:t>
            </a:r>
            <a:r>
              <a:rPr lang="es-ES" sz="2400" b="1" dirty="0"/>
              <a:t>quieran</a:t>
            </a:r>
            <a:r>
              <a:rPr lang="es-ES" sz="2400" dirty="0"/>
              <a:t> participar en el cambio?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¿Cómo abordarías a un empleado que entiende el cambio pero </a:t>
            </a:r>
            <a:r>
              <a:rPr lang="es-ES" sz="2400" b="1" dirty="0"/>
              <a:t>no está motivado</a:t>
            </a:r>
            <a:r>
              <a:rPr lang="es-ES" sz="2400" dirty="0"/>
              <a:t> a participar?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¿Cómo puedes involucrar a los empleados para que </a:t>
            </a:r>
            <a:r>
              <a:rPr lang="es-ES" sz="2400" b="1" dirty="0"/>
              <a:t>se sientan parte</a:t>
            </a:r>
            <a:r>
              <a:rPr lang="es-ES" sz="2400" dirty="0"/>
              <a:t> del proceso de transformación?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¿Cómo puedes convertir a los líderes más influyentes en </a:t>
            </a:r>
            <a:r>
              <a:rPr lang="es-ES" sz="2400" b="1" dirty="0"/>
              <a:t>embajadores del cambio</a:t>
            </a:r>
            <a:r>
              <a:rPr lang="es-ES" sz="2400" dirty="0"/>
              <a:t>?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400" dirty="0"/>
          </a:p>
        </p:txBody>
      </p:sp>
      <p:sp>
        <p:nvSpPr>
          <p:cNvPr id="6" name="Google Shape;1268;g30689113c39_0_1672">
            <a:extLst>
              <a:ext uri="{FF2B5EF4-FFF2-40B4-BE49-F238E27FC236}">
                <a16:creationId xmlns:a16="http://schemas.microsoft.com/office/drawing/2014/main" id="{15324E89-0B8E-2414-C04E-A60D25294F1E}"/>
              </a:ext>
            </a:extLst>
          </p:cNvPr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D620DC4-AF27-FEF4-8BF1-7C75239FE4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70628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69B53-3C71-3096-F32A-2819302B8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60B762ED-3A21-77BD-99DC-046DEC3CE3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0E0E4BF-9F73-CFCE-6D80-CF37ED0F1B72}"/>
              </a:ext>
            </a:extLst>
          </p:cNvPr>
          <p:cNvSpPr txBox="1"/>
          <p:nvPr/>
        </p:nvSpPr>
        <p:spPr>
          <a:xfrm>
            <a:off x="414669" y="1722035"/>
            <a:ext cx="17458661" cy="3963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📌 Preguntas para Profundizar en el Modelo ADKAR (5 Etapas del Cambio Personal)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endParaRPr lang="es-ES" sz="2400" b="1" dirty="0"/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400" dirty="0"/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3. </a:t>
            </a:r>
            <a:r>
              <a:rPr lang="es-ES" sz="2400" b="1" dirty="0" err="1"/>
              <a:t>Knowledge</a:t>
            </a:r>
            <a:r>
              <a:rPr lang="es-ES" sz="2400" b="1" dirty="0"/>
              <a:t> (Conocimiento)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¿Qué conocimientos y habilidades necesitan los empleados para adoptar el cambio?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¿Cómo garantizarás que la capacitación sea </a:t>
            </a:r>
            <a:r>
              <a:rPr lang="es-ES" sz="2400" b="1" dirty="0"/>
              <a:t>práctica y efectiva</a:t>
            </a:r>
            <a:r>
              <a:rPr lang="es-ES" sz="2400" dirty="0"/>
              <a:t>?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¿Qué tipo de formación prefieren los empleados (presencial, online, coaching, etc.)?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¿Cómo te asegurarás de que </a:t>
            </a:r>
            <a:r>
              <a:rPr lang="es-ES" sz="2400" b="1" dirty="0"/>
              <a:t>todos tengan acceso</a:t>
            </a:r>
            <a:r>
              <a:rPr lang="es-ES" sz="2400" dirty="0"/>
              <a:t> a la información necesaria?</a:t>
            </a:r>
          </a:p>
        </p:txBody>
      </p:sp>
      <p:sp>
        <p:nvSpPr>
          <p:cNvPr id="6" name="Google Shape;1268;g30689113c39_0_1672">
            <a:extLst>
              <a:ext uri="{FF2B5EF4-FFF2-40B4-BE49-F238E27FC236}">
                <a16:creationId xmlns:a16="http://schemas.microsoft.com/office/drawing/2014/main" id="{BF8DA4EF-1E67-70FE-492C-F065BCF2B8CA}"/>
              </a:ext>
            </a:extLst>
          </p:cNvPr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890EC75-D1CF-D4EC-646E-2117282D9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60162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B646887-D7C4-9B35-0FD0-A7D6AA79A3BD}"/>
              </a:ext>
            </a:extLst>
          </p:cNvPr>
          <p:cNvSpPr txBox="1"/>
          <p:nvPr/>
        </p:nvSpPr>
        <p:spPr>
          <a:xfrm>
            <a:off x="318978" y="1285168"/>
            <a:ext cx="17586250" cy="6453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📌 Preguntas para Profundizar en el Modelo ADKAR (5 Etapas del Cambio Personal)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endParaRPr lang="es-ES" sz="2400" b="1" dirty="0"/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4. </a:t>
            </a:r>
            <a:r>
              <a:rPr lang="es-ES" sz="2400" b="1" dirty="0" err="1"/>
              <a:t>Ability</a:t>
            </a:r>
            <a:r>
              <a:rPr lang="es-ES" sz="2400" b="1" dirty="0"/>
              <a:t> (Habilidad)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¿Qué prácticas o ejercicios pueden ayudar a los empleados a aplicar lo aprendido?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¿Cómo puedes medir si las personas están </a:t>
            </a:r>
            <a:r>
              <a:rPr lang="es-ES" sz="2400" b="1" dirty="0"/>
              <a:t>realmente listas</a:t>
            </a:r>
            <a:r>
              <a:rPr lang="es-ES" sz="2400" dirty="0"/>
              <a:t> para operar en el nuevo entorno digital?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¿Qué estrategias de apoyo implementarás para los empleados que </a:t>
            </a:r>
            <a:r>
              <a:rPr lang="es-ES" sz="2400" b="1" dirty="0"/>
              <a:t>tienen dificultades</a:t>
            </a:r>
            <a:r>
              <a:rPr lang="es-ES" sz="2400" dirty="0"/>
              <a:t> con el cambio?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¿Cómo garantizarás que los líderes del equipo también desarrollen las habilidades necesarias para liderar el cambio?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2400" dirty="0"/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5. </a:t>
            </a:r>
            <a:r>
              <a:rPr lang="es-ES" sz="2400" b="1" dirty="0" err="1"/>
              <a:t>Reinforcement</a:t>
            </a:r>
            <a:r>
              <a:rPr lang="es-ES" sz="2400" b="1" dirty="0"/>
              <a:t> (Refuerzo)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¿Cómo puedes reforzar y consolidar el cambio en la empresa?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¿Qué mecanismos de </a:t>
            </a:r>
            <a:r>
              <a:rPr lang="es-ES" sz="2400" dirty="0" err="1"/>
              <a:t>feedback</a:t>
            </a:r>
            <a:r>
              <a:rPr lang="es-ES" sz="2400" dirty="0"/>
              <a:t> implementarás para detectar áreas de mejora?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¿Cómo reconocerás y premiarás a los empleados que adopten el cambio con éxito?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¿Cómo evitarás que la organización </a:t>
            </a:r>
            <a:r>
              <a:rPr lang="es-ES" sz="2400" b="1" dirty="0"/>
              <a:t>retroceda a las antiguas prácticas</a:t>
            </a:r>
            <a:r>
              <a:rPr lang="es-ES" sz="2400" dirty="0"/>
              <a:t>?</a:t>
            </a:r>
          </a:p>
        </p:txBody>
      </p:sp>
      <p:sp>
        <p:nvSpPr>
          <p:cNvPr id="6" name="Google Shape;1268;g30689113c39_0_1672">
            <a:extLst>
              <a:ext uri="{FF2B5EF4-FFF2-40B4-BE49-F238E27FC236}">
                <a16:creationId xmlns:a16="http://schemas.microsoft.com/office/drawing/2014/main" id="{65FCBB21-DF01-57B4-3B4E-C9B1F168ED2D}"/>
              </a:ext>
            </a:extLst>
          </p:cNvPr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E3FA45A-4302-BAE6-467E-7608887CE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08214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756168-28B0-2350-5CB6-57C36942BA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ABCE4C-740C-89BC-F958-3148984576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17410" name="Picture 2" descr="Objetivos SMART: qué son, ejemplos y cómo aplicarlos">
            <a:extLst>
              <a:ext uri="{FF2B5EF4-FFF2-40B4-BE49-F238E27FC236}">
                <a16:creationId xmlns:a16="http://schemas.microsoft.com/office/drawing/2014/main" id="{D7A4191A-E601-DED4-A04A-FED1F5640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478" y="1448899"/>
            <a:ext cx="14114721" cy="7904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268;g30689113c39_0_1672">
            <a:extLst>
              <a:ext uri="{FF2B5EF4-FFF2-40B4-BE49-F238E27FC236}">
                <a16:creationId xmlns:a16="http://schemas.microsoft.com/office/drawing/2014/main" id="{E85EB2BF-6602-643C-2097-F2E0DB505B52}"/>
              </a:ext>
            </a:extLst>
          </p:cNvPr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00696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B212F3A-EDD8-A586-13D0-8AD2387E5B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241121"/>
              </p:ext>
            </p:extLst>
          </p:nvPr>
        </p:nvGraphicFramePr>
        <p:xfrm>
          <a:off x="850605" y="2892056"/>
          <a:ext cx="17097153" cy="49542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83058">
                  <a:extLst>
                    <a:ext uri="{9D8B030D-6E8A-4147-A177-3AD203B41FA5}">
                      <a16:colId xmlns:a16="http://schemas.microsoft.com/office/drawing/2014/main" val="619070012"/>
                    </a:ext>
                  </a:extLst>
                </a:gridCol>
                <a:gridCol w="5320160">
                  <a:extLst>
                    <a:ext uri="{9D8B030D-6E8A-4147-A177-3AD203B41FA5}">
                      <a16:colId xmlns:a16="http://schemas.microsoft.com/office/drawing/2014/main" val="4200143958"/>
                    </a:ext>
                  </a:extLst>
                </a:gridCol>
                <a:gridCol w="7293935">
                  <a:extLst>
                    <a:ext uri="{9D8B030D-6E8A-4147-A177-3AD203B41FA5}">
                      <a16:colId xmlns:a16="http://schemas.microsoft.com/office/drawing/2014/main" val="563665418"/>
                    </a:ext>
                  </a:extLst>
                </a:gridCol>
              </a:tblGrid>
              <a:tr h="808074">
                <a:tc>
                  <a:txBody>
                    <a:bodyPr/>
                    <a:lstStyle/>
                    <a:p>
                      <a:pPr algn="ctr" fontAlgn="t"/>
                      <a:r>
                        <a:rPr lang="es-ES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Criterio</a:t>
                      </a:r>
                    </a:p>
                  </a:txBody>
                  <a:tcPr marL="5320" marR="5320" marT="53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Descripción</a:t>
                      </a:r>
                      <a:endParaRPr lang="es-ES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20" marR="5320" marT="53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2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Ejemplo en Transformación Digital</a:t>
                      </a:r>
                      <a:endParaRPr lang="es-ES" sz="2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20" marR="5320" marT="532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021186"/>
                  </a:ext>
                </a:extLst>
              </a:tr>
              <a:tr h="941579">
                <a:tc>
                  <a:txBody>
                    <a:bodyPr/>
                    <a:lstStyle/>
                    <a:p>
                      <a:pPr algn="l" fontAlgn="b"/>
                      <a:r>
                        <a:rPr lang="es-ES" sz="2400" b="1" u="none" strike="noStrike" dirty="0">
                          <a:solidFill>
                            <a:schemeClr val="bg2"/>
                          </a:solidFill>
                          <a:effectLst/>
                        </a:rPr>
                        <a:t>S - </a:t>
                      </a:r>
                      <a:r>
                        <a:rPr lang="es-ES" sz="2400" b="1" u="none" strike="noStrike" dirty="0" err="1">
                          <a:solidFill>
                            <a:schemeClr val="bg2"/>
                          </a:solidFill>
                          <a:effectLst/>
                        </a:rPr>
                        <a:t>Specific</a:t>
                      </a:r>
                      <a:r>
                        <a:rPr lang="es-ES" sz="2400" b="1" u="none" strike="noStrike" dirty="0">
                          <a:solidFill>
                            <a:schemeClr val="bg2"/>
                          </a:solidFill>
                          <a:effectLst/>
                        </a:rPr>
                        <a:t> (Específico)</a:t>
                      </a:r>
                      <a:endParaRPr lang="es-ES" sz="2400" b="1" i="0" u="none" strike="noStrike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20" marR="5320" marT="53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400" u="none" strike="noStrike">
                          <a:effectLst/>
                        </a:rPr>
                        <a:t>El objetivo debe ser claro y detallado.</a:t>
                      </a:r>
                      <a:endParaRPr lang="es-E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20" marR="5320" marT="53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400" u="none" strike="noStrike" dirty="0">
                          <a:effectLst/>
                        </a:rPr>
                        <a:t>Implementar un CRM para mejorar la gestión de clientes en el departamento de ventas.</a:t>
                      </a:r>
                      <a:endParaRPr lang="es-E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20" marR="5320" marT="53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8492511"/>
                  </a:ext>
                </a:extLst>
              </a:tr>
              <a:tr h="754327">
                <a:tc>
                  <a:txBody>
                    <a:bodyPr/>
                    <a:lstStyle/>
                    <a:p>
                      <a:pPr algn="l" fontAlgn="b"/>
                      <a:r>
                        <a:rPr lang="es-ES" sz="2400" b="1" u="none" strike="noStrike" dirty="0">
                          <a:solidFill>
                            <a:schemeClr val="bg2"/>
                          </a:solidFill>
                          <a:effectLst/>
                        </a:rPr>
                        <a:t>M - </a:t>
                      </a:r>
                      <a:r>
                        <a:rPr lang="es-ES" sz="2400" b="1" u="none" strike="noStrike" dirty="0" err="1">
                          <a:solidFill>
                            <a:schemeClr val="bg2"/>
                          </a:solidFill>
                          <a:effectLst/>
                        </a:rPr>
                        <a:t>Measurable</a:t>
                      </a:r>
                      <a:r>
                        <a:rPr lang="es-ES" sz="2400" b="1" u="none" strike="noStrike" dirty="0">
                          <a:solidFill>
                            <a:schemeClr val="bg2"/>
                          </a:solidFill>
                          <a:effectLst/>
                        </a:rPr>
                        <a:t> (Medible)</a:t>
                      </a:r>
                      <a:endParaRPr lang="es-ES" sz="2400" b="1" i="0" u="none" strike="noStrike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20" marR="5320" marT="53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400" u="none" strike="noStrike" dirty="0">
                          <a:effectLst/>
                        </a:rPr>
                        <a:t>Debe incluir métricas o indicadores para evaluar su progreso.</a:t>
                      </a:r>
                      <a:endParaRPr lang="es-E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20" marR="5320" marT="53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400" u="none" strike="noStrike" dirty="0">
                          <a:effectLst/>
                        </a:rPr>
                        <a:t>Aumentar en un 20% la tasa de conversión de clientes en los próximos 6 meses.</a:t>
                      </a:r>
                      <a:endParaRPr lang="es-E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20" marR="5320" marT="53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8567503"/>
                  </a:ext>
                </a:extLst>
              </a:tr>
              <a:tr h="847953">
                <a:tc>
                  <a:txBody>
                    <a:bodyPr/>
                    <a:lstStyle/>
                    <a:p>
                      <a:pPr algn="l" fontAlgn="b"/>
                      <a:r>
                        <a:rPr lang="es-ES" sz="2400" b="1" u="none" strike="noStrike" dirty="0">
                          <a:solidFill>
                            <a:schemeClr val="bg2"/>
                          </a:solidFill>
                          <a:effectLst/>
                        </a:rPr>
                        <a:t>A - </a:t>
                      </a:r>
                      <a:r>
                        <a:rPr lang="es-ES" sz="2400" b="1" u="none" strike="noStrike" dirty="0" err="1">
                          <a:solidFill>
                            <a:schemeClr val="bg2"/>
                          </a:solidFill>
                          <a:effectLst/>
                        </a:rPr>
                        <a:t>Achievable</a:t>
                      </a:r>
                      <a:r>
                        <a:rPr lang="es-ES" sz="2400" b="1" u="none" strike="noStrike" dirty="0">
                          <a:solidFill>
                            <a:schemeClr val="bg2"/>
                          </a:solidFill>
                          <a:effectLst/>
                        </a:rPr>
                        <a:t> (Alcanzable)</a:t>
                      </a:r>
                      <a:endParaRPr lang="es-ES" sz="2400" b="1" i="0" u="none" strike="noStrike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20" marR="5320" marT="53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400" u="none" strike="noStrike" dirty="0">
                          <a:effectLst/>
                        </a:rPr>
                        <a:t>Debe ser realista dentro de los recursos y capacidades disponibles.</a:t>
                      </a:r>
                      <a:endParaRPr lang="es-E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20" marR="5320" marT="53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400" u="none" strike="noStrike" dirty="0">
                          <a:effectLst/>
                        </a:rPr>
                        <a:t>Capacitar al 100% del equipo comercial en el uso del CRM en un plazo de 3 meses.</a:t>
                      </a:r>
                      <a:endParaRPr lang="es-E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20" marR="5320" marT="53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500231"/>
                  </a:ext>
                </a:extLst>
              </a:tr>
              <a:tr h="847953">
                <a:tc>
                  <a:txBody>
                    <a:bodyPr/>
                    <a:lstStyle/>
                    <a:p>
                      <a:pPr algn="l" fontAlgn="b"/>
                      <a:r>
                        <a:rPr lang="es-ES" sz="2400" b="1" u="none" strike="noStrike" dirty="0">
                          <a:solidFill>
                            <a:schemeClr val="bg2"/>
                          </a:solidFill>
                          <a:effectLst/>
                        </a:rPr>
                        <a:t>R - </a:t>
                      </a:r>
                      <a:r>
                        <a:rPr lang="es-ES" sz="2400" b="1" u="none" strike="noStrike" dirty="0" err="1">
                          <a:solidFill>
                            <a:schemeClr val="bg2"/>
                          </a:solidFill>
                          <a:effectLst/>
                        </a:rPr>
                        <a:t>Relevant</a:t>
                      </a:r>
                      <a:r>
                        <a:rPr lang="es-ES" sz="2400" b="1" u="none" strike="noStrike" dirty="0">
                          <a:solidFill>
                            <a:schemeClr val="bg2"/>
                          </a:solidFill>
                          <a:effectLst/>
                        </a:rPr>
                        <a:t> (Relevante)</a:t>
                      </a:r>
                      <a:endParaRPr lang="es-ES" sz="2400" b="1" i="0" u="none" strike="noStrike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20" marR="5320" marT="53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400" u="none" strike="noStrike" dirty="0">
                          <a:effectLst/>
                        </a:rPr>
                        <a:t>Debe estar alineado con los objetivos estratégicos de la empresa.</a:t>
                      </a:r>
                      <a:endParaRPr lang="es-E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20" marR="5320" marT="53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400" u="none" strike="noStrike" dirty="0">
                          <a:effectLst/>
                        </a:rPr>
                        <a:t>Mejorar la atención al cliente digital para aumentar la retención de usuarios.</a:t>
                      </a:r>
                      <a:endParaRPr lang="es-E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20" marR="5320" marT="53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953779"/>
                  </a:ext>
                </a:extLst>
              </a:tr>
              <a:tr h="754327">
                <a:tc>
                  <a:txBody>
                    <a:bodyPr/>
                    <a:lstStyle/>
                    <a:p>
                      <a:pPr algn="l" fontAlgn="b"/>
                      <a:r>
                        <a:rPr lang="es-ES" sz="2400" b="1" u="none" strike="noStrike" dirty="0">
                          <a:solidFill>
                            <a:schemeClr val="bg2"/>
                          </a:solidFill>
                          <a:effectLst/>
                        </a:rPr>
                        <a:t>T - Time-</a:t>
                      </a:r>
                      <a:r>
                        <a:rPr lang="es-ES" sz="2400" b="1" u="none" strike="noStrike" dirty="0" err="1">
                          <a:solidFill>
                            <a:schemeClr val="bg2"/>
                          </a:solidFill>
                          <a:effectLst/>
                        </a:rPr>
                        <a:t>bound</a:t>
                      </a:r>
                      <a:r>
                        <a:rPr lang="es-ES" sz="2400" b="1" u="none" strike="noStrike" dirty="0">
                          <a:solidFill>
                            <a:schemeClr val="bg2"/>
                          </a:solidFill>
                          <a:effectLst/>
                        </a:rPr>
                        <a:t> (Tiempo determinado)</a:t>
                      </a:r>
                      <a:endParaRPr lang="es-ES" sz="2400" b="1" i="0" u="none" strike="noStrike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20" marR="5320" marT="53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400" u="none" strike="noStrike" dirty="0">
                          <a:effectLst/>
                        </a:rPr>
                        <a:t>Debe contar con un plazo definido para su cumplimiento.</a:t>
                      </a:r>
                      <a:endParaRPr lang="es-E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20" marR="5320" marT="53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400" u="none" strike="noStrike" dirty="0">
                          <a:effectLst/>
                        </a:rPr>
                        <a:t>Lanzar la implementación del CRM en todas las sucursales para el 30 de junio.</a:t>
                      </a:r>
                      <a:endParaRPr lang="es-E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20" marR="5320" marT="53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115177"/>
                  </a:ext>
                </a:extLst>
              </a:tr>
            </a:tbl>
          </a:graphicData>
        </a:graphic>
      </p:graphicFrame>
      <p:sp>
        <p:nvSpPr>
          <p:cNvPr id="5" name="Google Shape;1268;g30689113c39_0_1672">
            <a:extLst>
              <a:ext uri="{FF2B5EF4-FFF2-40B4-BE49-F238E27FC236}">
                <a16:creationId xmlns:a16="http://schemas.microsoft.com/office/drawing/2014/main" id="{278E5709-571A-2A4D-83D8-91A166372F30}"/>
              </a:ext>
            </a:extLst>
          </p:cNvPr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286A717-8B8A-1B46-B068-A3909BF365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47594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BF9C5AD-5032-5AF7-B0E1-5E141B905714}"/>
              </a:ext>
            </a:extLst>
          </p:cNvPr>
          <p:cNvSpPr txBox="1"/>
          <p:nvPr/>
        </p:nvSpPr>
        <p:spPr>
          <a:xfrm>
            <a:off x="935663" y="1947170"/>
            <a:ext cx="14226363" cy="281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📌 Ejemplo de un Objetivo SMART en Transformación Digital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endParaRPr lang="es-ES" sz="2400" b="1" dirty="0"/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dirty="0"/>
              <a:t>❌ </a:t>
            </a:r>
            <a:r>
              <a:rPr lang="es-ES" sz="2400" b="1" dirty="0"/>
              <a:t>Objetivo mal definido:</a:t>
            </a:r>
            <a:r>
              <a:rPr lang="es-ES" sz="2400" dirty="0"/>
              <a:t> "Queremos mejorar la digitalización en la empresa.”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br>
              <a:rPr lang="es-ES" sz="2400" dirty="0"/>
            </a:br>
            <a:r>
              <a:rPr lang="es-ES" sz="2400" dirty="0"/>
              <a:t>✅ </a:t>
            </a:r>
            <a:r>
              <a:rPr lang="es-ES" sz="2400" b="1" dirty="0"/>
              <a:t>Objetivo SMART:</a:t>
            </a:r>
            <a:r>
              <a:rPr lang="es-ES" sz="2400" dirty="0"/>
              <a:t> "Automatizar el 50% de los procesos administrativos mediante un ERP antes de diciembre de 2024, reduciendo el tiempo de gestión manual en un 30%."</a:t>
            </a:r>
          </a:p>
        </p:txBody>
      </p:sp>
      <p:sp>
        <p:nvSpPr>
          <p:cNvPr id="6" name="Google Shape;1268;g30689113c39_0_1672">
            <a:extLst>
              <a:ext uri="{FF2B5EF4-FFF2-40B4-BE49-F238E27FC236}">
                <a16:creationId xmlns:a16="http://schemas.microsoft.com/office/drawing/2014/main" id="{81684DE5-5EAB-9217-7B87-7E382BF1A81B}"/>
              </a:ext>
            </a:extLst>
          </p:cNvPr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03B930B-5D17-A90E-FEAA-2C82EF5121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367313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8D342BD-E5B5-8F40-E2D5-187AE426F386}"/>
              </a:ext>
            </a:extLst>
          </p:cNvPr>
          <p:cNvSpPr txBox="1"/>
          <p:nvPr/>
        </p:nvSpPr>
        <p:spPr>
          <a:xfrm>
            <a:off x="935666" y="1872848"/>
            <a:ext cx="16778176" cy="522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📌 Preguntas para la Formulación de Objetivos SMART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🔹 </a:t>
            </a:r>
            <a:r>
              <a:rPr lang="es-ES" sz="2400" b="1" dirty="0" err="1"/>
              <a:t>Specific</a:t>
            </a:r>
            <a:r>
              <a:rPr lang="es-ES" sz="2400" b="1" dirty="0"/>
              <a:t> (Específico)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¿Qué </a:t>
            </a:r>
            <a:r>
              <a:rPr lang="es-ES" sz="2400" b="1" dirty="0"/>
              <a:t>exactamente</a:t>
            </a:r>
            <a:r>
              <a:rPr lang="es-ES" sz="2400" dirty="0"/>
              <a:t> quiero lograr con este objetivo?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¿Quiénes están involucrados en este objetivo?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¿Dónde se aplicará este cambio o mejora?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¿Por qué es importante alcanzar este objetivo?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Ejemplo:</a:t>
            </a:r>
            <a:br>
              <a:rPr lang="es-ES" sz="2400" dirty="0"/>
            </a:br>
            <a:r>
              <a:rPr lang="es-ES" sz="2400" dirty="0"/>
              <a:t>❓ </a:t>
            </a:r>
            <a:r>
              <a:rPr lang="es-ES" sz="2400" b="1" dirty="0"/>
              <a:t>Pregunta:</a:t>
            </a:r>
            <a:r>
              <a:rPr lang="es-ES" sz="2400" dirty="0"/>
              <a:t> "¿Cuál es el resultado esperado al implementar esta tecnología?"</a:t>
            </a:r>
            <a:br>
              <a:rPr lang="es-ES" sz="2400" dirty="0"/>
            </a:br>
            <a:r>
              <a:rPr lang="es-ES" sz="2400" dirty="0"/>
              <a:t>✅ </a:t>
            </a:r>
            <a:r>
              <a:rPr lang="es-ES" sz="2400" b="1" dirty="0"/>
              <a:t>Respuesta:</a:t>
            </a:r>
            <a:r>
              <a:rPr lang="es-ES" sz="2400" dirty="0"/>
              <a:t> "Queremos reducir los tiempos de espera de los clientes en un 20% mediante la automatización de respuestas con un </a:t>
            </a:r>
            <a:r>
              <a:rPr lang="es-ES" sz="2400" dirty="0" err="1"/>
              <a:t>chatbot</a:t>
            </a:r>
            <a:r>
              <a:rPr lang="es-ES" sz="2400" dirty="0"/>
              <a:t>."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endParaRPr lang="es-ES" sz="2400" dirty="0"/>
          </a:p>
        </p:txBody>
      </p:sp>
      <p:sp>
        <p:nvSpPr>
          <p:cNvPr id="6" name="Google Shape;1268;g30689113c39_0_1672">
            <a:extLst>
              <a:ext uri="{FF2B5EF4-FFF2-40B4-BE49-F238E27FC236}">
                <a16:creationId xmlns:a16="http://schemas.microsoft.com/office/drawing/2014/main" id="{241F7E3B-C79F-B3CE-5801-778CAEF40984}"/>
              </a:ext>
            </a:extLst>
          </p:cNvPr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D9B22B0-0550-B4F5-CE84-01BE6BFAF7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21667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1E1CE-6487-5BEA-545C-A0B05CC67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E5F40B3-76F5-C1AE-BA63-44C442FB2BA4}"/>
              </a:ext>
            </a:extLst>
          </p:cNvPr>
          <p:cNvSpPr txBox="1"/>
          <p:nvPr/>
        </p:nvSpPr>
        <p:spPr>
          <a:xfrm>
            <a:off x="935666" y="1872848"/>
            <a:ext cx="16778176" cy="4230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📌 Preguntas para la Formulación de Objetivos SMART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🔹 </a:t>
            </a:r>
            <a:r>
              <a:rPr lang="es-ES" sz="2400" b="1" dirty="0" err="1"/>
              <a:t>Measurable</a:t>
            </a:r>
            <a:r>
              <a:rPr lang="es-ES" sz="2400" b="1" dirty="0"/>
              <a:t> (Medible)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¿Cómo sabré que el objetivo se está logrando?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¿Qué métricas o </a:t>
            </a:r>
            <a:r>
              <a:rPr lang="es-ES" sz="2400" dirty="0" err="1"/>
              <a:t>KPIs</a:t>
            </a:r>
            <a:r>
              <a:rPr lang="es-ES" sz="2400" dirty="0"/>
              <a:t> utilizaré para medir el progreso?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¿Cuál es la cantidad exacta o el porcentaje de mejora que espero alcanzar?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Ejemplo:</a:t>
            </a:r>
            <a:br>
              <a:rPr lang="es-ES" sz="2400" dirty="0"/>
            </a:br>
            <a:r>
              <a:rPr lang="es-ES" sz="2400" dirty="0"/>
              <a:t>❓ </a:t>
            </a:r>
            <a:r>
              <a:rPr lang="es-ES" sz="2400" b="1" dirty="0"/>
              <a:t>Pregunta:</a:t>
            </a:r>
            <a:r>
              <a:rPr lang="es-ES" sz="2400" dirty="0"/>
              <a:t> "¿Cómo medirás el éxito del cambio?"</a:t>
            </a:r>
            <a:br>
              <a:rPr lang="es-ES" sz="2400" dirty="0"/>
            </a:br>
            <a:r>
              <a:rPr lang="es-ES" sz="2400" dirty="0"/>
              <a:t>✅ </a:t>
            </a:r>
            <a:r>
              <a:rPr lang="es-ES" sz="2400" b="1" dirty="0"/>
              <a:t>Respuesta:</a:t>
            </a:r>
            <a:r>
              <a:rPr lang="es-ES" sz="2400" dirty="0"/>
              <a:t> "Mediremos el éxito mediante el número de tickets de soporte resueltos automáticamente por el </a:t>
            </a:r>
            <a:r>
              <a:rPr lang="es-ES" sz="2400" dirty="0" err="1"/>
              <a:t>chatbot</a:t>
            </a:r>
            <a:r>
              <a:rPr lang="es-ES" sz="2400" dirty="0"/>
              <a:t> en comparación con los meses previos a su implementación."</a:t>
            </a:r>
          </a:p>
        </p:txBody>
      </p:sp>
      <p:sp>
        <p:nvSpPr>
          <p:cNvPr id="2" name="Google Shape;1268;g30689113c39_0_1672">
            <a:extLst>
              <a:ext uri="{FF2B5EF4-FFF2-40B4-BE49-F238E27FC236}">
                <a16:creationId xmlns:a16="http://schemas.microsoft.com/office/drawing/2014/main" id="{F5C24AC8-2C40-40B5-49E2-284A71F4E971}"/>
              </a:ext>
            </a:extLst>
          </p:cNvPr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5D43738-F63C-8B0D-7B37-F7049F1D78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57527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8F316-83C6-6533-9829-BD90BC0D8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178DDEB-38C2-4576-EB95-AD55F343CF7F}"/>
              </a:ext>
            </a:extLst>
          </p:cNvPr>
          <p:cNvSpPr txBox="1"/>
          <p:nvPr/>
        </p:nvSpPr>
        <p:spPr>
          <a:xfrm>
            <a:off x="935666" y="1872848"/>
            <a:ext cx="16778176" cy="4230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📌 Preguntas para la Formulación de Objetivos SMART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🔹 </a:t>
            </a:r>
            <a:r>
              <a:rPr lang="es-ES" sz="2400" b="1" dirty="0" err="1"/>
              <a:t>Achievable</a:t>
            </a:r>
            <a:r>
              <a:rPr lang="es-ES" sz="2400" b="1" dirty="0"/>
              <a:t> (Alcanzable)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¿Es este objetivo realista con los recursos actuales?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¿Qué limitaciones o desafíos podrían impedir su cumplimiento?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¿Necesitamos formación o herramientas adicionales para lograrlo?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Ejemplo:</a:t>
            </a:r>
            <a:br>
              <a:rPr lang="es-ES" sz="2400" dirty="0"/>
            </a:br>
            <a:r>
              <a:rPr lang="es-ES" sz="2400" dirty="0"/>
              <a:t>❓ </a:t>
            </a:r>
            <a:r>
              <a:rPr lang="es-ES" sz="2400" b="1" dirty="0"/>
              <a:t>Pregunta:</a:t>
            </a:r>
            <a:r>
              <a:rPr lang="es-ES" sz="2400" dirty="0"/>
              <a:t> "¿El equipo tiene las habilidades necesarias para adoptar esta nueva tecnología?"</a:t>
            </a:r>
            <a:br>
              <a:rPr lang="es-ES" sz="2400" dirty="0"/>
            </a:br>
            <a:r>
              <a:rPr lang="es-ES" sz="2400" dirty="0"/>
              <a:t>✅ </a:t>
            </a:r>
            <a:r>
              <a:rPr lang="es-ES" sz="2400" b="1" dirty="0"/>
              <a:t>Respuesta:</a:t>
            </a:r>
            <a:r>
              <a:rPr lang="es-ES" sz="2400" dirty="0"/>
              <a:t> "Si bien el equipo no está completamente capacitado, incluiremos un programa de formación de dos meses antes de la implementación."</a:t>
            </a:r>
          </a:p>
        </p:txBody>
      </p:sp>
      <p:sp>
        <p:nvSpPr>
          <p:cNvPr id="2" name="Google Shape;1268;g30689113c39_0_1672">
            <a:extLst>
              <a:ext uri="{FF2B5EF4-FFF2-40B4-BE49-F238E27FC236}">
                <a16:creationId xmlns:a16="http://schemas.microsoft.com/office/drawing/2014/main" id="{DD6B54B8-DC6B-36FA-5C23-5F2FD76DBE8A}"/>
              </a:ext>
            </a:extLst>
          </p:cNvPr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3ADB7FA-5036-D094-750C-4747CFFD6F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3104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A0D0D-7A00-D5A2-E8B3-88F802BD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448B199-1D8A-5FD1-5553-50F331487A5F}"/>
              </a:ext>
            </a:extLst>
          </p:cNvPr>
          <p:cNvSpPr txBox="1"/>
          <p:nvPr/>
        </p:nvSpPr>
        <p:spPr>
          <a:xfrm>
            <a:off x="935666" y="1872848"/>
            <a:ext cx="16778176" cy="4230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📌 Preguntas para la Formulación de Objetivos SMART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🔹 </a:t>
            </a:r>
            <a:r>
              <a:rPr lang="es-ES" sz="2400" b="1" dirty="0" err="1"/>
              <a:t>Relevant</a:t>
            </a:r>
            <a:r>
              <a:rPr lang="es-ES" sz="2400" b="1" dirty="0"/>
              <a:t> (Relevante)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¿Este objetivo está alineado con la estrategia de la empresa?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¿Cómo contribuirá a la mejora de la organización o de los clientes?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¿Por qué es importante lograr este objetivo en este momento?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Ejemplo:</a:t>
            </a:r>
            <a:br>
              <a:rPr lang="es-ES" sz="2400" dirty="0"/>
            </a:br>
            <a:r>
              <a:rPr lang="es-ES" sz="2400" dirty="0"/>
              <a:t>❓ </a:t>
            </a:r>
            <a:r>
              <a:rPr lang="es-ES" sz="2400" b="1" dirty="0"/>
              <a:t>Pregunta:</a:t>
            </a:r>
            <a:r>
              <a:rPr lang="es-ES" sz="2400" dirty="0"/>
              <a:t> "¿Cómo contribuye esta iniciativa a los objetivos de la empresa?"</a:t>
            </a:r>
            <a:br>
              <a:rPr lang="es-ES" sz="2400" dirty="0"/>
            </a:br>
            <a:r>
              <a:rPr lang="es-ES" sz="2400" dirty="0"/>
              <a:t>✅ </a:t>
            </a:r>
            <a:r>
              <a:rPr lang="es-ES" sz="2400" b="1" dirty="0"/>
              <a:t>Respuesta:</a:t>
            </a:r>
            <a:r>
              <a:rPr lang="es-ES" sz="2400" dirty="0"/>
              <a:t> "La automatización del servicio al cliente reducirá costos operativos y mejorará la satisfacción de los clientes, alineándose con nuestra meta de digitalización."</a:t>
            </a:r>
          </a:p>
        </p:txBody>
      </p:sp>
      <p:sp>
        <p:nvSpPr>
          <p:cNvPr id="2" name="Google Shape;1268;g30689113c39_0_1672">
            <a:extLst>
              <a:ext uri="{FF2B5EF4-FFF2-40B4-BE49-F238E27FC236}">
                <a16:creationId xmlns:a16="http://schemas.microsoft.com/office/drawing/2014/main" id="{B9B3D0FB-BE53-A148-F213-46B0A20321A4}"/>
              </a:ext>
            </a:extLst>
          </p:cNvPr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11702D0-B33B-6446-2A35-CA21D1235A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03333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2841B-EF22-81F7-15AE-952161E4C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9963F6B7-29B2-59A9-8CDA-08D4EFF3AF2E}"/>
              </a:ext>
            </a:extLst>
          </p:cNvPr>
          <p:cNvSpPr txBox="1"/>
          <p:nvPr/>
        </p:nvSpPr>
        <p:spPr>
          <a:xfrm>
            <a:off x="935666" y="1872848"/>
            <a:ext cx="16778176" cy="4230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📌 Preguntas para la Formulación de Objetivos SMART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🔹 Time-</a:t>
            </a:r>
            <a:r>
              <a:rPr lang="es-ES" sz="2400" b="1" dirty="0" err="1"/>
              <a:t>bound</a:t>
            </a:r>
            <a:r>
              <a:rPr lang="es-ES" sz="2400" b="1" dirty="0"/>
              <a:t> (Tiempo determinado)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¿Cuándo debe completarse este objetivo?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¿Cuáles son los plazos intermedios para evaluar el progreso?</a:t>
            </a:r>
          </a:p>
          <a:p>
            <a:pPr>
              <a:lnSpc>
                <a:spcPct val="114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¿Qué ocurrirá si el objetivo no se cumple en la fecha establecida?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es-ES" sz="2400" b="1" dirty="0"/>
              <a:t>Ejemplo:</a:t>
            </a:r>
            <a:br>
              <a:rPr lang="es-ES" sz="2400" dirty="0"/>
            </a:br>
            <a:r>
              <a:rPr lang="es-ES" sz="2400" dirty="0"/>
              <a:t>❓ </a:t>
            </a:r>
            <a:r>
              <a:rPr lang="es-ES" sz="2400" b="1" dirty="0"/>
              <a:t>Pregunta:</a:t>
            </a:r>
            <a:r>
              <a:rPr lang="es-ES" sz="2400" dirty="0"/>
              <a:t> "¿En qué momento deben verse los primeros resultados?"</a:t>
            </a:r>
            <a:br>
              <a:rPr lang="es-ES" sz="2400" dirty="0"/>
            </a:br>
            <a:r>
              <a:rPr lang="es-ES" sz="2400" dirty="0"/>
              <a:t>✅ </a:t>
            </a:r>
            <a:r>
              <a:rPr lang="es-ES" sz="2400" b="1" dirty="0"/>
              <a:t>Respuesta:</a:t>
            </a:r>
            <a:r>
              <a:rPr lang="es-ES" sz="2400" dirty="0"/>
              <a:t> "Esperamos que el </a:t>
            </a:r>
            <a:r>
              <a:rPr lang="es-ES" sz="2400" dirty="0" err="1"/>
              <a:t>chatbot</a:t>
            </a:r>
            <a:r>
              <a:rPr lang="es-ES" sz="2400" dirty="0"/>
              <a:t> reduzca el 20% del tiempo de atención en los primeros 3 meses tras su implementación."</a:t>
            </a:r>
          </a:p>
        </p:txBody>
      </p:sp>
      <p:sp>
        <p:nvSpPr>
          <p:cNvPr id="2" name="Google Shape;1268;g30689113c39_0_1672">
            <a:extLst>
              <a:ext uri="{FF2B5EF4-FFF2-40B4-BE49-F238E27FC236}">
                <a16:creationId xmlns:a16="http://schemas.microsoft.com/office/drawing/2014/main" id="{7DF42971-9195-C105-9129-0E2D7435B6BD}"/>
              </a:ext>
            </a:extLst>
          </p:cNvPr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196F06E-A509-DEF2-52F4-4D41EF145A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8164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8288000" cy="10675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l"/>
            <a:r>
              <a:rPr lang="es" sz="3400" dirty="0">
                <a:solidFill>
                  <a:schemeClr val="bg1"/>
                </a:solidFill>
              </a:rPr>
              <a:t>Plan de Acción - </a:t>
            </a:r>
            <a:r>
              <a:rPr lang="es" sz="34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Matriz de priorización de iniciativas - </a:t>
            </a:r>
            <a:r>
              <a:rPr lang="es" sz="28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“</a:t>
            </a:r>
            <a:r>
              <a:rPr lang="es" sz="2800" i="1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quick-wins</a:t>
            </a:r>
            <a:r>
              <a:rPr lang="es" sz="28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”</a:t>
            </a:r>
            <a:endParaRPr sz="2800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7" name="Google Shape;97;p21"/>
          <p:cNvGraphicFramePr/>
          <p:nvPr/>
        </p:nvGraphicFramePr>
        <p:xfrm>
          <a:off x="68877" y="1457980"/>
          <a:ext cx="17417350" cy="87514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4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60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2800" b="1" u="none" strike="noStrike" cap="none"/>
                        <a:t>Impacto</a:t>
                      </a:r>
                      <a:endParaRPr sz="2800" b="1" u="none" strike="noStrike" cap="none"/>
                    </a:p>
                  </a:txBody>
                  <a:tcPr marL="182850" marR="182850" marT="182850" marB="1828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2000" u="none" strike="noStrike" cap="none"/>
                        <a:t>Alto</a:t>
                      </a:r>
                      <a:endParaRPr sz="2000" u="none" strike="noStrike" cap="none"/>
                    </a:p>
                  </a:txBody>
                  <a:tcPr marL="182850" marR="182850" marT="182850" marB="18285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>
                    <a:solidFill>
                      <a:srgbClr val="FF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365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2000" u="none" strike="noStrike" cap="none"/>
                        <a:t>Bajo</a:t>
                      </a:r>
                      <a:endParaRPr sz="2000" u="none" strike="noStrike" cap="none"/>
                    </a:p>
                  </a:txBody>
                  <a:tcPr marL="182850" marR="182850" marT="182850" marB="18285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7200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7200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2000" u="none" strike="noStrike" cap="none"/>
                        <a:t>Alto</a:t>
                      </a:r>
                      <a:endParaRPr sz="2000" u="none" strike="noStrike" cap="none"/>
                    </a:p>
                  </a:txBody>
                  <a:tcPr marL="182850" marR="182850" marT="7200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2000" u="none" strike="noStrike" cap="none"/>
                        <a:t>Bajo</a:t>
                      </a:r>
                      <a:endParaRPr sz="2000" u="none" strike="noStrike" cap="none"/>
                    </a:p>
                  </a:txBody>
                  <a:tcPr marL="182850" marR="182850" marT="7200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2800" b="1" u="none" strike="noStrike" cap="none"/>
                        <a:t>Esfuerzo / Coste</a:t>
                      </a:r>
                      <a:endParaRPr sz="2800" b="1" u="none" strike="noStrike" cap="none"/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5" name="Google Shape;1275;g30689113c39_0_1687"/>
          <p:cNvGrpSpPr/>
          <p:nvPr/>
        </p:nvGrpSpPr>
        <p:grpSpPr>
          <a:xfrm>
            <a:off x="1356728" y="8545495"/>
            <a:ext cx="15574467" cy="1502997"/>
            <a:chOff x="0" y="-47625"/>
            <a:chExt cx="2269338" cy="219000"/>
          </a:xfrm>
        </p:grpSpPr>
        <p:sp>
          <p:nvSpPr>
            <p:cNvPr id="1276" name="Google Shape;1276;g30689113c39_0_1687"/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277" name="Google Shape;1277;g30689113c39_0_1687"/>
            <p:cNvSpPr txBox="1"/>
            <p:nvPr/>
          </p:nvSpPr>
          <p:spPr>
            <a:xfrm>
              <a:off x="0" y="-47625"/>
              <a:ext cx="22692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3" name="Google Shape;1283;g30689113c39_0_1687"/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84" name="Google Shape;1284;g30689113c39_0_1687"/>
          <p:cNvSpPr txBox="1"/>
          <p:nvPr/>
        </p:nvSpPr>
        <p:spPr>
          <a:xfrm>
            <a:off x="3219000" y="1022450"/>
            <a:ext cx="101454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F46524"/>
                </a:solidFill>
                <a:latin typeface="Raleway"/>
                <a:ea typeface="Raleway"/>
                <a:cs typeface="Raleway"/>
                <a:sym typeface="Raleway"/>
              </a:rPr>
              <a:t>Elaboración del Plan de Acción: Matriz de Priorización de Iniciativas</a:t>
            </a:r>
            <a:endParaRPr sz="2700" b="1">
              <a:solidFill>
                <a:srgbClr val="F4652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85" name="Google Shape;1285;g30689113c39_0_1687"/>
          <p:cNvSpPr txBox="1"/>
          <p:nvPr/>
        </p:nvSpPr>
        <p:spPr>
          <a:xfrm>
            <a:off x="3025875" y="3038600"/>
            <a:ext cx="127650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 dirty="0" err="1">
                <a:solidFill>
                  <a:schemeClr val="dk1"/>
                </a:solidFill>
              </a:rPr>
              <a:t>Matriz</a:t>
            </a:r>
            <a:r>
              <a:rPr lang="en-US" sz="2300" b="1" dirty="0">
                <a:solidFill>
                  <a:schemeClr val="dk1"/>
                </a:solidFill>
              </a:rPr>
              <a:t> de </a:t>
            </a:r>
            <a:r>
              <a:rPr lang="en-US" sz="2300" b="1" dirty="0" err="1">
                <a:solidFill>
                  <a:schemeClr val="dk1"/>
                </a:solidFill>
              </a:rPr>
              <a:t>Priorización</a:t>
            </a: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dirty="0">
                <a:solidFill>
                  <a:schemeClr val="dk1"/>
                </a:solidFill>
              </a:rPr>
              <a:t>Una </a:t>
            </a:r>
            <a:r>
              <a:rPr lang="en-US" sz="2300" dirty="0" err="1">
                <a:solidFill>
                  <a:schemeClr val="dk1"/>
                </a:solidFill>
              </a:rPr>
              <a:t>matriz</a:t>
            </a:r>
            <a:r>
              <a:rPr lang="en-US" sz="2300" dirty="0">
                <a:solidFill>
                  <a:schemeClr val="dk1"/>
                </a:solidFill>
              </a:rPr>
              <a:t> de </a:t>
            </a:r>
            <a:r>
              <a:rPr lang="en-US" sz="2300" dirty="0" err="1">
                <a:solidFill>
                  <a:schemeClr val="dk1"/>
                </a:solidFill>
              </a:rPr>
              <a:t>priorización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ayuda</a:t>
            </a:r>
            <a:r>
              <a:rPr lang="en-US" sz="2300" dirty="0">
                <a:solidFill>
                  <a:schemeClr val="dk1"/>
                </a:solidFill>
              </a:rPr>
              <a:t> a </a:t>
            </a:r>
            <a:r>
              <a:rPr lang="en-US" sz="2300" dirty="0" err="1">
                <a:solidFill>
                  <a:schemeClr val="dk1"/>
                </a:solidFill>
              </a:rPr>
              <a:t>identificar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qué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iniciativas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deben</a:t>
            </a:r>
            <a:r>
              <a:rPr lang="en-US" sz="2300" dirty="0">
                <a:solidFill>
                  <a:schemeClr val="dk1"/>
                </a:solidFill>
              </a:rPr>
              <a:t> ser </a:t>
            </a:r>
            <a:r>
              <a:rPr lang="en-US" sz="2300" dirty="0" err="1">
                <a:solidFill>
                  <a:schemeClr val="dk1"/>
                </a:solidFill>
              </a:rPr>
              <a:t>implementadas</a:t>
            </a:r>
            <a:r>
              <a:rPr lang="en-US" sz="2300" dirty="0">
                <a:solidFill>
                  <a:schemeClr val="dk1"/>
                </a:solidFill>
              </a:rPr>
              <a:t> primero, </a:t>
            </a:r>
            <a:r>
              <a:rPr lang="en-US" sz="2300" dirty="0" err="1">
                <a:solidFill>
                  <a:schemeClr val="dk1"/>
                </a:solidFill>
              </a:rPr>
              <a:t>basándose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en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criterios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como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el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impacto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potencial</a:t>
            </a:r>
            <a:r>
              <a:rPr lang="en-US" sz="2300" dirty="0">
                <a:solidFill>
                  <a:schemeClr val="dk1"/>
                </a:solidFill>
              </a:rPr>
              <a:t> y la </a:t>
            </a:r>
            <a:r>
              <a:rPr lang="en-US" sz="2300" dirty="0" err="1">
                <a:solidFill>
                  <a:schemeClr val="dk1"/>
                </a:solidFill>
              </a:rPr>
              <a:t>facilidad</a:t>
            </a:r>
            <a:r>
              <a:rPr lang="en-US" sz="2300" dirty="0">
                <a:solidFill>
                  <a:schemeClr val="dk1"/>
                </a:solidFill>
              </a:rPr>
              <a:t> de </a:t>
            </a:r>
            <a:r>
              <a:rPr lang="en-US" sz="2300" dirty="0" err="1">
                <a:solidFill>
                  <a:schemeClr val="dk1"/>
                </a:solidFill>
              </a:rPr>
              <a:t>implementación</a:t>
            </a:r>
            <a:r>
              <a:rPr lang="en-US" sz="2300" dirty="0">
                <a:solidFill>
                  <a:schemeClr val="dk1"/>
                </a:solidFill>
              </a:rPr>
              <a:t>.</a:t>
            </a:r>
            <a:endParaRPr sz="2300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b="1" dirty="0">
                <a:solidFill>
                  <a:schemeClr val="dk1"/>
                </a:solidFill>
              </a:rPr>
              <a:t>Ejes de la </a:t>
            </a:r>
            <a:r>
              <a:rPr lang="en-US" sz="2300" b="1" dirty="0" err="1">
                <a:solidFill>
                  <a:schemeClr val="dk1"/>
                </a:solidFill>
              </a:rPr>
              <a:t>Matriz</a:t>
            </a:r>
            <a:r>
              <a:rPr lang="en-US" sz="2300" dirty="0">
                <a:solidFill>
                  <a:schemeClr val="dk1"/>
                </a:solidFill>
              </a:rPr>
              <a:t>:</a:t>
            </a:r>
            <a:endParaRPr sz="2300" dirty="0">
              <a:solidFill>
                <a:schemeClr val="dk1"/>
              </a:solidFill>
            </a:endParaRPr>
          </a:p>
          <a:p>
            <a:pPr marL="91440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en-US" sz="2300" b="1" dirty="0">
                <a:solidFill>
                  <a:schemeClr val="dk1"/>
                </a:solidFill>
              </a:rPr>
              <a:t>Impacto </a:t>
            </a:r>
            <a:r>
              <a:rPr lang="en-US" sz="2300" b="1" dirty="0" err="1">
                <a:solidFill>
                  <a:schemeClr val="dk1"/>
                </a:solidFill>
              </a:rPr>
              <a:t>en</a:t>
            </a:r>
            <a:r>
              <a:rPr lang="en-US" sz="2300" b="1" dirty="0">
                <a:solidFill>
                  <a:schemeClr val="dk1"/>
                </a:solidFill>
              </a:rPr>
              <a:t> </a:t>
            </a:r>
            <a:r>
              <a:rPr lang="en-US" sz="2300" b="1" dirty="0" err="1">
                <a:solidFill>
                  <a:schemeClr val="dk1"/>
                </a:solidFill>
              </a:rPr>
              <a:t>los</a:t>
            </a:r>
            <a:r>
              <a:rPr lang="en-US" sz="2300" b="1" dirty="0">
                <a:solidFill>
                  <a:schemeClr val="dk1"/>
                </a:solidFill>
              </a:rPr>
              <a:t> </a:t>
            </a:r>
            <a:r>
              <a:rPr lang="en-US" sz="2300" b="1" dirty="0" err="1">
                <a:solidFill>
                  <a:schemeClr val="dk1"/>
                </a:solidFill>
              </a:rPr>
              <a:t>Objetivos</a:t>
            </a:r>
            <a:r>
              <a:rPr lang="en-US" sz="2300" b="1" dirty="0">
                <a:solidFill>
                  <a:schemeClr val="dk1"/>
                </a:solidFill>
              </a:rPr>
              <a:t> </a:t>
            </a:r>
            <a:r>
              <a:rPr lang="en-US" sz="2300" b="1" dirty="0" err="1">
                <a:solidFill>
                  <a:schemeClr val="dk1"/>
                </a:solidFill>
              </a:rPr>
              <a:t>Estratégicos</a:t>
            </a:r>
            <a:r>
              <a:rPr lang="en-US" sz="2300" dirty="0">
                <a:solidFill>
                  <a:schemeClr val="dk1"/>
                </a:solidFill>
              </a:rPr>
              <a:t>: ¿</a:t>
            </a:r>
            <a:r>
              <a:rPr lang="en-US" sz="2300" dirty="0" err="1">
                <a:solidFill>
                  <a:schemeClr val="dk1"/>
                </a:solidFill>
              </a:rPr>
              <a:t>Qué</a:t>
            </a:r>
            <a:r>
              <a:rPr lang="en-US" sz="2300" dirty="0">
                <a:solidFill>
                  <a:schemeClr val="dk1"/>
                </a:solidFill>
              </a:rPr>
              <a:t> tan </a:t>
            </a:r>
            <a:r>
              <a:rPr lang="en-US" sz="2300" dirty="0" err="1">
                <a:solidFill>
                  <a:schemeClr val="dk1"/>
                </a:solidFill>
              </a:rPr>
              <a:t>significativa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será</a:t>
            </a:r>
            <a:r>
              <a:rPr lang="en-US" sz="2300" dirty="0">
                <a:solidFill>
                  <a:schemeClr val="dk1"/>
                </a:solidFill>
              </a:rPr>
              <a:t> la </a:t>
            </a:r>
            <a:r>
              <a:rPr lang="en-US" sz="2300" dirty="0" err="1">
                <a:solidFill>
                  <a:schemeClr val="dk1"/>
                </a:solidFill>
              </a:rPr>
              <a:t>iniciativa</a:t>
            </a:r>
            <a:r>
              <a:rPr lang="en-US" sz="2300" dirty="0">
                <a:solidFill>
                  <a:schemeClr val="dk1"/>
                </a:solidFill>
              </a:rPr>
              <a:t> para </a:t>
            </a:r>
            <a:r>
              <a:rPr lang="en-US" sz="2300" dirty="0" err="1">
                <a:solidFill>
                  <a:schemeClr val="dk1"/>
                </a:solidFill>
              </a:rPr>
              <a:t>alcanzar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los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objetivos</a:t>
            </a:r>
            <a:r>
              <a:rPr lang="en-US" sz="2300" dirty="0">
                <a:solidFill>
                  <a:schemeClr val="dk1"/>
                </a:solidFill>
              </a:rPr>
              <a:t> de </a:t>
            </a:r>
            <a:r>
              <a:rPr lang="en-US" sz="2300" dirty="0" err="1">
                <a:solidFill>
                  <a:schemeClr val="dk1"/>
                </a:solidFill>
              </a:rPr>
              <a:t>transformación</a:t>
            </a:r>
            <a:r>
              <a:rPr lang="en-US" sz="2300" dirty="0">
                <a:solidFill>
                  <a:schemeClr val="dk1"/>
                </a:solidFill>
              </a:rPr>
              <a:t> digital?</a:t>
            </a:r>
            <a:endParaRPr sz="2300" dirty="0">
              <a:solidFill>
                <a:schemeClr val="dk1"/>
              </a:solidFill>
            </a:endParaRPr>
          </a:p>
          <a:p>
            <a:pPr marL="91440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en-US" sz="2300" b="1" dirty="0" err="1">
                <a:solidFill>
                  <a:schemeClr val="dk1"/>
                </a:solidFill>
              </a:rPr>
              <a:t>Facilidad</a:t>
            </a:r>
            <a:r>
              <a:rPr lang="en-US" sz="2300" b="1" dirty="0">
                <a:solidFill>
                  <a:schemeClr val="dk1"/>
                </a:solidFill>
              </a:rPr>
              <a:t> de </a:t>
            </a:r>
            <a:r>
              <a:rPr lang="en-US" sz="2300" b="1" dirty="0" err="1">
                <a:solidFill>
                  <a:schemeClr val="dk1"/>
                </a:solidFill>
              </a:rPr>
              <a:t>Implementación</a:t>
            </a:r>
            <a:r>
              <a:rPr lang="en-US" sz="2300" dirty="0">
                <a:solidFill>
                  <a:schemeClr val="dk1"/>
                </a:solidFill>
              </a:rPr>
              <a:t>: ¿</a:t>
            </a:r>
            <a:r>
              <a:rPr lang="en-US" sz="2300" dirty="0" err="1">
                <a:solidFill>
                  <a:schemeClr val="dk1"/>
                </a:solidFill>
              </a:rPr>
              <a:t>Qué</a:t>
            </a:r>
            <a:r>
              <a:rPr lang="en-US" sz="2300" dirty="0">
                <a:solidFill>
                  <a:schemeClr val="dk1"/>
                </a:solidFill>
              </a:rPr>
              <a:t> tan </a:t>
            </a:r>
            <a:r>
              <a:rPr lang="en-US" sz="2300" dirty="0" err="1">
                <a:solidFill>
                  <a:schemeClr val="dk1"/>
                </a:solidFill>
              </a:rPr>
              <a:t>fácil</a:t>
            </a:r>
            <a:r>
              <a:rPr lang="en-US" sz="2300" dirty="0">
                <a:solidFill>
                  <a:schemeClr val="dk1"/>
                </a:solidFill>
              </a:rPr>
              <a:t> es </a:t>
            </a:r>
            <a:r>
              <a:rPr lang="en-US" sz="2300" dirty="0" err="1">
                <a:solidFill>
                  <a:schemeClr val="dk1"/>
                </a:solidFill>
              </a:rPr>
              <a:t>implementar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esta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iniciativa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en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términos</a:t>
            </a:r>
            <a:r>
              <a:rPr lang="en-US" sz="2300" dirty="0">
                <a:solidFill>
                  <a:schemeClr val="dk1"/>
                </a:solidFill>
              </a:rPr>
              <a:t> de </a:t>
            </a:r>
            <a:r>
              <a:rPr lang="en-US" sz="2300" dirty="0" err="1">
                <a:solidFill>
                  <a:schemeClr val="dk1"/>
                </a:solidFill>
              </a:rPr>
              <a:t>recursos</a:t>
            </a:r>
            <a:r>
              <a:rPr lang="en-US" sz="2300" dirty="0">
                <a:solidFill>
                  <a:schemeClr val="dk1"/>
                </a:solidFill>
              </a:rPr>
              <a:t> y </a:t>
            </a:r>
            <a:r>
              <a:rPr lang="en-US" sz="2300" dirty="0" err="1">
                <a:solidFill>
                  <a:schemeClr val="dk1"/>
                </a:solidFill>
              </a:rPr>
              <a:t>tiempo</a:t>
            </a:r>
            <a:r>
              <a:rPr lang="en-US" sz="2300" dirty="0">
                <a:solidFill>
                  <a:schemeClr val="dk1"/>
                </a:solidFill>
              </a:rPr>
              <a:t>?</a:t>
            </a: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C1B0059-0388-5F32-FCF2-B5C1E7A633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8395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>
            <a:spLocks noGrp="1"/>
          </p:cNvSpPr>
          <p:nvPr>
            <p:ph type="title"/>
          </p:nvPr>
        </p:nvSpPr>
        <p:spPr>
          <a:xfrm>
            <a:off x="0" y="27708"/>
            <a:ext cx="18219126" cy="1000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l"/>
            <a:r>
              <a:rPr lang="es" dirty="0">
                <a:solidFill>
                  <a:schemeClr val="bg1"/>
                </a:solidFill>
              </a:rPr>
              <a:t>Plan de Acción – </a:t>
            </a:r>
            <a:r>
              <a:rPr lang="es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Iniciativas, tareas, responsables, plazos y presupuesto</a:t>
            </a:r>
            <a:endParaRPr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3" name="Google Shape;103;p22"/>
          <p:cNvGraphicFramePr/>
          <p:nvPr/>
        </p:nvGraphicFramePr>
        <p:xfrm>
          <a:off x="68926" y="1261341"/>
          <a:ext cx="18150200" cy="92279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95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2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96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5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458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2800" b="1" u="none" strike="noStrike" cap="none">
                          <a:solidFill>
                            <a:srgbClr val="FFFFFF"/>
                          </a:solidFill>
                        </a:rPr>
                        <a:t>Ámbito del Lienzo de TD</a:t>
                      </a:r>
                      <a:endParaRPr sz="28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182850" marR="182850" marT="182850" marB="182850" anchor="ctr">
                    <a:solidFill>
                      <a:srgbClr val="0D3A6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28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Iniciativa</a:t>
                      </a:r>
                      <a:endParaRPr sz="28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2850" marR="182850" marT="182850" marB="182850" anchor="ctr">
                    <a:solidFill>
                      <a:srgbClr val="0D3A6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28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Tareas</a:t>
                      </a:r>
                      <a:endParaRPr sz="28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82850" marR="182850" marT="182850" marB="182850" anchor="ctr">
                    <a:solidFill>
                      <a:srgbClr val="0D3A6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800" b="1" u="none" strike="noStrike" cap="none">
                        <a:solidFill>
                          <a:srgbClr val="FFFFFF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2800" b="1" u="none" strike="noStrike" cap="none">
                          <a:solidFill>
                            <a:srgbClr val="FFFFFF"/>
                          </a:solidFill>
                        </a:rPr>
                        <a:t>Plazo</a:t>
                      </a:r>
                      <a:endParaRPr sz="20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8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182850" marR="182850" marT="182850" marB="182850" anchor="ctr">
                    <a:solidFill>
                      <a:srgbClr val="0D3A6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28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Responsable</a:t>
                      </a:r>
                      <a:endParaRPr sz="2800" u="none" strike="noStrike" cap="none"/>
                    </a:p>
                  </a:txBody>
                  <a:tcPr marL="182850" marR="182850" marT="182850" marB="182850" anchor="ctr">
                    <a:solidFill>
                      <a:srgbClr val="0D3A6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8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28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Presupuesto</a:t>
                      </a:r>
                      <a:endParaRPr sz="28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182850" marR="182850" marT="182850" marB="182850" anchor="ctr">
                    <a:solidFill>
                      <a:srgbClr val="0D3A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2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2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2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2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2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42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42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42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42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>
            <a:spLocks noGrp="1"/>
          </p:cNvSpPr>
          <p:nvPr>
            <p:ph type="title"/>
          </p:nvPr>
        </p:nvSpPr>
        <p:spPr>
          <a:xfrm>
            <a:off x="410594" y="-879886"/>
            <a:ext cx="12806400" cy="19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Autofit/>
          </a:bodyPr>
          <a:lstStyle/>
          <a:p>
            <a:r>
              <a:rPr lang="es" sz="3600" dirty="0">
                <a:solidFill>
                  <a:schemeClr val="bg1"/>
                </a:solidFill>
              </a:rPr>
              <a:t>Plan de Acción- </a:t>
            </a:r>
            <a:r>
              <a:rPr lang="es" sz="36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Inversión necesaria</a:t>
            </a:r>
            <a:endParaRPr sz="3600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23"/>
          <p:cNvSpPr txBox="1">
            <a:spLocks noGrp="1"/>
          </p:cNvSpPr>
          <p:nvPr>
            <p:ph type="body" idx="1"/>
          </p:nvPr>
        </p:nvSpPr>
        <p:spPr>
          <a:xfrm>
            <a:off x="452148" y="1559998"/>
            <a:ext cx="6168000" cy="83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indent="0">
              <a:buNone/>
            </a:pPr>
            <a:r>
              <a:rPr lang="es" sz="3600" b="1"/>
              <a:t>Corto Plazo (202X)</a:t>
            </a:r>
            <a:endParaRPr/>
          </a:p>
          <a:p>
            <a:pPr marL="1485900" lvl="1" indent="-571500">
              <a:spcBef>
                <a:spcPts val="0"/>
              </a:spcBef>
            </a:pPr>
            <a:r>
              <a:rPr lang="es" sz="2800"/>
              <a:t>&lt;Escribe aquí tu texto&gt;</a:t>
            </a:r>
            <a:endParaRPr/>
          </a:p>
          <a:p>
            <a:pPr marL="1485900" lvl="1" indent="-571500">
              <a:spcBef>
                <a:spcPts val="0"/>
              </a:spcBef>
            </a:pPr>
            <a:r>
              <a:rPr lang="es" sz="2800"/>
              <a:t>&lt;Escribe aquí tu texto&gt;</a:t>
            </a:r>
            <a:endParaRPr/>
          </a:p>
          <a:p>
            <a:pPr marL="1485900" lvl="1" indent="-571500">
              <a:spcBef>
                <a:spcPts val="0"/>
              </a:spcBef>
            </a:pPr>
            <a:r>
              <a:rPr lang="es" sz="2800"/>
              <a:t>……..</a:t>
            </a:r>
            <a:endParaRPr/>
          </a:p>
          <a:p>
            <a:pPr marL="0" indent="0">
              <a:buNone/>
            </a:pPr>
            <a:endParaRPr sz="3200"/>
          </a:p>
          <a:p>
            <a:pPr marL="0" indent="0">
              <a:spcBef>
                <a:spcPts val="3200"/>
              </a:spcBef>
              <a:buNone/>
            </a:pPr>
            <a:r>
              <a:rPr lang="es" sz="3600" b="1"/>
              <a:t>Medio Plazo (202X-202X)</a:t>
            </a:r>
            <a:endParaRPr/>
          </a:p>
          <a:p>
            <a:pPr marL="1485900" lvl="1" indent="-571500">
              <a:spcBef>
                <a:spcPts val="0"/>
              </a:spcBef>
            </a:pPr>
            <a:r>
              <a:rPr lang="es" sz="2800"/>
              <a:t>&lt;Escribe aquí tu texto&gt;</a:t>
            </a:r>
            <a:endParaRPr/>
          </a:p>
          <a:p>
            <a:pPr marL="1485900" lvl="1" indent="-571500">
              <a:spcBef>
                <a:spcPts val="0"/>
              </a:spcBef>
            </a:pPr>
            <a:r>
              <a:rPr lang="es" sz="2800"/>
              <a:t>&lt;Escribe aquí tu texto&gt;</a:t>
            </a:r>
            <a:endParaRPr/>
          </a:p>
          <a:p>
            <a:pPr marL="1485900" lvl="1" indent="-571500">
              <a:spcBef>
                <a:spcPts val="0"/>
              </a:spcBef>
            </a:pPr>
            <a:r>
              <a:rPr lang="es" sz="2800"/>
              <a:t>……..</a:t>
            </a:r>
            <a:endParaRPr/>
          </a:p>
          <a:p>
            <a:pPr marL="1485900" lvl="1" indent="-419100">
              <a:spcBef>
                <a:spcPts val="0"/>
              </a:spcBef>
              <a:buNone/>
            </a:pPr>
            <a:endParaRPr sz="2800"/>
          </a:p>
          <a:p>
            <a:pPr marL="1485900" lvl="1" indent="-419100">
              <a:spcBef>
                <a:spcPts val="0"/>
              </a:spcBef>
              <a:buNone/>
            </a:pPr>
            <a:endParaRPr sz="2800"/>
          </a:p>
          <a:p>
            <a:pPr marL="0" indent="0">
              <a:buNone/>
            </a:pPr>
            <a:r>
              <a:rPr lang="es" sz="3600" b="1"/>
              <a:t>Largo Plazo (20XX-20xX)</a:t>
            </a:r>
            <a:endParaRPr/>
          </a:p>
          <a:p>
            <a:pPr marL="1485900" lvl="1" indent="-571500">
              <a:spcBef>
                <a:spcPts val="0"/>
              </a:spcBef>
            </a:pPr>
            <a:r>
              <a:rPr lang="es" sz="2800"/>
              <a:t>&lt;Escribe aquí tu texto&gt;</a:t>
            </a:r>
            <a:endParaRPr/>
          </a:p>
          <a:p>
            <a:pPr marL="1485900" lvl="1" indent="-571500">
              <a:spcBef>
                <a:spcPts val="0"/>
              </a:spcBef>
            </a:pPr>
            <a:r>
              <a:rPr lang="es" sz="2800"/>
              <a:t>&lt;Escribe aquí tu texto&gt;</a:t>
            </a:r>
            <a:endParaRPr/>
          </a:p>
          <a:p>
            <a:pPr marL="1485900" lvl="1" indent="-571500">
              <a:spcBef>
                <a:spcPts val="0"/>
              </a:spcBef>
            </a:pPr>
            <a:r>
              <a:rPr lang="es" sz="2800"/>
              <a:t>……..</a:t>
            </a:r>
            <a:endParaRPr/>
          </a:p>
          <a:p>
            <a:pPr marL="1485900" lvl="1" indent="-419100">
              <a:spcBef>
                <a:spcPts val="0"/>
              </a:spcBef>
              <a:buNone/>
            </a:pPr>
            <a:endParaRPr sz="2800"/>
          </a:p>
          <a:p>
            <a:pPr marL="0" indent="0">
              <a:buNone/>
            </a:pPr>
            <a:endParaRPr sz="3200"/>
          </a:p>
          <a:p>
            <a:pPr marL="0" indent="0">
              <a:spcBef>
                <a:spcPts val="3200"/>
              </a:spcBef>
              <a:buNone/>
            </a:pPr>
            <a:endParaRPr sz="3200"/>
          </a:p>
          <a:p>
            <a:pPr marL="0" indent="0">
              <a:spcBef>
                <a:spcPts val="3200"/>
              </a:spcBef>
              <a:spcAft>
                <a:spcPts val="3200"/>
              </a:spcAft>
              <a:buNone/>
            </a:pPr>
            <a:endParaRPr sz="3200"/>
          </a:p>
        </p:txBody>
      </p:sp>
      <p:sp>
        <p:nvSpPr>
          <p:cNvPr id="110" name="Google Shape;110;p23"/>
          <p:cNvSpPr txBox="1">
            <a:spLocks noGrp="1"/>
          </p:cNvSpPr>
          <p:nvPr>
            <p:ph type="title"/>
          </p:nvPr>
        </p:nvSpPr>
        <p:spPr>
          <a:xfrm>
            <a:off x="8675000" y="1637900"/>
            <a:ext cx="7507800" cy="1924200"/>
          </a:xfrm>
          <a:prstGeom prst="rect">
            <a:avLst/>
          </a:prstGeom>
          <a:solidFill>
            <a:srgbClr val="2E86E6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s"/>
              <a:t>xxx euros</a:t>
            </a:r>
            <a:endParaRPr/>
          </a:p>
        </p:txBody>
      </p:sp>
      <p:cxnSp>
        <p:nvCxnSpPr>
          <p:cNvPr id="111" name="Google Shape;111;p23"/>
          <p:cNvCxnSpPr>
            <a:stCxn id="110" idx="2"/>
            <a:endCxn id="112" idx="0"/>
          </p:cNvCxnSpPr>
          <p:nvPr/>
        </p:nvCxnSpPr>
        <p:spPr>
          <a:xfrm>
            <a:off x="12428900" y="3562100"/>
            <a:ext cx="0" cy="122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2" name="Google Shape;112;p23"/>
          <p:cNvSpPr txBox="1">
            <a:spLocks noGrp="1"/>
          </p:cNvSpPr>
          <p:nvPr>
            <p:ph type="title"/>
          </p:nvPr>
        </p:nvSpPr>
        <p:spPr>
          <a:xfrm>
            <a:off x="8675000" y="4790952"/>
            <a:ext cx="7507800" cy="1924200"/>
          </a:xfrm>
          <a:prstGeom prst="rect">
            <a:avLst/>
          </a:prstGeom>
          <a:solidFill>
            <a:srgbClr val="79B1EF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s"/>
              <a:t>xxx euros</a:t>
            </a:r>
            <a:endParaRPr/>
          </a:p>
        </p:txBody>
      </p:sp>
      <p:cxnSp>
        <p:nvCxnSpPr>
          <p:cNvPr id="113" name="Google Shape;113;p23"/>
          <p:cNvCxnSpPr>
            <a:stCxn id="112" idx="2"/>
            <a:endCxn id="114" idx="0"/>
          </p:cNvCxnSpPr>
          <p:nvPr/>
        </p:nvCxnSpPr>
        <p:spPr>
          <a:xfrm>
            <a:off x="12428900" y="6715152"/>
            <a:ext cx="0" cy="122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8675002" y="7943914"/>
            <a:ext cx="7507800" cy="1924200"/>
          </a:xfrm>
          <a:prstGeom prst="rect">
            <a:avLst/>
          </a:prstGeom>
          <a:solidFill>
            <a:srgbClr val="CAEAFE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ctr"/>
            <a:r>
              <a:rPr lang="es"/>
              <a:t>xxx euros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0" name="Google Shape;1290;g30689113c39_0_1703"/>
          <p:cNvGrpSpPr/>
          <p:nvPr/>
        </p:nvGrpSpPr>
        <p:grpSpPr>
          <a:xfrm>
            <a:off x="1356728" y="8545495"/>
            <a:ext cx="15574467" cy="1502997"/>
            <a:chOff x="0" y="-47625"/>
            <a:chExt cx="2269338" cy="219000"/>
          </a:xfrm>
        </p:grpSpPr>
        <p:sp>
          <p:nvSpPr>
            <p:cNvPr id="1291" name="Google Shape;1291;g30689113c39_0_1703"/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292" name="Google Shape;1292;g30689113c39_0_1703"/>
            <p:cNvSpPr txBox="1"/>
            <p:nvPr/>
          </p:nvSpPr>
          <p:spPr>
            <a:xfrm>
              <a:off x="0" y="-47625"/>
              <a:ext cx="22692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8" name="Google Shape;1298;g30689113c39_0_1703"/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99" name="Google Shape;1299;g30689113c39_0_1703"/>
          <p:cNvSpPr txBox="1"/>
          <p:nvPr/>
        </p:nvSpPr>
        <p:spPr>
          <a:xfrm>
            <a:off x="3219000" y="1022450"/>
            <a:ext cx="101454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F46524"/>
                </a:solidFill>
                <a:latin typeface="Raleway"/>
                <a:ea typeface="Raleway"/>
                <a:cs typeface="Raleway"/>
                <a:sym typeface="Raleway"/>
              </a:rPr>
              <a:t>Elaboración del Plan de Acción: Matriz de Priorización de Iniciativas (2)</a:t>
            </a:r>
            <a:endParaRPr sz="2700" b="1">
              <a:solidFill>
                <a:srgbClr val="F4652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00" name="Google Shape;1300;g30689113c39_0_1703"/>
          <p:cNvSpPr txBox="1"/>
          <p:nvPr/>
        </p:nvSpPr>
        <p:spPr>
          <a:xfrm>
            <a:off x="3025875" y="2342500"/>
            <a:ext cx="127650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 dirty="0" err="1">
                <a:solidFill>
                  <a:schemeClr val="dk1"/>
                </a:solidFill>
              </a:rPr>
              <a:t>Definición</a:t>
            </a:r>
            <a:r>
              <a:rPr lang="en-US" sz="2300" b="1" dirty="0">
                <a:solidFill>
                  <a:schemeClr val="dk1"/>
                </a:solidFill>
              </a:rPr>
              <a:t> de </a:t>
            </a:r>
            <a:r>
              <a:rPr lang="en-US" sz="2300" b="1" dirty="0" err="1">
                <a:solidFill>
                  <a:schemeClr val="dk1"/>
                </a:solidFill>
              </a:rPr>
              <a:t>Iniciativas</a:t>
            </a:r>
            <a:r>
              <a:rPr lang="en-US" sz="2300" b="1" dirty="0">
                <a:solidFill>
                  <a:schemeClr val="dk1"/>
                </a:solidFill>
              </a:rPr>
              <a:t>, </a:t>
            </a:r>
            <a:r>
              <a:rPr lang="en-US" sz="2300" b="1" dirty="0" err="1">
                <a:solidFill>
                  <a:schemeClr val="dk1"/>
                </a:solidFill>
              </a:rPr>
              <a:t>Tareas</a:t>
            </a:r>
            <a:r>
              <a:rPr lang="en-US" sz="2300" b="1" dirty="0">
                <a:solidFill>
                  <a:schemeClr val="dk1"/>
                </a:solidFill>
              </a:rPr>
              <a:t>, </a:t>
            </a:r>
            <a:r>
              <a:rPr lang="en-US" sz="2300" b="1" dirty="0" err="1">
                <a:solidFill>
                  <a:schemeClr val="dk1"/>
                </a:solidFill>
              </a:rPr>
              <a:t>Plazos</a:t>
            </a:r>
            <a:r>
              <a:rPr lang="en-US" sz="2300" b="1" dirty="0">
                <a:solidFill>
                  <a:schemeClr val="dk1"/>
                </a:solidFill>
              </a:rPr>
              <a:t> y </a:t>
            </a:r>
            <a:r>
              <a:rPr lang="en-US" sz="2300" b="1" dirty="0" err="1">
                <a:solidFill>
                  <a:schemeClr val="dk1"/>
                </a:solidFill>
              </a:rPr>
              <a:t>Presupuestos</a:t>
            </a:r>
            <a:br>
              <a:rPr lang="en-US" sz="2300" b="1" dirty="0">
                <a:solidFill>
                  <a:schemeClr val="dk1"/>
                </a:solidFill>
              </a:rPr>
            </a:br>
            <a:endParaRPr sz="2300" b="1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b="1" dirty="0" err="1">
                <a:solidFill>
                  <a:schemeClr val="dk1"/>
                </a:solidFill>
              </a:rPr>
              <a:t>Iniciativa</a:t>
            </a:r>
            <a:r>
              <a:rPr lang="en-US" sz="2300" b="1" dirty="0">
                <a:solidFill>
                  <a:schemeClr val="dk1"/>
                </a:solidFill>
              </a:rPr>
              <a:t> 1</a:t>
            </a:r>
            <a:r>
              <a:rPr lang="en-US" sz="2300" dirty="0">
                <a:solidFill>
                  <a:schemeClr val="dk1"/>
                </a:solidFill>
              </a:rPr>
              <a:t>: </a:t>
            </a:r>
            <a:r>
              <a:rPr lang="en-US" sz="2300" dirty="0" err="1">
                <a:solidFill>
                  <a:schemeClr val="dk1"/>
                </a:solidFill>
              </a:rPr>
              <a:t>Implementación</a:t>
            </a:r>
            <a:r>
              <a:rPr lang="en-US" sz="2300" dirty="0">
                <a:solidFill>
                  <a:schemeClr val="dk1"/>
                </a:solidFill>
              </a:rPr>
              <a:t> de un CRM</a:t>
            </a:r>
            <a:endParaRPr sz="2300" dirty="0">
              <a:solidFill>
                <a:schemeClr val="dk1"/>
              </a:solidFill>
            </a:endParaRPr>
          </a:p>
          <a:p>
            <a:pPr marL="91440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en-US" sz="2300" b="1" dirty="0" err="1">
                <a:solidFill>
                  <a:schemeClr val="dk1"/>
                </a:solidFill>
              </a:rPr>
              <a:t>Tareas</a:t>
            </a:r>
            <a:r>
              <a:rPr lang="en-US" sz="2300" dirty="0">
                <a:solidFill>
                  <a:schemeClr val="dk1"/>
                </a:solidFill>
              </a:rPr>
              <a:t>: </a:t>
            </a:r>
            <a:r>
              <a:rPr lang="en-US" sz="2300" dirty="0" err="1">
                <a:solidFill>
                  <a:schemeClr val="dk1"/>
                </a:solidFill>
              </a:rPr>
              <a:t>Seleccionar</a:t>
            </a:r>
            <a:r>
              <a:rPr lang="en-US" sz="2300" dirty="0">
                <a:solidFill>
                  <a:schemeClr val="dk1"/>
                </a:solidFill>
              </a:rPr>
              <a:t> un </a:t>
            </a:r>
            <a:r>
              <a:rPr lang="en-US" sz="2300" dirty="0" err="1">
                <a:solidFill>
                  <a:schemeClr val="dk1"/>
                </a:solidFill>
              </a:rPr>
              <a:t>proveedor</a:t>
            </a:r>
            <a:r>
              <a:rPr lang="en-US" sz="2300" dirty="0">
                <a:solidFill>
                  <a:schemeClr val="dk1"/>
                </a:solidFill>
              </a:rPr>
              <a:t>, </a:t>
            </a:r>
            <a:r>
              <a:rPr lang="en-US" sz="2300" dirty="0" err="1">
                <a:solidFill>
                  <a:schemeClr val="dk1"/>
                </a:solidFill>
              </a:rPr>
              <a:t>capacitar</a:t>
            </a:r>
            <a:r>
              <a:rPr lang="en-US" sz="2300" dirty="0">
                <a:solidFill>
                  <a:schemeClr val="dk1"/>
                </a:solidFill>
              </a:rPr>
              <a:t> al </a:t>
            </a:r>
            <a:r>
              <a:rPr lang="en-US" sz="2300" dirty="0" err="1">
                <a:solidFill>
                  <a:schemeClr val="dk1"/>
                </a:solidFill>
              </a:rPr>
              <a:t>equipo</a:t>
            </a:r>
            <a:r>
              <a:rPr lang="en-US" sz="2300" dirty="0">
                <a:solidFill>
                  <a:schemeClr val="dk1"/>
                </a:solidFill>
              </a:rPr>
              <a:t>, </a:t>
            </a:r>
            <a:r>
              <a:rPr lang="en-US" sz="2300" dirty="0" err="1">
                <a:solidFill>
                  <a:schemeClr val="dk1"/>
                </a:solidFill>
              </a:rPr>
              <a:t>migrar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datos</a:t>
            </a:r>
            <a:r>
              <a:rPr lang="en-US" sz="2300" dirty="0">
                <a:solidFill>
                  <a:schemeClr val="dk1"/>
                </a:solidFill>
              </a:rPr>
              <a:t>.</a:t>
            </a:r>
            <a:endParaRPr sz="2300" dirty="0">
              <a:solidFill>
                <a:schemeClr val="dk1"/>
              </a:solidFill>
            </a:endParaRPr>
          </a:p>
          <a:p>
            <a:pPr marL="91440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en-US" sz="2300" b="1" dirty="0" err="1">
                <a:solidFill>
                  <a:schemeClr val="dk1"/>
                </a:solidFill>
              </a:rPr>
              <a:t>Plazo</a:t>
            </a:r>
            <a:r>
              <a:rPr lang="en-US" sz="2300" dirty="0">
                <a:solidFill>
                  <a:schemeClr val="dk1"/>
                </a:solidFill>
              </a:rPr>
              <a:t>: 6 meses.</a:t>
            </a:r>
            <a:endParaRPr sz="2300" dirty="0">
              <a:solidFill>
                <a:schemeClr val="dk1"/>
              </a:solidFill>
            </a:endParaRPr>
          </a:p>
          <a:p>
            <a:pPr marL="91440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en-US" sz="2300" b="1" dirty="0" err="1">
                <a:solidFill>
                  <a:schemeClr val="dk1"/>
                </a:solidFill>
              </a:rPr>
              <a:t>Presupuesto</a:t>
            </a:r>
            <a:r>
              <a:rPr lang="en-US" sz="2300" dirty="0">
                <a:solidFill>
                  <a:schemeClr val="dk1"/>
                </a:solidFill>
              </a:rPr>
              <a:t>: $50,000.</a:t>
            </a:r>
            <a:endParaRPr sz="2300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b="1" dirty="0" err="1">
                <a:solidFill>
                  <a:schemeClr val="dk1"/>
                </a:solidFill>
              </a:rPr>
              <a:t>Iniciativa</a:t>
            </a:r>
            <a:r>
              <a:rPr lang="en-US" sz="2300" b="1" dirty="0">
                <a:solidFill>
                  <a:schemeClr val="dk1"/>
                </a:solidFill>
              </a:rPr>
              <a:t> 2</a:t>
            </a:r>
            <a:r>
              <a:rPr lang="en-US" sz="2300" dirty="0">
                <a:solidFill>
                  <a:schemeClr val="dk1"/>
                </a:solidFill>
              </a:rPr>
              <a:t>: Mejora de la </a:t>
            </a:r>
            <a:r>
              <a:rPr lang="en-US" sz="2300" dirty="0" err="1">
                <a:solidFill>
                  <a:schemeClr val="dk1"/>
                </a:solidFill>
              </a:rPr>
              <a:t>presencia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en</a:t>
            </a:r>
            <a:r>
              <a:rPr lang="en-US" sz="2300" dirty="0">
                <a:solidFill>
                  <a:schemeClr val="dk1"/>
                </a:solidFill>
              </a:rPr>
              <a:t> redes </a:t>
            </a:r>
            <a:r>
              <a:rPr lang="en-US" sz="2300" dirty="0" err="1">
                <a:solidFill>
                  <a:schemeClr val="dk1"/>
                </a:solidFill>
              </a:rPr>
              <a:t>sociales</a:t>
            </a:r>
            <a:endParaRPr sz="2300" dirty="0">
              <a:solidFill>
                <a:schemeClr val="dk1"/>
              </a:solidFill>
            </a:endParaRPr>
          </a:p>
          <a:p>
            <a:pPr marL="91440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en-US" sz="2300" b="1" dirty="0" err="1">
                <a:solidFill>
                  <a:schemeClr val="dk1"/>
                </a:solidFill>
              </a:rPr>
              <a:t>Tareas</a:t>
            </a:r>
            <a:r>
              <a:rPr lang="en-US" sz="2300" dirty="0">
                <a:solidFill>
                  <a:schemeClr val="dk1"/>
                </a:solidFill>
              </a:rPr>
              <a:t>: Crear </a:t>
            </a:r>
            <a:r>
              <a:rPr lang="en-US" sz="2300" dirty="0" err="1">
                <a:solidFill>
                  <a:schemeClr val="dk1"/>
                </a:solidFill>
              </a:rPr>
              <a:t>contenido</a:t>
            </a:r>
            <a:r>
              <a:rPr lang="en-US" sz="2300" dirty="0">
                <a:solidFill>
                  <a:schemeClr val="dk1"/>
                </a:solidFill>
              </a:rPr>
              <a:t>, </a:t>
            </a:r>
            <a:r>
              <a:rPr lang="en-US" sz="2300" dirty="0" err="1">
                <a:solidFill>
                  <a:schemeClr val="dk1"/>
                </a:solidFill>
              </a:rPr>
              <a:t>programar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publicaciones</a:t>
            </a:r>
            <a:r>
              <a:rPr lang="en-US" sz="2300" dirty="0">
                <a:solidFill>
                  <a:schemeClr val="dk1"/>
                </a:solidFill>
              </a:rPr>
              <a:t>, </a:t>
            </a:r>
            <a:r>
              <a:rPr lang="en-US" sz="2300" dirty="0" err="1">
                <a:solidFill>
                  <a:schemeClr val="dk1"/>
                </a:solidFill>
              </a:rPr>
              <a:t>interactuar</a:t>
            </a:r>
            <a:r>
              <a:rPr lang="en-US" sz="2300" dirty="0">
                <a:solidFill>
                  <a:schemeClr val="dk1"/>
                </a:solidFill>
              </a:rPr>
              <a:t> con </a:t>
            </a:r>
            <a:r>
              <a:rPr lang="en-US" sz="2300" dirty="0" err="1">
                <a:solidFill>
                  <a:schemeClr val="dk1"/>
                </a:solidFill>
              </a:rPr>
              <a:t>clientes</a:t>
            </a:r>
            <a:r>
              <a:rPr lang="en-US" sz="2300" dirty="0">
                <a:solidFill>
                  <a:schemeClr val="dk1"/>
                </a:solidFill>
              </a:rPr>
              <a:t>.</a:t>
            </a:r>
            <a:endParaRPr sz="2300" dirty="0">
              <a:solidFill>
                <a:schemeClr val="dk1"/>
              </a:solidFill>
            </a:endParaRPr>
          </a:p>
          <a:p>
            <a:pPr marL="91440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en-US" sz="2300" b="1" dirty="0" err="1">
                <a:solidFill>
                  <a:schemeClr val="dk1"/>
                </a:solidFill>
              </a:rPr>
              <a:t>Plazo</a:t>
            </a:r>
            <a:r>
              <a:rPr lang="en-US" sz="2300" dirty="0">
                <a:solidFill>
                  <a:schemeClr val="dk1"/>
                </a:solidFill>
              </a:rPr>
              <a:t>: 3 meses.</a:t>
            </a:r>
            <a:endParaRPr sz="2300" dirty="0">
              <a:solidFill>
                <a:schemeClr val="dk1"/>
              </a:solidFill>
            </a:endParaRPr>
          </a:p>
          <a:p>
            <a:pPr marL="91440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en-US" sz="2300" b="1" dirty="0" err="1">
                <a:solidFill>
                  <a:schemeClr val="dk1"/>
                </a:solidFill>
              </a:rPr>
              <a:t>Presupuesto</a:t>
            </a:r>
            <a:r>
              <a:rPr lang="en-US" sz="2300" dirty="0">
                <a:solidFill>
                  <a:schemeClr val="dk1"/>
                </a:solidFill>
              </a:rPr>
              <a:t>: $10,000.</a:t>
            </a:r>
            <a:endParaRPr sz="2300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b="1" dirty="0" err="1">
                <a:solidFill>
                  <a:schemeClr val="dk1"/>
                </a:solidFill>
              </a:rPr>
              <a:t>Iniciativa</a:t>
            </a:r>
            <a:r>
              <a:rPr lang="en-US" sz="2300" b="1" dirty="0">
                <a:solidFill>
                  <a:schemeClr val="dk1"/>
                </a:solidFill>
              </a:rPr>
              <a:t> 3</a:t>
            </a:r>
            <a:r>
              <a:rPr lang="en-US" sz="2300" dirty="0">
                <a:solidFill>
                  <a:schemeClr val="dk1"/>
                </a:solidFill>
              </a:rPr>
              <a:t>: Desarrollo de un portal de </a:t>
            </a:r>
            <a:r>
              <a:rPr lang="en-US" sz="2300" dirty="0" err="1">
                <a:solidFill>
                  <a:schemeClr val="dk1"/>
                </a:solidFill>
              </a:rPr>
              <a:t>clientes</a:t>
            </a:r>
            <a:endParaRPr sz="2300" dirty="0">
              <a:solidFill>
                <a:schemeClr val="dk1"/>
              </a:solidFill>
            </a:endParaRPr>
          </a:p>
          <a:p>
            <a:pPr marL="91440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en-US" sz="2300" b="1" dirty="0" err="1">
                <a:solidFill>
                  <a:schemeClr val="dk1"/>
                </a:solidFill>
              </a:rPr>
              <a:t>Tareas</a:t>
            </a:r>
            <a:r>
              <a:rPr lang="en-US" sz="2300" dirty="0">
                <a:solidFill>
                  <a:schemeClr val="dk1"/>
                </a:solidFill>
              </a:rPr>
              <a:t>: </a:t>
            </a:r>
            <a:r>
              <a:rPr lang="en-US" sz="2300" dirty="0" err="1">
                <a:solidFill>
                  <a:schemeClr val="dk1"/>
                </a:solidFill>
              </a:rPr>
              <a:t>Diseño</a:t>
            </a:r>
            <a:r>
              <a:rPr lang="en-US" sz="2300" dirty="0">
                <a:solidFill>
                  <a:schemeClr val="dk1"/>
                </a:solidFill>
              </a:rPr>
              <a:t> y </a:t>
            </a:r>
            <a:r>
              <a:rPr lang="en-US" sz="2300" dirty="0" err="1">
                <a:solidFill>
                  <a:schemeClr val="dk1"/>
                </a:solidFill>
              </a:rPr>
              <a:t>desarrollo</a:t>
            </a:r>
            <a:r>
              <a:rPr lang="en-US" sz="2300" dirty="0">
                <a:solidFill>
                  <a:schemeClr val="dk1"/>
                </a:solidFill>
              </a:rPr>
              <a:t> web, </a:t>
            </a:r>
            <a:r>
              <a:rPr lang="en-US" sz="2300" dirty="0" err="1">
                <a:solidFill>
                  <a:schemeClr val="dk1"/>
                </a:solidFill>
              </a:rPr>
              <a:t>pruebas</a:t>
            </a:r>
            <a:r>
              <a:rPr lang="en-US" sz="2300" dirty="0">
                <a:solidFill>
                  <a:schemeClr val="dk1"/>
                </a:solidFill>
              </a:rPr>
              <a:t>, </a:t>
            </a:r>
            <a:r>
              <a:rPr lang="en-US" sz="2300" dirty="0" err="1">
                <a:solidFill>
                  <a:schemeClr val="dk1"/>
                </a:solidFill>
              </a:rPr>
              <a:t>lanzamiento</a:t>
            </a:r>
            <a:r>
              <a:rPr lang="en-US" sz="2300" dirty="0">
                <a:solidFill>
                  <a:schemeClr val="dk1"/>
                </a:solidFill>
              </a:rPr>
              <a:t>.</a:t>
            </a:r>
            <a:endParaRPr sz="2300" dirty="0">
              <a:solidFill>
                <a:schemeClr val="dk1"/>
              </a:solidFill>
            </a:endParaRPr>
          </a:p>
          <a:p>
            <a:pPr marL="91440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en-US" sz="2300" b="1" dirty="0" err="1">
                <a:solidFill>
                  <a:schemeClr val="dk1"/>
                </a:solidFill>
              </a:rPr>
              <a:t>Plazo</a:t>
            </a:r>
            <a:r>
              <a:rPr lang="en-US" sz="2300" dirty="0">
                <a:solidFill>
                  <a:schemeClr val="dk1"/>
                </a:solidFill>
              </a:rPr>
              <a:t>: 9 meses.</a:t>
            </a:r>
            <a:endParaRPr sz="2300" dirty="0">
              <a:solidFill>
                <a:schemeClr val="dk1"/>
              </a:solidFill>
            </a:endParaRPr>
          </a:p>
          <a:p>
            <a:pPr marL="91440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○"/>
            </a:pPr>
            <a:r>
              <a:rPr lang="en-US" sz="2300" b="1" dirty="0" err="1">
                <a:solidFill>
                  <a:schemeClr val="dk1"/>
                </a:solidFill>
              </a:rPr>
              <a:t>Presupuesto</a:t>
            </a:r>
            <a:r>
              <a:rPr lang="en-US" sz="2300" dirty="0">
                <a:solidFill>
                  <a:schemeClr val="dk1"/>
                </a:solidFill>
              </a:rPr>
              <a:t>: $75,000</a:t>
            </a: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6099284-E5B5-A91B-5155-8F611296EE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3672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>
            <a:spLocks noGrp="1"/>
          </p:cNvSpPr>
          <p:nvPr>
            <p:ph type="title" idx="4294967295"/>
          </p:nvPr>
        </p:nvSpPr>
        <p:spPr>
          <a:xfrm>
            <a:off x="463450" y="6646890"/>
            <a:ext cx="4044600" cy="11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Autofit/>
          </a:bodyPr>
          <a:lstStyle/>
          <a:p>
            <a:pPr>
              <a:buSzPts val="3200"/>
            </a:pPr>
            <a:r>
              <a:rPr lang="es" sz="3600">
                <a:solidFill>
                  <a:schemeClr val="lt1"/>
                </a:solidFill>
              </a:rPr>
              <a:t>Nombre del integrante 1</a:t>
            </a:r>
            <a:endParaRPr sz="3600">
              <a:solidFill>
                <a:schemeClr val="lt1"/>
              </a:solidFill>
            </a:endParaRPr>
          </a:p>
        </p:txBody>
      </p:sp>
      <p:sp>
        <p:nvSpPr>
          <p:cNvPr id="120" name="Google Shape;120;p24"/>
          <p:cNvSpPr/>
          <p:nvPr/>
        </p:nvSpPr>
        <p:spPr>
          <a:xfrm>
            <a:off x="0" y="0"/>
            <a:ext cx="18322200" cy="496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>
              <a:buSzPts val="1400"/>
            </a:pPr>
            <a:endParaRPr sz="2800"/>
          </a:p>
        </p:txBody>
      </p:sp>
      <p:sp>
        <p:nvSpPr>
          <p:cNvPr id="121" name="Google Shape;121;p24"/>
          <p:cNvSpPr txBox="1">
            <a:spLocks noGrp="1"/>
          </p:cNvSpPr>
          <p:nvPr>
            <p:ph type="title" idx="4294967295"/>
          </p:nvPr>
        </p:nvSpPr>
        <p:spPr>
          <a:xfrm>
            <a:off x="623400" y="440200"/>
            <a:ext cx="17041200" cy="20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>
              <a:buSzPts val="3200"/>
            </a:pPr>
            <a:r>
              <a:rPr lang="es">
                <a:solidFill>
                  <a:srgbClr val="0D3A6D"/>
                </a:solidFill>
              </a:rPr>
              <a:t>Equipo líder del cambio</a:t>
            </a:r>
            <a:endParaRPr>
              <a:solidFill>
                <a:srgbClr val="0D3A6D"/>
              </a:solidFill>
            </a:endParaRPr>
          </a:p>
          <a:p>
            <a:pPr>
              <a:spcBef>
                <a:spcPts val="800"/>
              </a:spcBef>
              <a:spcAft>
                <a:spcPts val="800"/>
              </a:spcAft>
              <a:buSzPts val="3200"/>
            </a:pPr>
            <a:r>
              <a:rPr lang="es" sz="3200" i="1">
                <a:solidFill>
                  <a:srgbClr val="0D3A6D"/>
                </a:solidFill>
              </a:rPr>
              <a:t>¿Quiénes serán los impulsores de la transformación digital en nuestra organización?</a:t>
            </a:r>
            <a:endParaRPr sz="3200" i="1">
              <a:solidFill>
                <a:srgbClr val="0D3A6D"/>
              </a:solidFill>
            </a:endParaRPr>
          </a:p>
        </p:txBody>
      </p:sp>
      <p:pic>
        <p:nvPicPr>
          <p:cNvPr id="122" name="Google Shape;122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450" y="2726040"/>
            <a:ext cx="3288600" cy="3288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23" name="Google Shape;123;p24"/>
          <p:cNvPicPr preferRelativeResize="0"/>
          <p:nvPr/>
        </p:nvPicPr>
        <p:blipFill rotWithShape="1">
          <a:blip r:embed="rId4">
            <a:alphaModFix/>
          </a:blip>
          <a:srcRect t="9" b="8"/>
          <a:stretch/>
        </p:blipFill>
        <p:spPr>
          <a:xfrm>
            <a:off x="5277336" y="2726340"/>
            <a:ext cx="3288600" cy="3288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24" name="Google Shape;124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3258" y="2726016"/>
            <a:ext cx="3288600" cy="3288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25" name="Google Shape;125;p24"/>
          <p:cNvSpPr txBox="1">
            <a:spLocks noGrp="1"/>
          </p:cNvSpPr>
          <p:nvPr>
            <p:ph type="body" idx="4294967295"/>
          </p:nvPr>
        </p:nvSpPr>
        <p:spPr>
          <a:xfrm>
            <a:off x="463450" y="7696128"/>
            <a:ext cx="4044600" cy="2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3200"/>
              </a:spcAft>
              <a:buSzPts val="1800"/>
              <a:buNone/>
            </a:pPr>
            <a:r>
              <a:rPr lang="es" sz="2400" dirty="0">
                <a:solidFill>
                  <a:srgbClr val="FFFF00"/>
                </a:solidFill>
              </a:rPr>
              <a:t>Escribe aquí tu texto </a:t>
            </a:r>
            <a:endParaRPr sz="2400" dirty="0">
              <a:solidFill>
                <a:srgbClr val="FFFF00"/>
              </a:solidFill>
            </a:endParaRPr>
          </a:p>
        </p:txBody>
      </p:sp>
      <p:sp>
        <p:nvSpPr>
          <p:cNvPr id="126" name="Google Shape;126;p24"/>
          <p:cNvSpPr txBox="1">
            <a:spLocks noGrp="1"/>
          </p:cNvSpPr>
          <p:nvPr>
            <p:ph type="title" idx="4294967295"/>
          </p:nvPr>
        </p:nvSpPr>
        <p:spPr>
          <a:xfrm>
            <a:off x="4899336" y="6646890"/>
            <a:ext cx="4044600" cy="11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Autofit/>
          </a:bodyPr>
          <a:lstStyle/>
          <a:p>
            <a:pPr>
              <a:buSzPts val="3200"/>
            </a:pPr>
            <a:r>
              <a:rPr lang="es" sz="3600">
                <a:solidFill>
                  <a:schemeClr val="lt1"/>
                </a:solidFill>
              </a:rPr>
              <a:t>Nombre del integrante 2</a:t>
            </a:r>
            <a:endParaRPr sz="3600">
              <a:solidFill>
                <a:schemeClr val="lt1"/>
              </a:solidFill>
            </a:endParaRPr>
          </a:p>
        </p:txBody>
      </p:sp>
      <p:sp>
        <p:nvSpPr>
          <p:cNvPr id="127" name="Google Shape;127;p24"/>
          <p:cNvSpPr txBox="1">
            <a:spLocks noGrp="1"/>
          </p:cNvSpPr>
          <p:nvPr>
            <p:ph type="title" idx="4294967295"/>
          </p:nvPr>
        </p:nvSpPr>
        <p:spPr>
          <a:xfrm>
            <a:off x="9335258" y="6646890"/>
            <a:ext cx="4044600" cy="11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Autofit/>
          </a:bodyPr>
          <a:lstStyle/>
          <a:p>
            <a:pPr>
              <a:buSzPts val="3200"/>
            </a:pPr>
            <a:r>
              <a:rPr lang="es" sz="3600">
                <a:solidFill>
                  <a:schemeClr val="lt1"/>
                </a:solidFill>
              </a:rPr>
              <a:t>Nombre del integrante 3</a:t>
            </a:r>
            <a:endParaRPr sz="3600">
              <a:solidFill>
                <a:schemeClr val="lt1"/>
              </a:solidFill>
            </a:endParaRPr>
          </a:p>
        </p:txBody>
      </p:sp>
      <p:sp>
        <p:nvSpPr>
          <p:cNvPr id="128" name="Google Shape;128;p24"/>
          <p:cNvSpPr txBox="1">
            <a:spLocks noGrp="1"/>
          </p:cNvSpPr>
          <p:nvPr>
            <p:ph type="body" idx="4294967295"/>
          </p:nvPr>
        </p:nvSpPr>
        <p:spPr>
          <a:xfrm>
            <a:off x="4899336" y="7696128"/>
            <a:ext cx="4044600" cy="2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3200"/>
              </a:spcAft>
              <a:buSzPts val="1800"/>
              <a:buNone/>
            </a:pPr>
            <a:r>
              <a:rPr lang="es" sz="2400">
                <a:solidFill>
                  <a:srgbClr val="FFFF00"/>
                </a:solidFill>
              </a:rPr>
              <a:t>Escribe aquí tu texto </a:t>
            </a:r>
            <a:endParaRPr sz="2400">
              <a:solidFill>
                <a:srgbClr val="FFFF00"/>
              </a:solidFill>
            </a:endParaRPr>
          </a:p>
        </p:txBody>
      </p:sp>
      <p:sp>
        <p:nvSpPr>
          <p:cNvPr id="129" name="Google Shape;129;p24"/>
          <p:cNvSpPr txBox="1">
            <a:spLocks noGrp="1"/>
          </p:cNvSpPr>
          <p:nvPr>
            <p:ph type="body" idx="4294967295"/>
          </p:nvPr>
        </p:nvSpPr>
        <p:spPr>
          <a:xfrm>
            <a:off x="9335258" y="7696128"/>
            <a:ext cx="4044600" cy="2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3200"/>
              </a:spcAft>
              <a:buSzPts val="1800"/>
              <a:buNone/>
            </a:pPr>
            <a:r>
              <a:rPr lang="es" sz="2400">
                <a:solidFill>
                  <a:srgbClr val="FFFF00"/>
                </a:solidFill>
              </a:rPr>
              <a:t>Escribe aquí tu texto </a:t>
            </a:r>
            <a:endParaRPr sz="2400">
              <a:solidFill>
                <a:srgbClr val="FFFF00"/>
              </a:solidFill>
            </a:endParaRPr>
          </a:p>
        </p:txBody>
      </p:sp>
      <p:pic>
        <p:nvPicPr>
          <p:cNvPr id="130" name="Google Shape;130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149180" y="2726040"/>
            <a:ext cx="3288600" cy="3288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31" name="Google Shape;131;p24"/>
          <p:cNvSpPr txBox="1">
            <a:spLocks noGrp="1"/>
          </p:cNvSpPr>
          <p:nvPr>
            <p:ph type="title" idx="4294967295"/>
          </p:nvPr>
        </p:nvSpPr>
        <p:spPr>
          <a:xfrm>
            <a:off x="13771180" y="6646890"/>
            <a:ext cx="4044600" cy="11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Autofit/>
          </a:bodyPr>
          <a:lstStyle/>
          <a:p>
            <a:pPr>
              <a:buSzPts val="3200"/>
            </a:pPr>
            <a:r>
              <a:rPr lang="es" sz="3600">
                <a:solidFill>
                  <a:schemeClr val="lt1"/>
                </a:solidFill>
              </a:rPr>
              <a:t>Nombre del integrante 4</a:t>
            </a:r>
            <a:endParaRPr sz="3600">
              <a:solidFill>
                <a:schemeClr val="lt1"/>
              </a:solidFill>
            </a:endParaRPr>
          </a:p>
        </p:txBody>
      </p:sp>
      <p:sp>
        <p:nvSpPr>
          <p:cNvPr id="132" name="Google Shape;132;p24"/>
          <p:cNvSpPr txBox="1">
            <a:spLocks noGrp="1"/>
          </p:cNvSpPr>
          <p:nvPr>
            <p:ph type="body" idx="4294967295"/>
          </p:nvPr>
        </p:nvSpPr>
        <p:spPr>
          <a:xfrm>
            <a:off x="13771180" y="7696128"/>
            <a:ext cx="4044600" cy="2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3200"/>
              </a:spcAft>
              <a:buSzPts val="1800"/>
              <a:buNone/>
            </a:pPr>
            <a:r>
              <a:rPr lang="es" sz="2400">
                <a:solidFill>
                  <a:srgbClr val="FFFF00"/>
                </a:solidFill>
              </a:rPr>
              <a:t>Escribe aquí tu texto </a:t>
            </a:r>
            <a:endParaRPr sz="24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5" name="Google Shape;1305;g30689113c39_0_1718"/>
          <p:cNvGrpSpPr/>
          <p:nvPr/>
        </p:nvGrpSpPr>
        <p:grpSpPr>
          <a:xfrm>
            <a:off x="1356728" y="8545495"/>
            <a:ext cx="15574467" cy="1502997"/>
            <a:chOff x="0" y="-47625"/>
            <a:chExt cx="2269338" cy="219000"/>
          </a:xfrm>
        </p:grpSpPr>
        <p:sp>
          <p:nvSpPr>
            <p:cNvPr id="1306" name="Google Shape;1306;g30689113c39_0_1718"/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07" name="Google Shape;1307;g30689113c39_0_1718"/>
            <p:cNvSpPr txBox="1"/>
            <p:nvPr/>
          </p:nvSpPr>
          <p:spPr>
            <a:xfrm>
              <a:off x="0" y="-47625"/>
              <a:ext cx="22692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13" name="Google Shape;1313;g30689113c39_0_1718"/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14" name="Google Shape;1314;g30689113c39_0_1718"/>
          <p:cNvSpPr txBox="1"/>
          <p:nvPr/>
        </p:nvSpPr>
        <p:spPr>
          <a:xfrm>
            <a:off x="3219000" y="1022450"/>
            <a:ext cx="101454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F46524"/>
                </a:solidFill>
                <a:latin typeface="Raleway"/>
                <a:ea typeface="Raleway"/>
                <a:cs typeface="Raleway"/>
                <a:sym typeface="Raleway"/>
              </a:rPr>
              <a:t>Constitución y Preparación del Equipo Líder del Cambio</a:t>
            </a:r>
            <a:endParaRPr sz="2700" b="1">
              <a:solidFill>
                <a:srgbClr val="F4652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15" name="Google Shape;1315;g30689113c39_0_1718"/>
          <p:cNvSpPr txBox="1"/>
          <p:nvPr/>
        </p:nvSpPr>
        <p:spPr>
          <a:xfrm>
            <a:off x="3025875" y="2078700"/>
            <a:ext cx="127650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 dirty="0" err="1">
                <a:solidFill>
                  <a:schemeClr val="dk1"/>
                </a:solidFill>
              </a:rPr>
              <a:t>Características</a:t>
            </a:r>
            <a:r>
              <a:rPr lang="en-US" sz="2300" b="1" dirty="0">
                <a:solidFill>
                  <a:schemeClr val="dk1"/>
                </a:solidFill>
              </a:rPr>
              <a:t> del Equipo </a:t>
            </a:r>
            <a:r>
              <a:rPr lang="en-US" sz="2300" b="1" dirty="0" err="1">
                <a:solidFill>
                  <a:schemeClr val="dk1"/>
                </a:solidFill>
              </a:rPr>
              <a:t>Líder</a:t>
            </a:r>
            <a:r>
              <a:rPr lang="en-US" sz="2300" b="1" dirty="0">
                <a:solidFill>
                  <a:schemeClr val="dk1"/>
                </a:solidFill>
              </a:rPr>
              <a:t> del Cambio</a:t>
            </a:r>
            <a:endParaRPr sz="2300" b="1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b="1" dirty="0" err="1">
                <a:solidFill>
                  <a:schemeClr val="dk1"/>
                </a:solidFill>
              </a:rPr>
              <a:t>Diversidad</a:t>
            </a:r>
            <a:r>
              <a:rPr lang="en-US" sz="2300" b="1" dirty="0">
                <a:solidFill>
                  <a:schemeClr val="dk1"/>
                </a:solidFill>
              </a:rPr>
              <a:t> de </a:t>
            </a:r>
            <a:r>
              <a:rPr lang="en-US" sz="2300" b="1" dirty="0" err="1">
                <a:solidFill>
                  <a:schemeClr val="dk1"/>
                </a:solidFill>
              </a:rPr>
              <a:t>habilidades</a:t>
            </a:r>
            <a:r>
              <a:rPr lang="en-US" sz="2300" dirty="0">
                <a:solidFill>
                  <a:schemeClr val="dk1"/>
                </a:solidFill>
              </a:rPr>
              <a:t>: </a:t>
            </a:r>
            <a:r>
              <a:rPr lang="en-US" sz="2300" dirty="0" err="1">
                <a:solidFill>
                  <a:schemeClr val="dk1"/>
                </a:solidFill>
              </a:rPr>
              <a:t>Incluir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miembros</a:t>
            </a:r>
            <a:r>
              <a:rPr lang="en-US" sz="2300" dirty="0">
                <a:solidFill>
                  <a:schemeClr val="dk1"/>
                </a:solidFill>
              </a:rPr>
              <a:t> con </a:t>
            </a:r>
            <a:r>
              <a:rPr lang="en-US" sz="2300" dirty="0" err="1">
                <a:solidFill>
                  <a:schemeClr val="dk1"/>
                </a:solidFill>
              </a:rPr>
              <a:t>experiencia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en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tecnología</a:t>
            </a:r>
            <a:r>
              <a:rPr lang="en-US" sz="2300" dirty="0">
                <a:solidFill>
                  <a:schemeClr val="dk1"/>
                </a:solidFill>
              </a:rPr>
              <a:t>, marketing, </a:t>
            </a:r>
            <a:r>
              <a:rPr lang="en-US" sz="2300" dirty="0" err="1">
                <a:solidFill>
                  <a:schemeClr val="dk1"/>
                </a:solidFill>
              </a:rPr>
              <a:t>finanzas</a:t>
            </a:r>
            <a:r>
              <a:rPr lang="en-US" sz="2300" dirty="0">
                <a:solidFill>
                  <a:schemeClr val="dk1"/>
                </a:solidFill>
              </a:rPr>
              <a:t> y </a:t>
            </a:r>
            <a:r>
              <a:rPr lang="en-US" sz="2300" dirty="0" err="1">
                <a:solidFill>
                  <a:schemeClr val="dk1"/>
                </a:solidFill>
              </a:rPr>
              <a:t>recursos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humanos</a:t>
            </a:r>
            <a:r>
              <a:rPr lang="en-US" sz="2300" dirty="0">
                <a:solidFill>
                  <a:schemeClr val="dk1"/>
                </a:solidFill>
              </a:rPr>
              <a:t>.</a:t>
            </a:r>
            <a:endParaRPr sz="2300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b="1" dirty="0" err="1">
                <a:solidFill>
                  <a:schemeClr val="dk1"/>
                </a:solidFill>
              </a:rPr>
              <a:t>Compromiso</a:t>
            </a:r>
            <a:r>
              <a:rPr lang="en-US" sz="2300" b="1" dirty="0">
                <a:solidFill>
                  <a:schemeClr val="dk1"/>
                </a:solidFill>
              </a:rPr>
              <a:t> y </a:t>
            </a:r>
            <a:r>
              <a:rPr lang="en-US" sz="2300" b="1" dirty="0" err="1">
                <a:solidFill>
                  <a:schemeClr val="dk1"/>
                </a:solidFill>
              </a:rPr>
              <a:t>visibilidad</a:t>
            </a:r>
            <a:r>
              <a:rPr lang="en-US" sz="2300" dirty="0">
                <a:solidFill>
                  <a:schemeClr val="dk1"/>
                </a:solidFill>
              </a:rPr>
              <a:t>: Los </a:t>
            </a:r>
            <a:r>
              <a:rPr lang="en-US" sz="2300" dirty="0" err="1">
                <a:solidFill>
                  <a:schemeClr val="dk1"/>
                </a:solidFill>
              </a:rPr>
              <a:t>líderes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deben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estar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comprometidos</a:t>
            </a:r>
            <a:r>
              <a:rPr lang="en-US" sz="2300" dirty="0">
                <a:solidFill>
                  <a:schemeClr val="dk1"/>
                </a:solidFill>
              </a:rPr>
              <a:t> con la </a:t>
            </a:r>
            <a:r>
              <a:rPr lang="en-US" sz="2300" dirty="0" err="1">
                <a:solidFill>
                  <a:schemeClr val="dk1"/>
                </a:solidFill>
              </a:rPr>
              <a:t>transformación</a:t>
            </a:r>
            <a:r>
              <a:rPr lang="en-US" sz="2300" dirty="0">
                <a:solidFill>
                  <a:schemeClr val="dk1"/>
                </a:solidFill>
              </a:rPr>
              <a:t> digital y ser </a:t>
            </a:r>
            <a:r>
              <a:rPr lang="en-US" sz="2300" dirty="0" err="1">
                <a:solidFill>
                  <a:schemeClr val="dk1"/>
                </a:solidFill>
              </a:rPr>
              <a:t>visibles</a:t>
            </a:r>
            <a:r>
              <a:rPr lang="en-US" sz="2300" dirty="0">
                <a:solidFill>
                  <a:schemeClr val="dk1"/>
                </a:solidFill>
              </a:rPr>
              <a:t> para </a:t>
            </a:r>
            <a:r>
              <a:rPr lang="en-US" sz="2300" dirty="0" err="1">
                <a:solidFill>
                  <a:schemeClr val="dk1"/>
                </a:solidFill>
              </a:rPr>
              <a:t>todo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el</a:t>
            </a:r>
            <a:r>
              <a:rPr lang="en-US" sz="2300" dirty="0">
                <a:solidFill>
                  <a:schemeClr val="dk1"/>
                </a:solidFill>
              </a:rPr>
              <a:t> personal.</a:t>
            </a:r>
            <a:endParaRPr sz="2300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b="1" dirty="0" err="1">
                <a:solidFill>
                  <a:schemeClr val="dk1"/>
                </a:solidFill>
              </a:rPr>
              <a:t>Capacidad</a:t>
            </a:r>
            <a:r>
              <a:rPr lang="en-US" sz="2300" b="1" dirty="0">
                <a:solidFill>
                  <a:schemeClr val="dk1"/>
                </a:solidFill>
              </a:rPr>
              <a:t> de </a:t>
            </a:r>
            <a:r>
              <a:rPr lang="en-US" sz="2300" b="1" dirty="0" err="1">
                <a:solidFill>
                  <a:schemeClr val="dk1"/>
                </a:solidFill>
              </a:rPr>
              <a:t>comunicación</a:t>
            </a:r>
            <a:r>
              <a:rPr lang="en-US" sz="2300" dirty="0">
                <a:solidFill>
                  <a:schemeClr val="dk1"/>
                </a:solidFill>
              </a:rPr>
              <a:t>: Deben ser </a:t>
            </a:r>
            <a:r>
              <a:rPr lang="en-US" sz="2300" dirty="0" err="1">
                <a:solidFill>
                  <a:schemeClr val="dk1"/>
                </a:solidFill>
              </a:rPr>
              <a:t>capaces</a:t>
            </a:r>
            <a:r>
              <a:rPr lang="en-US" sz="2300" dirty="0">
                <a:solidFill>
                  <a:schemeClr val="dk1"/>
                </a:solidFill>
              </a:rPr>
              <a:t> de </a:t>
            </a:r>
            <a:r>
              <a:rPr lang="en-US" sz="2300" dirty="0" err="1">
                <a:solidFill>
                  <a:schemeClr val="dk1"/>
                </a:solidFill>
              </a:rPr>
              <a:t>comunicar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efectivamente</a:t>
            </a:r>
            <a:r>
              <a:rPr lang="en-US" sz="2300" dirty="0">
                <a:solidFill>
                  <a:schemeClr val="dk1"/>
                </a:solidFill>
              </a:rPr>
              <a:t> la </a:t>
            </a:r>
            <a:r>
              <a:rPr lang="en-US" sz="2300" dirty="0" err="1">
                <a:solidFill>
                  <a:schemeClr val="dk1"/>
                </a:solidFill>
              </a:rPr>
              <a:t>visión</a:t>
            </a:r>
            <a:r>
              <a:rPr lang="en-US" sz="2300" dirty="0">
                <a:solidFill>
                  <a:schemeClr val="dk1"/>
                </a:solidFill>
              </a:rPr>
              <a:t> y </a:t>
            </a:r>
            <a:r>
              <a:rPr lang="en-US" sz="2300" dirty="0" err="1">
                <a:solidFill>
                  <a:schemeClr val="dk1"/>
                </a:solidFill>
              </a:rPr>
              <a:t>los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beneficios</a:t>
            </a:r>
            <a:r>
              <a:rPr lang="en-US" sz="2300" dirty="0">
                <a:solidFill>
                  <a:schemeClr val="dk1"/>
                </a:solidFill>
              </a:rPr>
              <a:t> del </a:t>
            </a:r>
            <a:r>
              <a:rPr lang="en-US" sz="2300" dirty="0" err="1">
                <a:solidFill>
                  <a:schemeClr val="dk1"/>
                </a:solidFill>
              </a:rPr>
              <a:t>cambio</a:t>
            </a:r>
            <a:r>
              <a:rPr lang="en-US" sz="2300" dirty="0">
                <a:solidFill>
                  <a:schemeClr val="dk1"/>
                </a:solidFill>
              </a:rPr>
              <a:t>.</a:t>
            </a: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 dirty="0" err="1">
                <a:solidFill>
                  <a:schemeClr val="dk1"/>
                </a:solidFill>
              </a:rPr>
              <a:t>Preparación</a:t>
            </a:r>
            <a:r>
              <a:rPr lang="en-US" sz="2300" b="1" dirty="0">
                <a:solidFill>
                  <a:schemeClr val="dk1"/>
                </a:solidFill>
              </a:rPr>
              <a:t> del Equipo</a:t>
            </a:r>
            <a:endParaRPr sz="2300" b="1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b="1" dirty="0" err="1">
                <a:solidFill>
                  <a:schemeClr val="dk1"/>
                </a:solidFill>
              </a:rPr>
              <a:t>Formación</a:t>
            </a:r>
            <a:r>
              <a:rPr lang="en-US" sz="2300" dirty="0">
                <a:solidFill>
                  <a:schemeClr val="dk1"/>
                </a:solidFill>
              </a:rPr>
              <a:t>: </a:t>
            </a:r>
            <a:r>
              <a:rPr lang="en-US" sz="2300" dirty="0" err="1">
                <a:solidFill>
                  <a:schemeClr val="dk1"/>
                </a:solidFill>
              </a:rPr>
              <a:t>Proporcionar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capacitación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en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gestión</a:t>
            </a:r>
            <a:r>
              <a:rPr lang="en-US" sz="2300" dirty="0">
                <a:solidFill>
                  <a:schemeClr val="dk1"/>
                </a:solidFill>
              </a:rPr>
              <a:t> del </a:t>
            </a:r>
            <a:r>
              <a:rPr lang="en-US" sz="2300" dirty="0" err="1">
                <a:solidFill>
                  <a:schemeClr val="dk1"/>
                </a:solidFill>
              </a:rPr>
              <a:t>cambio</a:t>
            </a:r>
            <a:r>
              <a:rPr lang="en-US" sz="2300" dirty="0">
                <a:solidFill>
                  <a:schemeClr val="dk1"/>
                </a:solidFill>
              </a:rPr>
              <a:t> y </a:t>
            </a:r>
            <a:r>
              <a:rPr lang="en-US" sz="2300" dirty="0" err="1">
                <a:solidFill>
                  <a:schemeClr val="dk1"/>
                </a:solidFill>
              </a:rPr>
              <a:t>herramientas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digitales</a:t>
            </a:r>
            <a:r>
              <a:rPr lang="en-US" sz="2300" dirty="0">
                <a:solidFill>
                  <a:schemeClr val="dk1"/>
                </a:solidFill>
              </a:rPr>
              <a:t>.</a:t>
            </a:r>
            <a:endParaRPr sz="2300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b="1" dirty="0" err="1">
                <a:solidFill>
                  <a:schemeClr val="dk1"/>
                </a:solidFill>
              </a:rPr>
              <a:t>Definición</a:t>
            </a:r>
            <a:r>
              <a:rPr lang="en-US" sz="2300" b="1" dirty="0">
                <a:solidFill>
                  <a:schemeClr val="dk1"/>
                </a:solidFill>
              </a:rPr>
              <a:t> de Roles</a:t>
            </a:r>
            <a:r>
              <a:rPr lang="en-US" sz="2300" dirty="0">
                <a:solidFill>
                  <a:schemeClr val="dk1"/>
                </a:solidFill>
              </a:rPr>
              <a:t>: </a:t>
            </a:r>
            <a:r>
              <a:rPr lang="en-US" sz="2300" dirty="0" err="1">
                <a:solidFill>
                  <a:schemeClr val="dk1"/>
                </a:solidFill>
              </a:rPr>
              <a:t>Establecer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claramente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los</a:t>
            </a:r>
            <a:r>
              <a:rPr lang="en-US" sz="2300" dirty="0">
                <a:solidFill>
                  <a:schemeClr val="dk1"/>
                </a:solidFill>
              </a:rPr>
              <a:t> roles y </a:t>
            </a:r>
            <a:r>
              <a:rPr lang="en-US" sz="2300" dirty="0" err="1">
                <a:solidFill>
                  <a:schemeClr val="dk1"/>
                </a:solidFill>
              </a:rPr>
              <a:t>responsabilidades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dentro</a:t>
            </a:r>
            <a:r>
              <a:rPr lang="en-US" sz="2300" dirty="0">
                <a:solidFill>
                  <a:schemeClr val="dk1"/>
                </a:solidFill>
              </a:rPr>
              <a:t> del </a:t>
            </a:r>
            <a:r>
              <a:rPr lang="en-US" sz="2300" dirty="0" err="1">
                <a:solidFill>
                  <a:schemeClr val="dk1"/>
                </a:solidFill>
              </a:rPr>
              <a:t>equipo</a:t>
            </a:r>
            <a:r>
              <a:rPr lang="en-US" sz="2300" dirty="0">
                <a:solidFill>
                  <a:schemeClr val="dk1"/>
                </a:solidFill>
              </a:rPr>
              <a:t>.</a:t>
            </a:r>
            <a:endParaRPr sz="2300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b="1" dirty="0" err="1">
                <a:solidFill>
                  <a:schemeClr val="dk1"/>
                </a:solidFill>
              </a:rPr>
              <a:t>Fomentar</a:t>
            </a:r>
            <a:r>
              <a:rPr lang="en-US" sz="2300" b="1" dirty="0">
                <a:solidFill>
                  <a:schemeClr val="dk1"/>
                </a:solidFill>
              </a:rPr>
              <a:t> la </a:t>
            </a:r>
            <a:r>
              <a:rPr lang="en-US" sz="2300" b="1" dirty="0" err="1">
                <a:solidFill>
                  <a:schemeClr val="dk1"/>
                </a:solidFill>
              </a:rPr>
              <a:t>Colaboración</a:t>
            </a:r>
            <a:r>
              <a:rPr lang="en-US" sz="2300" dirty="0">
                <a:solidFill>
                  <a:schemeClr val="dk1"/>
                </a:solidFill>
              </a:rPr>
              <a:t>: Crear un </a:t>
            </a:r>
            <a:r>
              <a:rPr lang="en-US" sz="2300" dirty="0" err="1">
                <a:solidFill>
                  <a:schemeClr val="dk1"/>
                </a:solidFill>
              </a:rPr>
              <a:t>ambiente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donde</a:t>
            </a:r>
            <a:r>
              <a:rPr lang="en-US" sz="2300" dirty="0">
                <a:solidFill>
                  <a:schemeClr val="dk1"/>
                </a:solidFill>
              </a:rPr>
              <a:t> se </a:t>
            </a:r>
            <a:r>
              <a:rPr lang="en-US" sz="2300" dirty="0" err="1">
                <a:solidFill>
                  <a:schemeClr val="dk1"/>
                </a:solidFill>
              </a:rPr>
              <a:t>valore</a:t>
            </a:r>
            <a:r>
              <a:rPr lang="en-US" sz="2300" dirty="0">
                <a:solidFill>
                  <a:schemeClr val="dk1"/>
                </a:solidFill>
              </a:rPr>
              <a:t> la </a:t>
            </a:r>
            <a:r>
              <a:rPr lang="en-US" sz="2300" dirty="0" err="1">
                <a:solidFill>
                  <a:schemeClr val="dk1"/>
                </a:solidFill>
              </a:rPr>
              <a:t>retroalimentación</a:t>
            </a:r>
            <a:r>
              <a:rPr lang="en-US" sz="2300" dirty="0">
                <a:solidFill>
                  <a:schemeClr val="dk1"/>
                </a:solidFill>
              </a:rPr>
              <a:t> y las ideas de </a:t>
            </a:r>
            <a:r>
              <a:rPr lang="en-US" sz="2300" dirty="0" err="1">
                <a:solidFill>
                  <a:schemeClr val="dk1"/>
                </a:solidFill>
              </a:rPr>
              <a:t>todos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los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miembros</a:t>
            </a:r>
            <a:r>
              <a:rPr lang="en-US" sz="2300" dirty="0">
                <a:solidFill>
                  <a:schemeClr val="dk1"/>
                </a:solidFill>
              </a:rPr>
              <a:t> del </a:t>
            </a:r>
            <a:r>
              <a:rPr lang="en-US" sz="2300" dirty="0" err="1">
                <a:solidFill>
                  <a:schemeClr val="dk1"/>
                </a:solidFill>
              </a:rPr>
              <a:t>equipo</a:t>
            </a:r>
            <a:r>
              <a:rPr lang="en-US" sz="2300" dirty="0">
                <a:solidFill>
                  <a:schemeClr val="dk1"/>
                </a:solidFill>
              </a:rPr>
              <a:t>.</a:t>
            </a: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DE77C37-8478-2AC4-387B-59E7B3541D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92450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0" name="Google Shape;1320;g30689113c39_0_1734"/>
          <p:cNvGrpSpPr/>
          <p:nvPr/>
        </p:nvGrpSpPr>
        <p:grpSpPr>
          <a:xfrm>
            <a:off x="1356728" y="8545495"/>
            <a:ext cx="15574467" cy="1502997"/>
            <a:chOff x="0" y="-47625"/>
            <a:chExt cx="2269338" cy="219000"/>
          </a:xfrm>
        </p:grpSpPr>
        <p:sp>
          <p:nvSpPr>
            <p:cNvPr id="1321" name="Google Shape;1321;g30689113c39_0_1734"/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22" name="Google Shape;1322;g30689113c39_0_1734"/>
            <p:cNvSpPr txBox="1"/>
            <p:nvPr/>
          </p:nvSpPr>
          <p:spPr>
            <a:xfrm>
              <a:off x="0" y="-47625"/>
              <a:ext cx="22692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8" name="Google Shape;1328;g30689113c39_0_1734"/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29" name="Google Shape;1329;g30689113c39_0_1734"/>
          <p:cNvSpPr txBox="1"/>
          <p:nvPr/>
        </p:nvSpPr>
        <p:spPr>
          <a:xfrm>
            <a:off x="3219000" y="1022450"/>
            <a:ext cx="101454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F46524"/>
                </a:solidFill>
                <a:latin typeface="Raleway"/>
                <a:ea typeface="Raleway"/>
                <a:cs typeface="Raleway"/>
                <a:sym typeface="Raleway"/>
              </a:rPr>
              <a:t>Ejemplo de un Plan de Transformación Digital: Empresa de Retail</a:t>
            </a:r>
            <a:endParaRPr sz="2700" b="1">
              <a:solidFill>
                <a:srgbClr val="F4652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30" name="Google Shape;1330;g30689113c39_0_1734"/>
          <p:cNvSpPr txBox="1"/>
          <p:nvPr/>
        </p:nvSpPr>
        <p:spPr>
          <a:xfrm>
            <a:off x="3025875" y="2078700"/>
            <a:ext cx="127650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dk1"/>
                </a:solidFill>
              </a:rPr>
              <a:t>Una </a:t>
            </a:r>
            <a:r>
              <a:rPr lang="en-US" sz="2100" dirty="0" err="1">
                <a:solidFill>
                  <a:schemeClr val="dk1"/>
                </a:solidFill>
              </a:rPr>
              <a:t>cadena</a:t>
            </a:r>
            <a:r>
              <a:rPr lang="en-US" sz="2100" dirty="0">
                <a:solidFill>
                  <a:schemeClr val="dk1"/>
                </a:solidFill>
              </a:rPr>
              <a:t> de tiendas </a:t>
            </a:r>
            <a:r>
              <a:rPr lang="en-US" sz="2100" dirty="0" err="1">
                <a:solidFill>
                  <a:schemeClr val="dk1"/>
                </a:solidFill>
              </a:rPr>
              <a:t>minoristas</a:t>
            </a:r>
            <a:r>
              <a:rPr lang="en-US" sz="2100" dirty="0">
                <a:solidFill>
                  <a:schemeClr val="dk1"/>
                </a:solidFill>
              </a:rPr>
              <a:t> </a:t>
            </a:r>
            <a:r>
              <a:rPr lang="en-US" sz="2100" dirty="0" err="1">
                <a:solidFill>
                  <a:schemeClr val="dk1"/>
                </a:solidFill>
              </a:rPr>
              <a:t>quiere</a:t>
            </a:r>
            <a:r>
              <a:rPr lang="en-US" sz="2100" dirty="0">
                <a:solidFill>
                  <a:schemeClr val="dk1"/>
                </a:solidFill>
              </a:rPr>
              <a:t> </a:t>
            </a:r>
            <a:r>
              <a:rPr lang="en-US" sz="2100" dirty="0" err="1">
                <a:solidFill>
                  <a:schemeClr val="dk1"/>
                </a:solidFill>
              </a:rPr>
              <a:t>digitalizar</a:t>
            </a:r>
            <a:r>
              <a:rPr lang="en-US" sz="2100" dirty="0">
                <a:solidFill>
                  <a:schemeClr val="dk1"/>
                </a:solidFill>
              </a:rPr>
              <a:t> </a:t>
            </a:r>
            <a:r>
              <a:rPr lang="en-US" sz="2100" dirty="0" err="1">
                <a:solidFill>
                  <a:schemeClr val="dk1"/>
                </a:solidFill>
              </a:rPr>
              <a:t>su</a:t>
            </a:r>
            <a:r>
              <a:rPr lang="en-US" sz="2100" dirty="0">
                <a:solidFill>
                  <a:schemeClr val="dk1"/>
                </a:solidFill>
              </a:rPr>
              <a:t> </a:t>
            </a:r>
            <a:r>
              <a:rPr lang="en-US" sz="2100" dirty="0" err="1">
                <a:solidFill>
                  <a:schemeClr val="dk1"/>
                </a:solidFill>
              </a:rPr>
              <a:t>modelo</a:t>
            </a:r>
            <a:r>
              <a:rPr lang="en-US" sz="2100" dirty="0">
                <a:solidFill>
                  <a:schemeClr val="dk1"/>
                </a:solidFill>
              </a:rPr>
              <a:t> de </a:t>
            </a:r>
            <a:r>
              <a:rPr lang="en-US" sz="2100" dirty="0" err="1">
                <a:solidFill>
                  <a:schemeClr val="dk1"/>
                </a:solidFill>
              </a:rPr>
              <a:t>negocio</a:t>
            </a:r>
            <a:r>
              <a:rPr lang="en-US" sz="2100" dirty="0">
                <a:solidFill>
                  <a:schemeClr val="dk1"/>
                </a:solidFill>
              </a:rPr>
              <a:t> para </a:t>
            </a:r>
            <a:r>
              <a:rPr lang="en-US" sz="2100" dirty="0" err="1">
                <a:solidFill>
                  <a:schemeClr val="dk1"/>
                </a:solidFill>
              </a:rPr>
              <a:t>mejorar</a:t>
            </a:r>
            <a:r>
              <a:rPr lang="en-US" sz="2100" dirty="0">
                <a:solidFill>
                  <a:schemeClr val="dk1"/>
                </a:solidFill>
              </a:rPr>
              <a:t> la </a:t>
            </a:r>
            <a:r>
              <a:rPr lang="en-US" sz="2100" dirty="0" err="1">
                <a:solidFill>
                  <a:schemeClr val="dk1"/>
                </a:solidFill>
              </a:rPr>
              <a:t>experiencia</a:t>
            </a:r>
            <a:r>
              <a:rPr lang="en-US" sz="2100" dirty="0">
                <a:solidFill>
                  <a:schemeClr val="dk1"/>
                </a:solidFill>
              </a:rPr>
              <a:t> del </a:t>
            </a:r>
            <a:r>
              <a:rPr lang="en-US" sz="2100" dirty="0" err="1">
                <a:solidFill>
                  <a:schemeClr val="dk1"/>
                </a:solidFill>
              </a:rPr>
              <a:t>cliente</a:t>
            </a:r>
            <a:r>
              <a:rPr lang="en-US" sz="2100" dirty="0">
                <a:solidFill>
                  <a:schemeClr val="dk1"/>
                </a:solidFill>
              </a:rPr>
              <a:t> y </a:t>
            </a:r>
            <a:r>
              <a:rPr lang="en-US" sz="2100" dirty="0" err="1">
                <a:solidFill>
                  <a:schemeClr val="dk1"/>
                </a:solidFill>
              </a:rPr>
              <a:t>aumentar</a:t>
            </a:r>
            <a:r>
              <a:rPr lang="en-US" sz="2100" dirty="0">
                <a:solidFill>
                  <a:schemeClr val="dk1"/>
                </a:solidFill>
              </a:rPr>
              <a:t> las </a:t>
            </a:r>
            <a:r>
              <a:rPr lang="en-US" sz="2100" dirty="0" err="1">
                <a:solidFill>
                  <a:schemeClr val="dk1"/>
                </a:solidFill>
              </a:rPr>
              <a:t>ventas</a:t>
            </a:r>
            <a:r>
              <a:rPr lang="en-US" sz="2100" dirty="0">
                <a:solidFill>
                  <a:schemeClr val="dk1"/>
                </a:solidFill>
              </a:rPr>
              <a:t>.</a:t>
            </a:r>
            <a:endParaRPr sz="2100" dirty="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 b="1" dirty="0" err="1">
                <a:solidFill>
                  <a:schemeClr val="dk1"/>
                </a:solidFill>
              </a:rPr>
              <a:t>Objetivos</a:t>
            </a:r>
            <a:r>
              <a:rPr lang="en-US" sz="2100" b="1" dirty="0">
                <a:solidFill>
                  <a:schemeClr val="dk1"/>
                </a:solidFill>
              </a:rPr>
              <a:t> a Corto </a:t>
            </a:r>
            <a:r>
              <a:rPr lang="en-US" sz="2100" b="1" dirty="0" err="1">
                <a:solidFill>
                  <a:schemeClr val="dk1"/>
                </a:solidFill>
              </a:rPr>
              <a:t>Plazo</a:t>
            </a:r>
            <a:r>
              <a:rPr lang="en-US" sz="2100" dirty="0">
                <a:solidFill>
                  <a:schemeClr val="dk1"/>
                </a:solidFill>
              </a:rPr>
              <a:t>:</a:t>
            </a:r>
            <a:endParaRPr sz="2100" dirty="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 dirty="0" err="1">
                <a:solidFill>
                  <a:schemeClr val="dk1"/>
                </a:solidFill>
              </a:rPr>
              <a:t>Digitalizar</a:t>
            </a:r>
            <a:r>
              <a:rPr lang="en-US" sz="2100" dirty="0">
                <a:solidFill>
                  <a:schemeClr val="dk1"/>
                </a:solidFill>
              </a:rPr>
              <a:t> </a:t>
            </a:r>
            <a:r>
              <a:rPr lang="en-US" sz="2100" dirty="0" err="1">
                <a:solidFill>
                  <a:schemeClr val="dk1"/>
                </a:solidFill>
              </a:rPr>
              <a:t>el</a:t>
            </a:r>
            <a:r>
              <a:rPr lang="en-US" sz="2100" dirty="0">
                <a:solidFill>
                  <a:schemeClr val="dk1"/>
                </a:solidFill>
              </a:rPr>
              <a:t> </a:t>
            </a:r>
            <a:r>
              <a:rPr lang="en-US" sz="2100" dirty="0" err="1">
                <a:solidFill>
                  <a:schemeClr val="dk1"/>
                </a:solidFill>
              </a:rPr>
              <a:t>proceso</a:t>
            </a:r>
            <a:r>
              <a:rPr lang="en-US" sz="2100" dirty="0">
                <a:solidFill>
                  <a:schemeClr val="dk1"/>
                </a:solidFill>
              </a:rPr>
              <a:t> de </a:t>
            </a:r>
            <a:r>
              <a:rPr lang="en-US" sz="2100" dirty="0" err="1">
                <a:solidFill>
                  <a:schemeClr val="dk1"/>
                </a:solidFill>
              </a:rPr>
              <a:t>ventas</a:t>
            </a:r>
            <a:r>
              <a:rPr lang="en-US" sz="2100" dirty="0">
                <a:solidFill>
                  <a:schemeClr val="dk1"/>
                </a:solidFill>
              </a:rPr>
              <a:t> </a:t>
            </a:r>
            <a:r>
              <a:rPr lang="en-US" sz="2100" dirty="0" err="1">
                <a:solidFill>
                  <a:schemeClr val="dk1"/>
                </a:solidFill>
              </a:rPr>
              <a:t>en</a:t>
            </a:r>
            <a:r>
              <a:rPr lang="en-US" sz="2100" dirty="0">
                <a:solidFill>
                  <a:schemeClr val="dk1"/>
                </a:solidFill>
              </a:rPr>
              <a:t> tienda.</a:t>
            </a:r>
            <a:endParaRPr sz="2100" dirty="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 dirty="0" err="1">
                <a:solidFill>
                  <a:schemeClr val="dk1"/>
                </a:solidFill>
              </a:rPr>
              <a:t>Implementar</a:t>
            </a:r>
            <a:r>
              <a:rPr lang="en-US" sz="2100" dirty="0">
                <a:solidFill>
                  <a:schemeClr val="dk1"/>
                </a:solidFill>
              </a:rPr>
              <a:t> un </a:t>
            </a:r>
            <a:r>
              <a:rPr lang="en-US" sz="2100" dirty="0" err="1">
                <a:solidFill>
                  <a:schemeClr val="dk1"/>
                </a:solidFill>
              </a:rPr>
              <a:t>sistema</a:t>
            </a:r>
            <a:r>
              <a:rPr lang="en-US" sz="2100" dirty="0">
                <a:solidFill>
                  <a:schemeClr val="dk1"/>
                </a:solidFill>
              </a:rPr>
              <a:t> de </a:t>
            </a:r>
            <a:r>
              <a:rPr lang="en-US" sz="2100" dirty="0" err="1">
                <a:solidFill>
                  <a:schemeClr val="dk1"/>
                </a:solidFill>
              </a:rPr>
              <a:t>gestión</a:t>
            </a:r>
            <a:r>
              <a:rPr lang="en-US" sz="2100" dirty="0">
                <a:solidFill>
                  <a:schemeClr val="dk1"/>
                </a:solidFill>
              </a:rPr>
              <a:t> de </a:t>
            </a:r>
            <a:r>
              <a:rPr lang="en-US" sz="2100" dirty="0" err="1">
                <a:solidFill>
                  <a:schemeClr val="dk1"/>
                </a:solidFill>
              </a:rPr>
              <a:t>inventarios</a:t>
            </a:r>
            <a:r>
              <a:rPr lang="en-US" sz="2100" dirty="0">
                <a:solidFill>
                  <a:schemeClr val="dk1"/>
                </a:solidFill>
              </a:rPr>
              <a:t> </a:t>
            </a:r>
            <a:r>
              <a:rPr lang="en-US" sz="2100" dirty="0" err="1">
                <a:solidFill>
                  <a:schemeClr val="dk1"/>
                </a:solidFill>
              </a:rPr>
              <a:t>en</a:t>
            </a:r>
            <a:r>
              <a:rPr lang="en-US" sz="2100" dirty="0">
                <a:solidFill>
                  <a:schemeClr val="dk1"/>
                </a:solidFill>
              </a:rPr>
              <a:t> </a:t>
            </a:r>
            <a:r>
              <a:rPr lang="en-US" sz="2100" dirty="0" err="1">
                <a:solidFill>
                  <a:schemeClr val="dk1"/>
                </a:solidFill>
              </a:rPr>
              <a:t>tiempo</a:t>
            </a:r>
            <a:r>
              <a:rPr lang="en-US" sz="2100" dirty="0">
                <a:solidFill>
                  <a:schemeClr val="dk1"/>
                </a:solidFill>
              </a:rPr>
              <a:t> real.</a:t>
            </a:r>
            <a:endParaRPr sz="2100" dirty="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 dirty="0" err="1">
                <a:solidFill>
                  <a:schemeClr val="dk1"/>
                </a:solidFill>
              </a:rPr>
              <a:t>Capacitar</a:t>
            </a:r>
            <a:r>
              <a:rPr lang="en-US" sz="2100" dirty="0">
                <a:solidFill>
                  <a:schemeClr val="dk1"/>
                </a:solidFill>
              </a:rPr>
              <a:t> a 100 </a:t>
            </a:r>
            <a:r>
              <a:rPr lang="en-US" sz="2100" dirty="0" err="1">
                <a:solidFill>
                  <a:schemeClr val="dk1"/>
                </a:solidFill>
              </a:rPr>
              <a:t>empleados</a:t>
            </a:r>
            <a:r>
              <a:rPr lang="en-US" sz="2100" dirty="0">
                <a:solidFill>
                  <a:schemeClr val="dk1"/>
                </a:solidFill>
              </a:rPr>
              <a:t> </a:t>
            </a:r>
            <a:r>
              <a:rPr lang="en-US" sz="2100" dirty="0" err="1">
                <a:solidFill>
                  <a:schemeClr val="dk1"/>
                </a:solidFill>
              </a:rPr>
              <a:t>en</a:t>
            </a:r>
            <a:r>
              <a:rPr lang="en-US" sz="2100" dirty="0">
                <a:solidFill>
                  <a:schemeClr val="dk1"/>
                </a:solidFill>
              </a:rPr>
              <a:t> </a:t>
            </a:r>
            <a:r>
              <a:rPr lang="en-US" sz="2100" dirty="0" err="1">
                <a:solidFill>
                  <a:schemeClr val="dk1"/>
                </a:solidFill>
              </a:rPr>
              <a:t>el</a:t>
            </a:r>
            <a:r>
              <a:rPr lang="en-US" sz="2100" dirty="0">
                <a:solidFill>
                  <a:schemeClr val="dk1"/>
                </a:solidFill>
              </a:rPr>
              <a:t> </a:t>
            </a:r>
            <a:r>
              <a:rPr lang="en-US" sz="2100" dirty="0" err="1">
                <a:solidFill>
                  <a:schemeClr val="dk1"/>
                </a:solidFill>
              </a:rPr>
              <a:t>uso</a:t>
            </a:r>
            <a:r>
              <a:rPr lang="en-US" sz="2100" dirty="0">
                <a:solidFill>
                  <a:schemeClr val="dk1"/>
                </a:solidFill>
              </a:rPr>
              <a:t> de </a:t>
            </a:r>
            <a:r>
              <a:rPr lang="en-US" sz="2100" dirty="0" err="1">
                <a:solidFill>
                  <a:schemeClr val="dk1"/>
                </a:solidFill>
              </a:rPr>
              <a:t>herramientas</a:t>
            </a:r>
            <a:r>
              <a:rPr lang="en-US" sz="2100" dirty="0">
                <a:solidFill>
                  <a:schemeClr val="dk1"/>
                </a:solidFill>
              </a:rPr>
              <a:t> </a:t>
            </a:r>
            <a:r>
              <a:rPr lang="en-US" sz="2100" dirty="0" err="1">
                <a:solidFill>
                  <a:schemeClr val="dk1"/>
                </a:solidFill>
              </a:rPr>
              <a:t>digitales</a:t>
            </a:r>
            <a:r>
              <a:rPr lang="en-US" sz="2100" dirty="0">
                <a:solidFill>
                  <a:schemeClr val="dk1"/>
                </a:solidFill>
              </a:rPr>
              <a:t>.</a:t>
            </a:r>
            <a:endParaRPr sz="2100" dirty="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 b="1" dirty="0" err="1">
                <a:solidFill>
                  <a:schemeClr val="dk1"/>
                </a:solidFill>
              </a:rPr>
              <a:t>Indicadores</a:t>
            </a:r>
            <a:r>
              <a:rPr lang="en-US" sz="2100" dirty="0">
                <a:solidFill>
                  <a:schemeClr val="dk1"/>
                </a:solidFill>
              </a:rPr>
              <a:t>:</a:t>
            </a:r>
            <a:endParaRPr sz="2100" dirty="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 dirty="0" err="1">
                <a:solidFill>
                  <a:schemeClr val="dk1"/>
                </a:solidFill>
              </a:rPr>
              <a:t>Aumento</a:t>
            </a:r>
            <a:r>
              <a:rPr lang="en-US" sz="2100" dirty="0">
                <a:solidFill>
                  <a:schemeClr val="dk1"/>
                </a:solidFill>
              </a:rPr>
              <a:t> del 15% </a:t>
            </a:r>
            <a:r>
              <a:rPr lang="en-US" sz="2100" dirty="0" err="1">
                <a:solidFill>
                  <a:schemeClr val="dk1"/>
                </a:solidFill>
              </a:rPr>
              <a:t>en</a:t>
            </a:r>
            <a:r>
              <a:rPr lang="en-US" sz="2100" dirty="0">
                <a:solidFill>
                  <a:schemeClr val="dk1"/>
                </a:solidFill>
              </a:rPr>
              <a:t> la </a:t>
            </a:r>
            <a:r>
              <a:rPr lang="en-US" sz="2100" dirty="0" err="1">
                <a:solidFill>
                  <a:schemeClr val="dk1"/>
                </a:solidFill>
              </a:rPr>
              <a:t>satisfacción</a:t>
            </a:r>
            <a:r>
              <a:rPr lang="en-US" sz="2100" dirty="0">
                <a:solidFill>
                  <a:schemeClr val="dk1"/>
                </a:solidFill>
              </a:rPr>
              <a:t> del </a:t>
            </a:r>
            <a:r>
              <a:rPr lang="en-US" sz="2100" dirty="0" err="1">
                <a:solidFill>
                  <a:schemeClr val="dk1"/>
                </a:solidFill>
              </a:rPr>
              <a:t>cliente</a:t>
            </a:r>
            <a:r>
              <a:rPr lang="en-US" sz="2100" dirty="0">
                <a:solidFill>
                  <a:schemeClr val="dk1"/>
                </a:solidFill>
              </a:rPr>
              <a:t> </a:t>
            </a:r>
            <a:r>
              <a:rPr lang="en-US" sz="2100" dirty="0" err="1">
                <a:solidFill>
                  <a:schemeClr val="dk1"/>
                </a:solidFill>
              </a:rPr>
              <a:t>en</a:t>
            </a:r>
            <a:r>
              <a:rPr lang="en-US" sz="2100" dirty="0">
                <a:solidFill>
                  <a:schemeClr val="dk1"/>
                </a:solidFill>
              </a:rPr>
              <a:t> seis meses.</a:t>
            </a:r>
            <a:endParaRPr sz="2100" dirty="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 b="1" dirty="0" err="1">
                <a:solidFill>
                  <a:schemeClr val="dk1"/>
                </a:solidFill>
              </a:rPr>
              <a:t>Objetivos</a:t>
            </a:r>
            <a:r>
              <a:rPr lang="en-US" sz="2100" b="1" dirty="0">
                <a:solidFill>
                  <a:schemeClr val="dk1"/>
                </a:solidFill>
              </a:rPr>
              <a:t> a Medio </a:t>
            </a:r>
            <a:r>
              <a:rPr lang="en-US" sz="2100" b="1" dirty="0" err="1">
                <a:solidFill>
                  <a:schemeClr val="dk1"/>
                </a:solidFill>
              </a:rPr>
              <a:t>Plazo</a:t>
            </a:r>
            <a:r>
              <a:rPr lang="en-US" sz="2100" dirty="0">
                <a:solidFill>
                  <a:schemeClr val="dk1"/>
                </a:solidFill>
              </a:rPr>
              <a:t>:</a:t>
            </a:r>
            <a:endParaRPr sz="2100" dirty="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 dirty="0">
                <a:solidFill>
                  <a:schemeClr val="dk1"/>
                </a:solidFill>
              </a:rPr>
              <a:t>Crear </a:t>
            </a:r>
            <a:r>
              <a:rPr lang="en-US" sz="2100" dirty="0" err="1">
                <a:solidFill>
                  <a:schemeClr val="dk1"/>
                </a:solidFill>
              </a:rPr>
              <a:t>una</a:t>
            </a:r>
            <a:r>
              <a:rPr lang="en-US" sz="2100" dirty="0">
                <a:solidFill>
                  <a:schemeClr val="dk1"/>
                </a:solidFill>
              </a:rPr>
              <a:t> </a:t>
            </a:r>
            <a:r>
              <a:rPr lang="en-US" sz="2100" dirty="0" err="1">
                <a:solidFill>
                  <a:schemeClr val="dk1"/>
                </a:solidFill>
              </a:rPr>
              <a:t>plataforma</a:t>
            </a:r>
            <a:r>
              <a:rPr lang="en-US" sz="2100" dirty="0">
                <a:solidFill>
                  <a:schemeClr val="dk1"/>
                </a:solidFill>
              </a:rPr>
              <a:t> de </a:t>
            </a:r>
            <a:r>
              <a:rPr lang="en-US" sz="2100" dirty="0" err="1">
                <a:solidFill>
                  <a:schemeClr val="dk1"/>
                </a:solidFill>
              </a:rPr>
              <a:t>comercio</a:t>
            </a:r>
            <a:r>
              <a:rPr lang="en-US" sz="2100" dirty="0">
                <a:solidFill>
                  <a:schemeClr val="dk1"/>
                </a:solidFill>
              </a:rPr>
              <a:t> </a:t>
            </a:r>
            <a:r>
              <a:rPr lang="en-US" sz="2100" dirty="0" err="1">
                <a:solidFill>
                  <a:schemeClr val="dk1"/>
                </a:solidFill>
              </a:rPr>
              <a:t>electrónico</a:t>
            </a:r>
            <a:r>
              <a:rPr lang="en-US" sz="2100" dirty="0">
                <a:solidFill>
                  <a:schemeClr val="dk1"/>
                </a:solidFill>
              </a:rPr>
              <a:t>.</a:t>
            </a:r>
            <a:endParaRPr sz="2100" dirty="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 dirty="0" err="1">
                <a:solidFill>
                  <a:schemeClr val="dk1"/>
                </a:solidFill>
              </a:rPr>
              <a:t>Implementar</a:t>
            </a:r>
            <a:r>
              <a:rPr lang="en-US" sz="2100" dirty="0">
                <a:solidFill>
                  <a:schemeClr val="dk1"/>
                </a:solidFill>
              </a:rPr>
              <a:t> marketing </a:t>
            </a:r>
            <a:r>
              <a:rPr lang="en-US" sz="2100" dirty="0" err="1">
                <a:solidFill>
                  <a:schemeClr val="dk1"/>
                </a:solidFill>
              </a:rPr>
              <a:t>automatizado</a:t>
            </a:r>
            <a:r>
              <a:rPr lang="en-US" sz="2100" dirty="0">
                <a:solidFill>
                  <a:schemeClr val="dk1"/>
                </a:solidFill>
              </a:rPr>
              <a:t>.</a:t>
            </a:r>
            <a:endParaRPr sz="2100" dirty="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 dirty="0" err="1">
                <a:solidFill>
                  <a:schemeClr val="dk1"/>
                </a:solidFill>
              </a:rPr>
              <a:t>Lanzar</a:t>
            </a:r>
            <a:r>
              <a:rPr lang="en-US" sz="2100" dirty="0">
                <a:solidFill>
                  <a:schemeClr val="dk1"/>
                </a:solidFill>
              </a:rPr>
              <a:t> </a:t>
            </a:r>
            <a:r>
              <a:rPr lang="en-US" sz="2100" dirty="0" err="1">
                <a:solidFill>
                  <a:schemeClr val="dk1"/>
                </a:solidFill>
              </a:rPr>
              <a:t>una</a:t>
            </a:r>
            <a:r>
              <a:rPr lang="en-US" sz="2100" dirty="0">
                <a:solidFill>
                  <a:schemeClr val="dk1"/>
                </a:solidFill>
              </a:rPr>
              <a:t> </a:t>
            </a:r>
            <a:r>
              <a:rPr lang="en-US" sz="2100" dirty="0" err="1">
                <a:solidFill>
                  <a:schemeClr val="dk1"/>
                </a:solidFill>
              </a:rPr>
              <a:t>aplicación</a:t>
            </a:r>
            <a:r>
              <a:rPr lang="en-US" sz="2100" dirty="0">
                <a:solidFill>
                  <a:schemeClr val="dk1"/>
                </a:solidFill>
              </a:rPr>
              <a:t> </a:t>
            </a:r>
            <a:r>
              <a:rPr lang="en-US" sz="2100" dirty="0" err="1">
                <a:solidFill>
                  <a:schemeClr val="dk1"/>
                </a:solidFill>
              </a:rPr>
              <a:t>móvil</a:t>
            </a:r>
            <a:r>
              <a:rPr lang="en-US" sz="2100" dirty="0">
                <a:solidFill>
                  <a:schemeClr val="dk1"/>
                </a:solidFill>
              </a:rPr>
              <a:t> para </a:t>
            </a:r>
            <a:r>
              <a:rPr lang="en-US" sz="2100" dirty="0" err="1">
                <a:solidFill>
                  <a:schemeClr val="dk1"/>
                </a:solidFill>
              </a:rPr>
              <a:t>mejorar</a:t>
            </a:r>
            <a:r>
              <a:rPr lang="en-US" sz="2100" dirty="0">
                <a:solidFill>
                  <a:schemeClr val="dk1"/>
                </a:solidFill>
              </a:rPr>
              <a:t> la </a:t>
            </a:r>
            <a:r>
              <a:rPr lang="en-US" sz="2100" dirty="0" err="1">
                <a:solidFill>
                  <a:schemeClr val="dk1"/>
                </a:solidFill>
              </a:rPr>
              <a:t>interacción</a:t>
            </a:r>
            <a:r>
              <a:rPr lang="en-US" sz="2100" dirty="0">
                <a:solidFill>
                  <a:schemeClr val="dk1"/>
                </a:solidFill>
              </a:rPr>
              <a:t> con </a:t>
            </a:r>
            <a:r>
              <a:rPr lang="en-US" sz="2100" dirty="0" err="1">
                <a:solidFill>
                  <a:schemeClr val="dk1"/>
                </a:solidFill>
              </a:rPr>
              <a:t>los</a:t>
            </a:r>
            <a:r>
              <a:rPr lang="en-US" sz="2100" dirty="0">
                <a:solidFill>
                  <a:schemeClr val="dk1"/>
                </a:solidFill>
              </a:rPr>
              <a:t> </a:t>
            </a:r>
            <a:r>
              <a:rPr lang="en-US" sz="2100" dirty="0" err="1">
                <a:solidFill>
                  <a:schemeClr val="dk1"/>
                </a:solidFill>
              </a:rPr>
              <a:t>clientes</a:t>
            </a:r>
            <a:r>
              <a:rPr lang="en-US" sz="2100" dirty="0">
                <a:solidFill>
                  <a:schemeClr val="dk1"/>
                </a:solidFill>
              </a:rPr>
              <a:t>.</a:t>
            </a:r>
            <a:endParaRPr sz="2100" dirty="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 b="1" dirty="0" err="1">
                <a:solidFill>
                  <a:schemeClr val="dk1"/>
                </a:solidFill>
              </a:rPr>
              <a:t>Indicadores</a:t>
            </a:r>
            <a:r>
              <a:rPr lang="en-US" sz="2100" dirty="0">
                <a:solidFill>
                  <a:schemeClr val="dk1"/>
                </a:solidFill>
              </a:rPr>
              <a:t>:</a:t>
            </a:r>
            <a:endParaRPr sz="2100" dirty="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 dirty="0" err="1">
                <a:solidFill>
                  <a:schemeClr val="dk1"/>
                </a:solidFill>
              </a:rPr>
              <a:t>Incremento</a:t>
            </a:r>
            <a:r>
              <a:rPr lang="en-US" sz="2100" dirty="0">
                <a:solidFill>
                  <a:schemeClr val="dk1"/>
                </a:solidFill>
              </a:rPr>
              <a:t> del 20% </a:t>
            </a:r>
            <a:r>
              <a:rPr lang="en-US" sz="2100" dirty="0" err="1">
                <a:solidFill>
                  <a:schemeClr val="dk1"/>
                </a:solidFill>
              </a:rPr>
              <a:t>en</a:t>
            </a:r>
            <a:r>
              <a:rPr lang="en-US" sz="2100" dirty="0">
                <a:solidFill>
                  <a:schemeClr val="dk1"/>
                </a:solidFill>
              </a:rPr>
              <a:t> las </a:t>
            </a:r>
            <a:r>
              <a:rPr lang="en-US" sz="2100" dirty="0" err="1">
                <a:solidFill>
                  <a:schemeClr val="dk1"/>
                </a:solidFill>
              </a:rPr>
              <a:t>ventas</a:t>
            </a:r>
            <a:r>
              <a:rPr lang="en-US" sz="2100" dirty="0">
                <a:solidFill>
                  <a:schemeClr val="dk1"/>
                </a:solidFill>
              </a:rPr>
              <a:t> </a:t>
            </a:r>
            <a:r>
              <a:rPr lang="en-US" sz="2100" dirty="0" err="1">
                <a:solidFill>
                  <a:schemeClr val="dk1"/>
                </a:solidFill>
              </a:rPr>
              <a:t>en</a:t>
            </a:r>
            <a:r>
              <a:rPr lang="en-US" sz="2100" dirty="0">
                <a:solidFill>
                  <a:schemeClr val="dk1"/>
                </a:solidFill>
              </a:rPr>
              <a:t> </a:t>
            </a:r>
            <a:r>
              <a:rPr lang="en-US" sz="2100" dirty="0" err="1">
                <a:solidFill>
                  <a:schemeClr val="dk1"/>
                </a:solidFill>
              </a:rPr>
              <a:t>línea</a:t>
            </a:r>
            <a:r>
              <a:rPr lang="en-US" sz="2100" dirty="0">
                <a:solidFill>
                  <a:schemeClr val="dk1"/>
                </a:solidFill>
              </a:rPr>
              <a:t> </a:t>
            </a:r>
            <a:r>
              <a:rPr lang="en-US" sz="2100" dirty="0" err="1">
                <a:solidFill>
                  <a:schemeClr val="dk1"/>
                </a:solidFill>
              </a:rPr>
              <a:t>en</a:t>
            </a:r>
            <a:r>
              <a:rPr lang="en-US" sz="2100" dirty="0">
                <a:solidFill>
                  <a:schemeClr val="dk1"/>
                </a:solidFill>
              </a:rPr>
              <a:t> un </a:t>
            </a:r>
            <a:r>
              <a:rPr lang="en-US" sz="2100" dirty="0" err="1">
                <a:solidFill>
                  <a:schemeClr val="dk1"/>
                </a:solidFill>
              </a:rPr>
              <a:t>año</a:t>
            </a:r>
            <a:r>
              <a:rPr lang="en-US" sz="2100" dirty="0">
                <a:solidFill>
                  <a:schemeClr val="dk1"/>
                </a:solidFill>
              </a:rPr>
              <a:t>.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54A3943-6193-4074-F916-20EF63E86D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800627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18287999" cy="1000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algn="l"/>
            <a:r>
              <a:rPr lang="es" dirty="0">
                <a:solidFill>
                  <a:schemeClr val="bg1"/>
                </a:solidFill>
              </a:rPr>
              <a:t>Formación necesaria del equipo</a:t>
            </a:r>
            <a:endParaRPr dirty="0">
              <a:solidFill>
                <a:schemeClr val="bg1"/>
              </a:solidFill>
            </a:endParaRPr>
          </a:p>
        </p:txBody>
      </p:sp>
      <p:graphicFrame>
        <p:nvGraphicFramePr>
          <p:cNvPr id="138" name="Google Shape;138;p25"/>
          <p:cNvGraphicFramePr/>
          <p:nvPr/>
        </p:nvGraphicFramePr>
        <p:xfrm>
          <a:off x="68927" y="1261340"/>
          <a:ext cx="18150150" cy="87449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05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24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2800" b="1" u="none" strike="noStrike" cap="none">
                          <a:solidFill>
                            <a:srgbClr val="FFFFFF"/>
                          </a:solidFill>
                        </a:rPr>
                        <a:t>Curso/Programa</a:t>
                      </a:r>
                      <a:endParaRPr sz="28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182850" marR="182850" marT="182850" marB="182850"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2800" b="1" u="none" strike="noStrike" cap="none">
                          <a:solidFill>
                            <a:schemeClr val="lt1"/>
                          </a:solidFill>
                        </a:rPr>
                        <a:t>Departamento / Personas</a:t>
                      </a:r>
                      <a:endParaRPr sz="2000" u="none" strike="noStrike" cap="none"/>
                    </a:p>
                  </a:txBody>
                  <a:tcPr marL="182850" marR="182850" marT="182850" marB="182850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2800" b="1" u="none" strike="noStrike" cap="none">
                          <a:solidFill>
                            <a:schemeClr val="lt1"/>
                          </a:solidFill>
                        </a:rPr>
                        <a:t>Duración</a:t>
                      </a:r>
                      <a:endParaRPr sz="2000" u="none" strike="noStrike" cap="none"/>
                    </a:p>
                  </a:txBody>
                  <a:tcPr marL="182850" marR="182850" marT="182850" marB="182850">
                    <a:solidFill>
                      <a:srgbClr val="66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0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4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4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24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24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924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924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73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1600" b="1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5" name="Google Shape;1335;g30689113c39_0_1750"/>
          <p:cNvGrpSpPr/>
          <p:nvPr/>
        </p:nvGrpSpPr>
        <p:grpSpPr>
          <a:xfrm>
            <a:off x="1356728" y="8545495"/>
            <a:ext cx="15574467" cy="1502997"/>
            <a:chOff x="0" y="-47625"/>
            <a:chExt cx="2269338" cy="219000"/>
          </a:xfrm>
        </p:grpSpPr>
        <p:sp>
          <p:nvSpPr>
            <p:cNvPr id="1336" name="Google Shape;1336;g30689113c39_0_1750"/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37" name="Google Shape;1337;g30689113c39_0_1750"/>
            <p:cNvSpPr txBox="1"/>
            <p:nvPr/>
          </p:nvSpPr>
          <p:spPr>
            <a:xfrm>
              <a:off x="0" y="-47625"/>
              <a:ext cx="22692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3" name="Google Shape;1343;g30689113c39_0_1750"/>
          <p:cNvSpPr/>
          <p:nvPr/>
        </p:nvSpPr>
        <p:spPr>
          <a:xfrm rot="-10455654">
            <a:off x="10969606" y="-2937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44" name="Google Shape;1344;g30689113c39_0_1750"/>
          <p:cNvSpPr txBox="1"/>
          <p:nvPr/>
        </p:nvSpPr>
        <p:spPr>
          <a:xfrm>
            <a:off x="3219000" y="713075"/>
            <a:ext cx="101454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F46524"/>
                </a:solidFill>
                <a:latin typeface="Raleway"/>
                <a:ea typeface="Raleway"/>
                <a:cs typeface="Raleway"/>
                <a:sym typeface="Raleway"/>
              </a:rPr>
              <a:t>Ejemplo de un Plan de Transformación Digital: Empresa de Retail (2)</a:t>
            </a:r>
            <a:endParaRPr sz="2700" b="1">
              <a:solidFill>
                <a:srgbClr val="F4652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45" name="Google Shape;1345;g30689113c39_0_1750"/>
          <p:cNvSpPr txBox="1"/>
          <p:nvPr/>
        </p:nvSpPr>
        <p:spPr>
          <a:xfrm>
            <a:off x="3025875" y="1661025"/>
            <a:ext cx="127650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 b="1" dirty="0" err="1">
                <a:solidFill>
                  <a:schemeClr val="dk1"/>
                </a:solidFill>
              </a:rPr>
              <a:t>Elaboración</a:t>
            </a:r>
            <a:r>
              <a:rPr lang="en-US" sz="2100" b="1" dirty="0">
                <a:solidFill>
                  <a:schemeClr val="dk1"/>
                </a:solidFill>
              </a:rPr>
              <a:t> del Plan de </a:t>
            </a:r>
            <a:r>
              <a:rPr lang="en-US" sz="2100" b="1" dirty="0" err="1">
                <a:solidFill>
                  <a:schemeClr val="dk1"/>
                </a:solidFill>
              </a:rPr>
              <a:t>Acción</a:t>
            </a:r>
            <a:r>
              <a:rPr lang="en-US" sz="2100" dirty="0">
                <a:solidFill>
                  <a:schemeClr val="dk1"/>
                </a:solidFill>
              </a:rPr>
              <a:t>:</a:t>
            </a:r>
            <a:endParaRPr sz="2100" dirty="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 dirty="0" err="1">
                <a:solidFill>
                  <a:schemeClr val="dk1"/>
                </a:solidFill>
              </a:rPr>
              <a:t>Iniciativa</a:t>
            </a:r>
            <a:r>
              <a:rPr lang="en-US" sz="2100" b="1" dirty="0">
                <a:solidFill>
                  <a:schemeClr val="dk1"/>
                </a:solidFill>
              </a:rPr>
              <a:t> 1</a:t>
            </a:r>
            <a:r>
              <a:rPr lang="en-US" sz="2100" dirty="0">
                <a:solidFill>
                  <a:schemeClr val="dk1"/>
                </a:solidFill>
              </a:rPr>
              <a:t>: Desarrollo de la </a:t>
            </a:r>
            <a:r>
              <a:rPr lang="en-US" sz="2100" dirty="0" err="1">
                <a:solidFill>
                  <a:schemeClr val="dk1"/>
                </a:solidFill>
              </a:rPr>
              <a:t>plataforma</a:t>
            </a:r>
            <a:r>
              <a:rPr lang="en-US" sz="2100" dirty="0">
                <a:solidFill>
                  <a:schemeClr val="dk1"/>
                </a:solidFill>
              </a:rPr>
              <a:t> de </a:t>
            </a:r>
            <a:r>
              <a:rPr lang="en-US" sz="2100" dirty="0" err="1">
                <a:solidFill>
                  <a:schemeClr val="dk1"/>
                </a:solidFill>
              </a:rPr>
              <a:t>comercio</a:t>
            </a:r>
            <a:r>
              <a:rPr lang="en-US" sz="2100" dirty="0">
                <a:solidFill>
                  <a:schemeClr val="dk1"/>
                </a:solidFill>
              </a:rPr>
              <a:t> </a:t>
            </a:r>
            <a:r>
              <a:rPr lang="en-US" sz="2100" dirty="0" err="1">
                <a:solidFill>
                  <a:schemeClr val="dk1"/>
                </a:solidFill>
              </a:rPr>
              <a:t>electrónico</a:t>
            </a:r>
            <a:r>
              <a:rPr lang="en-US" sz="2100" dirty="0">
                <a:solidFill>
                  <a:schemeClr val="dk1"/>
                </a:solidFill>
              </a:rPr>
              <a:t>.</a:t>
            </a:r>
            <a:endParaRPr sz="2100" dirty="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 dirty="0" err="1">
                <a:solidFill>
                  <a:schemeClr val="dk1"/>
                </a:solidFill>
              </a:rPr>
              <a:t>Tareas</a:t>
            </a:r>
            <a:r>
              <a:rPr lang="en-US" sz="2100" dirty="0">
                <a:solidFill>
                  <a:schemeClr val="dk1"/>
                </a:solidFill>
              </a:rPr>
              <a:t>: </a:t>
            </a:r>
            <a:r>
              <a:rPr lang="en-US" sz="2100" dirty="0" err="1">
                <a:solidFill>
                  <a:schemeClr val="dk1"/>
                </a:solidFill>
              </a:rPr>
              <a:t>Selección</a:t>
            </a:r>
            <a:r>
              <a:rPr lang="en-US" sz="2100" dirty="0">
                <a:solidFill>
                  <a:schemeClr val="dk1"/>
                </a:solidFill>
              </a:rPr>
              <a:t> de un </a:t>
            </a:r>
            <a:r>
              <a:rPr lang="en-US" sz="2100" dirty="0" err="1">
                <a:solidFill>
                  <a:schemeClr val="dk1"/>
                </a:solidFill>
              </a:rPr>
              <a:t>proveedor</a:t>
            </a:r>
            <a:r>
              <a:rPr lang="en-US" sz="2100" dirty="0">
                <a:solidFill>
                  <a:schemeClr val="dk1"/>
                </a:solidFill>
              </a:rPr>
              <a:t>, </a:t>
            </a:r>
            <a:r>
              <a:rPr lang="en-US" sz="2100" dirty="0" err="1">
                <a:solidFill>
                  <a:schemeClr val="dk1"/>
                </a:solidFill>
              </a:rPr>
              <a:t>desarrollo</a:t>
            </a:r>
            <a:r>
              <a:rPr lang="en-US" sz="2100" dirty="0">
                <a:solidFill>
                  <a:schemeClr val="dk1"/>
                </a:solidFill>
              </a:rPr>
              <a:t> de la web, </a:t>
            </a:r>
            <a:r>
              <a:rPr lang="en-US" sz="2100" dirty="0" err="1">
                <a:solidFill>
                  <a:schemeClr val="dk1"/>
                </a:solidFill>
              </a:rPr>
              <a:t>pruebas</a:t>
            </a:r>
            <a:r>
              <a:rPr lang="en-US" sz="2100" dirty="0">
                <a:solidFill>
                  <a:schemeClr val="dk1"/>
                </a:solidFill>
              </a:rPr>
              <a:t>.</a:t>
            </a:r>
            <a:endParaRPr sz="2100" dirty="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 dirty="0" err="1">
                <a:solidFill>
                  <a:schemeClr val="dk1"/>
                </a:solidFill>
              </a:rPr>
              <a:t>Plazo</a:t>
            </a:r>
            <a:r>
              <a:rPr lang="en-US" sz="2100" dirty="0">
                <a:solidFill>
                  <a:schemeClr val="dk1"/>
                </a:solidFill>
              </a:rPr>
              <a:t>: 6 meses.</a:t>
            </a:r>
            <a:endParaRPr sz="2100" dirty="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 dirty="0" err="1">
                <a:solidFill>
                  <a:schemeClr val="dk1"/>
                </a:solidFill>
              </a:rPr>
              <a:t>Presupuesto</a:t>
            </a:r>
            <a:r>
              <a:rPr lang="en-US" sz="2100" dirty="0">
                <a:solidFill>
                  <a:schemeClr val="dk1"/>
                </a:solidFill>
              </a:rPr>
              <a:t>: $100,000.</a:t>
            </a:r>
            <a:endParaRPr sz="2100" dirty="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 dirty="0" err="1">
                <a:solidFill>
                  <a:schemeClr val="dk1"/>
                </a:solidFill>
              </a:rPr>
              <a:t>Iniciativa</a:t>
            </a:r>
            <a:r>
              <a:rPr lang="en-US" sz="2100" b="1" dirty="0">
                <a:solidFill>
                  <a:schemeClr val="dk1"/>
                </a:solidFill>
              </a:rPr>
              <a:t> 2</a:t>
            </a:r>
            <a:r>
              <a:rPr lang="en-US" sz="2100" dirty="0">
                <a:solidFill>
                  <a:schemeClr val="dk1"/>
                </a:solidFill>
              </a:rPr>
              <a:t>: </a:t>
            </a:r>
            <a:r>
              <a:rPr lang="en-US" sz="2100" dirty="0" err="1">
                <a:solidFill>
                  <a:schemeClr val="dk1"/>
                </a:solidFill>
              </a:rPr>
              <a:t>Implementación</a:t>
            </a:r>
            <a:r>
              <a:rPr lang="en-US" sz="2100" dirty="0">
                <a:solidFill>
                  <a:schemeClr val="dk1"/>
                </a:solidFill>
              </a:rPr>
              <a:t> de marketing </a:t>
            </a:r>
            <a:r>
              <a:rPr lang="en-US" sz="2100" dirty="0" err="1">
                <a:solidFill>
                  <a:schemeClr val="dk1"/>
                </a:solidFill>
              </a:rPr>
              <a:t>automatizado</a:t>
            </a:r>
            <a:r>
              <a:rPr lang="en-US" sz="2100" dirty="0">
                <a:solidFill>
                  <a:schemeClr val="dk1"/>
                </a:solidFill>
              </a:rPr>
              <a:t>.</a:t>
            </a:r>
            <a:endParaRPr sz="2100" dirty="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 dirty="0" err="1">
                <a:solidFill>
                  <a:schemeClr val="dk1"/>
                </a:solidFill>
              </a:rPr>
              <a:t>Tareas</a:t>
            </a:r>
            <a:r>
              <a:rPr lang="en-US" sz="2100" dirty="0">
                <a:solidFill>
                  <a:schemeClr val="dk1"/>
                </a:solidFill>
              </a:rPr>
              <a:t>: </a:t>
            </a:r>
            <a:r>
              <a:rPr lang="en-US" sz="2100" dirty="0" err="1">
                <a:solidFill>
                  <a:schemeClr val="dk1"/>
                </a:solidFill>
              </a:rPr>
              <a:t>Selección</a:t>
            </a:r>
            <a:r>
              <a:rPr lang="en-US" sz="2100" dirty="0">
                <a:solidFill>
                  <a:schemeClr val="dk1"/>
                </a:solidFill>
              </a:rPr>
              <a:t> de software, </a:t>
            </a:r>
            <a:r>
              <a:rPr lang="en-US" sz="2100" dirty="0" err="1">
                <a:solidFill>
                  <a:schemeClr val="dk1"/>
                </a:solidFill>
              </a:rPr>
              <a:t>integración</a:t>
            </a:r>
            <a:r>
              <a:rPr lang="en-US" sz="2100" dirty="0">
                <a:solidFill>
                  <a:schemeClr val="dk1"/>
                </a:solidFill>
              </a:rPr>
              <a:t> con CRM.</a:t>
            </a:r>
            <a:endParaRPr sz="2100" dirty="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 dirty="0" err="1">
                <a:solidFill>
                  <a:schemeClr val="dk1"/>
                </a:solidFill>
              </a:rPr>
              <a:t>Plazo</a:t>
            </a:r>
            <a:r>
              <a:rPr lang="en-US" sz="2100" dirty="0">
                <a:solidFill>
                  <a:schemeClr val="dk1"/>
                </a:solidFill>
              </a:rPr>
              <a:t>: 3 meses.</a:t>
            </a:r>
            <a:endParaRPr sz="2100" dirty="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 dirty="0" err="1">
                <a:solidFill>
                  <a:schemeClr val="dk1"/>
                </a:solidFill>
              </a:rPr>
              <a:t>Presupuesto</a:t>
            </a:r>
            <a:r>
              <a:rPr lang="en-US" sz="2100" dirty="0">
                <a:solidFill>
                  <a:schemeClr val="dk1"/>
                </a:solidFill>
              </a:rPr>
              <a:t>: $20,000.</a:t>
            </a:r>
            <a:endParaRPr sz="2100" dirty="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 dirty="0" err="1">
                <a:solidFill>
                  <a:schemeClr val="dk1"/>
                </a:solidFill>
              </a:rPr>
              <a:t>Iniciativa</a:t>
            </a:r>
            <a:r>
              <a:rPr lang="en-US" sz="2100" b="1" dirty="0">
                <a:solidFill>
                  <a:schemeClr val="dk1"/>
                </a:solidFill>
              </a:rPr>
              <a:t> 3</a:t>
            </a:r>
            <a:r>
              <a:rPr lang="en-US" sz="2100" dirty="0">
                <a:solidFill>
                  <a:schemeClr val="dk1"/>
                </a:solidFill>
              </a:rPr>
              <a:t>: </a:t>
            </a:r>
            <a:r>
              <a:rPr lang="en-US" sz="2100" dirty="0" err="1">
                <a:solidFill>
                  <a:schemeClr val="dk1"/>
                </a:solidFill>
              </a:rPr>
              <a:t>Creación</a:t>
            </a:r>
            <a:r>
              <a:rPr lang="en-US" sz="2100" dirty="0">
                <a:solidFill>
                  <a:schemeClr val="dk1"/>
                </a:solidFill>
              </a:rPr>
              <a:t> de la </a:t>
            </a:r>
            <a:r>
              <a:rPr lang="en-US" sz="2100" dirty="0" err="1">
                <a:solidFill>
                  <a:schemeClr val="dk1"/>
                </a:solidFill>
              </a:rPr>
              <a:t>aplicación</a:t>
            </a:r>
            <a:r>
              <a:rPr lang="en-US" sz="2100" dirty="0">
                <a:solidFill>
                  <a:schemeClr val="dk1"/>
                </a:solidFill>
              </a:rPr>
              <a:t> </a:t>
            </a:r>
            <a:r>
              <a:rPr lang="en-US" sz="2100" dirty="0" err="1">
                <a:solidFill>
                  <a:schemeClr val="dk1"/>
                </a:solidFill>
              </a:rPr>
              <a:t>móvil</a:t>
            </a:r>
            <a:r>
              <a:rPr lang="en-US" sz="2100" dirty="0">
                <a:solidFill>
                  <a:schemeClr val="dk1"/>
                </a:solidFill>
              </a:rPr>
              <a:t>.</a:t>
            </a:r>
            <a:endParaRPr sz="2100" dirty="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 dirty="0" err="1">
                <a:solidFill>
                  <a:schemeClr val="dk1"/>
                </a:solidFill>
              </a:rPr>
              <a:t>Tareas</a:t>
            </a:r>
            <a:r>
              <a:rPr lang="en-US" sz="2100" dirty="0">
                <a:solidFill>
                  <a:schemeClr val="dk1"/>
                </a:solidFill>
              </a:rPr>
              <a:t>: </a:t>
            </a:r>
            <a:r>
              <a:rPr lang="en-US" sz="2100" dirty="0" err="1">
                <a:solidFill>
                  <a:schemeClr val="dk1"/>
                </a:solidFill>
              </a:rPr>
              <a:t>Diseño</a:t>
            </a:r>
            <a:r>
              <a:rPr lang="en-US" sz="2100" dirty="0">
                <a:solidFill>
                  <a:schemeClr val="dk1"/>
                </a:solidFill>
              </a:rPr>
              <a:t>, </a:t>
            </a:r>
            <a:r>
              <a:rPr lang="en-US" sz="2100" dirty="0" err="1">
                <a:solidFill>
                  <a:schemeClr val="dk1"/>
                </a:solidFill>
              </a:rPr>
              <a:t>desarrollo</a:t>
            </a:r>
            <a:r>
              <a:rPr lang="en-US" sz="2100" dirty="0">
                <a:solidFill>
                  <a:schemeClr val="dk1"/>
                </a:solidFill>
              </a:rPr>
              <a:t>, </a:t>
            </a:r>
            <a:r>
              <a:rPr lang="en-US" sz="2100" dirty="0" err="1">
                <a:solidFill>
                  <a:schemeClr val="dk1"/>
                </a:solidFill>
              </a:rPr>
              <a:t>lanzamiento</a:t>
            </a:r>
            <a:r>
              <a:rPr lang="en-US" sz="2100" dirty="0">
                <a:solidFill>
                  <a:schemeClr val="dk1"/>
                </a:solidFill>
              </a:rPr>
              <a:t>.</a:t>
            </a:r>
            <a:endParaRPr sz="2100" dirty="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 dirty="0" err="1">
                <a:solidFill>
                  <a:schemeClr val="dk1"/>
                </a:solidFill>
              </a:rPr>
              <a:t>Plazo</a:t>
            </a:r>
            <a:r>
              <a:rPr lang="en-US" sz="2100" dirty="0">
                <a:solidFill>
                  <a:schemeClr val="dk1"/>
                </a:solidFill>
              </a:rPr>
              <a:t>: 9 meses.</a:t>
            </a:r>
            <a:endParaRPr sz="2100" dirty="0">
              <a:solidFill>
                <a:schemeClr val="dk1"/>
              </a:solidFill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 dirty="0" err="1">
                <a:solidFill>
                  <a:schemeClr val="dk1"/>
                </a:solidFill>
              </a:rPr>
              <a:t>Presupuesto</a:t>
            </a:r>
            <a:r>
              <a:rPr lang="en-US" sz="2100" dirty="0">
                <a:solidFill>
                  <a:schemeClr val="dk1"/>
                </a:solidFill>
              </a:rPr>
              <a:t>: $80,000.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chemeClr val="dk1"/>
                </a:solidFill>
              </a:rPr>
              <a:t>Constitución del Equipo </a:t>
            </a:r>
            <a:r>
              <a:rPr lang="en-US" sz="2100" b="1" dirty="0" err="1">
                <a:solidFill>
                  <a:schemeClr val="dk1"/>
                </a:solidFill>
              </a:rPr>
              <a:t>Líder</a:t>
            </a:r>
            <a:r>
              <a:rPr lang="en-US" sz="2100" b="1" dirty="0">
                <a:solidFill>
                  <a:schemeClr val="dk1"/>
                </a:solidFill>
              </a:rPr>
              <a:t> del Cambio</a:t>
            </a:r>
            <a:r>
              <a:rPr lang="en-US" sz="2100" dirty="0">
                <a:solidFill>
                  <a:schemeClr val="dk1"/>
                </a:solidFill>
              </a:rPr>
              <a:t>:</a:t>
            </a:r>
            <a:endParaRPr sz="2100" dirty="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dirty="0">
                <a:solidFill>
                  <a:schemeClr val="dk1"/>
                </a:solidFill>
              </a:rPr>
              <a:t>Director de TI, </a:t>
            </a:r>
            <a:r>
              <a:rPr lang="en-US" sz="2100" dirty="0" err="1">
                <a:solidFill>
                  <a:schemeClr val="dk1"/>
                </a:solidFill>
              </a:rPr>
              <a:t>el</a:t>
            </a:r>
            <a:r>
              <a:rPr lang="en-US" sz="2100" dirty="0">
                <a:solidFill>
                  <a:schemeClr val="dk1"/>
                </a:solidFill>
              </a:rPr>
              <a:t> director de marketing, </a:t>
            </a:r>
            <a:r>
              <a:rPr lang="en-US" sz="2100" dirty="0" err="1">
                <a:solidFill>
                  <a:schemeClr val="dk1"/>
                </a:solidFill>
              </a:rPr>
              <a:t>recursos</a:t>
            </a:r>
            <a:r>
              <a:rPr lang="en-US" sz="2100" dirty="0">
                <a:solidFill>
                  <a:schemeClr val="dk1"/>
                </a:solidFill>
              </a:rPr>
              <a:t> </a:t>
            </a:r>
            <a:r>
              <a:rPr lang="en-US" sz="2100" dirty="0" err="1">
                <a:solidFill>
                  <a:schemeClr val="dk1"/>
                </a:solidFill>
              </a:rPr>
              <a:t>humanos</a:t>
            </a:r>
            <a:r>
              <a:rPr lang="en-US" sz="2100" dirty="0">
                <a:solidFill>
                  <a:schemeClr val="dk1"/>
                </a:solidFill>
              </a:rPr>
              <a:t> y un consultor </a:t>
            </a:r>
            <a:r>
              <a:rPr lang="en-US" sz="2100" dirty="0" err="1">
                <a:solidFill>
                  <a:schemeClr val="dk1"/>
                </a:solidFill>
              </a:rPr>
              <a:t>en</a:t>
            </a:r>
            <a:r>
              <a:rPr lang="en-US" sz="2100" dirty="0">
                <a:solidFill>
                  <a:schemeClr val="dk1"/>
                </a:solidFill>
              </a:rPr>
              <a:t> </a:t>
            </a:r>
            <a:r>
              <a:rPr lang="en-US" sz="2100" dirty="0" err="1">
                <a:solidFill>
                  <a:schemeClr val="dk1"/>
                </a:solidFill>
              </a:rPr>
              <a:t>transformación</a:t>
            </a:r>
            <a:r>
              <a:rPr lang="en-US" sz="2100" dirty="0">
                <a:solidFill>
                  <a:schemeClr val="dk1"/>
                </a:solidFill>
              </a:rPr>
              <a:t> digital.</a:t>
            </a:r>
            <a:endParaRPr sz="2100" dirty="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dirty="0">
                <a:solidFill>
                  <a:schemeClr val="dk1"/>
                </a:solidFill>
              </a:rPr>
              <a:t>Forman al </a:t>
            </a:r>
            <a:r>
              <a:rPr lang="en-US" sz="2100" dirty="0" err="1">
                <a:solidFill>
                  <a:schemeClr val="dk1"/>
                </a:solidFill>
              </a:rPr>
              <a:t>equipo</a:t>
            </a:r>
            <a:r>
              <a:rPr lang="en-US" sz="2100" dirty="0">
                <a:solidFill>
                  <a:schemeClr val="dk1"/>
                </a:solidFill>
              </a:rPr>
              <a:t> </a:t>
            </a:r>
            <a:r>
              <a:rPr lang="en-US" sz="2100" dirty="0" err="1">
                <a:solidFill>
                  <a:schemeClr val="dk1"/>
                </a:solidFill>
              </a:rPr>
              <a:t>en</a:t>
            </a:r>
            <a:r>
              <a:rPr lang="en-US" sz="2100" dirty="0">
                <a:solidFill>
                  <a:schemeClr val="dk1"/>
                </a:solidFill>
              </a:rPr>
              <a:t> </a:t>
            </a:r>
            <a:r>
              <a:rPr lang="en-US" sz="2100" dirty="0" err="1">
                <a:solidFill>
                  <a:schemeClr val="dk1"/>
                </a:solidFill>
              </a:rPr>
              <a:t>técnicas</a:t>
            </a:r>
            <a:r>
              <a:rPr lang="en-US" sz="2100" dirty="0">
                <a:solidFill>
                  <a:schemeClr val="dk1"/>
                </a:solidFill>
              </a:rPr>
              <a:t> de </a:t>
            </a:r>
            <a:r>
              <a:rPr lang="en-US" sz="2100" dirty="0" err="1">
                <a:solidFill>
                  <a:schemeClr val="dk1"/>
                </a:solidFill>
              </a:rPr>
              <a:t>gestión</a:t>
            </a:r>
            <a:r>
              <a:rPr lang="en-US" sz="2100" dirty="0">
                <a:solidFill>
                  <a:schemeClr val="dk1"/>
                </a:solidFill>
              </a:rPr>
              <a:t> del </a:t>
            </a:r>
            <a:r>
              <a:rPr lang="en-US" sz="2100" dirty="0" err="1">
                <a:solidFill>
                  <a:schemeClr val="dk1"/>
                </a:solidFill>
              </a:rPr>
              <a:t>cambio</a:t>
            </a:r>
            <a:r>
              <a:rPr lang="en-US" sz="2100" dirty="0">
                <a:solidFill>
                  <a:schemeClr val="dk1"/>
                </a:solidFill>
              </a:rPr>
              <a:t> y </a:t>
            </a:r>
            <a:r>
              <a:rPr lang="en-US" sz="2100" dirty="0" err="1">
                <a:solidFill>
                  <a:schemeClr val="dk1"/>
                </a:solidFill>
              </a:rPr>
              <a:t>fomentar</a:t>
            </a:r>
            <a:r>
              <a:rPr lang="en-US" sz="2100" dirty="0">
                <a:solidFill>
                  <a:schemeClr val="dk1"/>
                </a:solidFill>
              </a:rPr>
              <a:t> la </a:t>
            </a:r>
            <a:r>
              <a:rPr lang="en-US" sz="2100" dirty="0" err="1">
                <a:solidFill>
                  <a:schemeClr val="dk1"/>
                </a:solidFill>
              </a:rPr>
              <a:t>adopción</a:t>
            </a:r>
            <a:r>
              <a:rPr lang="en-US" sz="2100" dirty="0">
                <a:solidFill>
                  <a:schemeClr val="dk1"/>
                </a:solidFill>
              </a:rPr>
              <a:t> de </a:t>
            </a:r>
            <a:r>
              <a:rPr lang="en-US" sz="2100" dirty="0" err="1">
                <a:solidFill>
                  <a:schemeClr val="dk1"/>
                </a:solidFill>
              </a:rPr>
              <a:t>nuevas</a:t>
            </a:r>
            <a:r>
              <a:rPr lang="en-US" sz="2100" dirty="0">
                <a:solidFill>
                  <a:schemeClr val="dk1"/>
                </a:solidFill>
              </a:rPr>
              <a:t> </a:t>
            </a:r>
            <a:r>
              <a:rPr lang="en-US" sz="2100" dirty="0" err="1">
                <a:solidFill>
                  <a:schemeClr val="dk1"/>
                </a:solidFill>
              </a:rPr>
              <a:t>tecnologías</a:t>
            </a:r>
            <a:r>
              <a:rPr lang="en-US" sz="2100" dirty="0">
                <a:solidFill>
                  <a:schemeClr val="dk1"/>
                </a:solidFill>
              </a:rPr>
              <a:t>.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 dirty="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300" b="1" dirty="0">
              <a:solidFill>
                <a:srgbClr val="000000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BE367AA-F207-181C-6D85-CAF6097BC5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434" y="8545494"/>
            <a:ext cx="11634420" cy="926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3992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1159</TotalTime>
  <Words>5619</Words>
  <Application>Microsoft Office PowerPoint</Application>
  <PresentationFormat>Personalizado</PresentationFormat>
  <Paragraphs>681</Paragraphs>
  <Slides>61</Slides>
  <Notes>35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61</vt:i4>
      </vt:variant>
    </vt:vector>
  </HeadingPairs>
  <TitlesOfParts>
    <vt:vector size="68" baseType="lpstr">
      <vt:lpstr>Calibri</vt:lpstr>
      <vt:lpstr>Arial</vt:lpstr>
      <vt:lpstr>Montserrat</vt:lpstr>
      <vt:lpstr>Raleway</vt:lpstr>
      <vt:lpstr>Lato</vt:lpstr>
      <vt:lpstr>Roboto</vt:lpstr>
      <vt:lpstr>Office Theme</vt:lpstr>
      <vt:lpstr>Presentación de PowerPoint</vt:lpstr>
      <vt:lpstr>Presentación de PowerPoint</vt:lpstr>
      <vt:lpstr>Objetivo Sesiones Gestión del cambio</vt:lpstr>
      <vt:lpstr>Qué veremos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DOS ACTIVIDADES FUNDAMENTALES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 Gestionando el Cambio</vt:lpstr>
      <vt:lpstr>Junio de 20XX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Plan de Acción - Matriz de priorización de iniciativas - “quick-wins”</vt:lpstr>
      <vt:lpstr>Presentación de PowerPoint</vt:lpstr>
      <vt:lpstr>Plan de Acción – Iniciativas, tareas, responsables, plazos y presupuesto</vt:lpstr>
      <vt:lpstr>Plan de Acción- Inversión necesaria</vt:lpstr>
      <vt:lpstr>Presentación de PowerPoint</vt:lpstr>
      <vt:lpstr>Nombre del integrante 1</vt:lpstr>
      <vt:lpstr>Presentación de PowerPoint</vt:lpstr>
      <vt:lpstr>Presentación de PowerPoint</vt:lpstr>
      <vt:lpstr>Formación necesaria del equipo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Paula Baño Ruiz</dc:creator>
  <cp:lastModifiedBy>María Dolores Clemares García</cp:lastModifiedBy>
  <cp:revision>56</cp:revision>
  <dcterms:created xsi:type="dcterms:W3CDTF">2006-08-16T00:00:00Z</dcterms:created>
  <dcterms:modified xsi:type="dcterms:W3CDTF">2026-01-14T07:44:48Z</dcterms:modified>
</cp:coreProperties>
</file>